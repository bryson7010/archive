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4159" r:id="rId2"/>
  </p:sldMasterIdLst>
  <p:notesMasterIdLst>
    <p:notesMasterId r:id="rId28"/>
  </p:notesMasterIdLst>
  <p:sldIdLst>
    <p:sldId id="745" r:id="rId3"/>
    <p:sldId id="759" r:id="rId4"/>
    <p:sldId id="765" r:id="rId5"/>
    <p:sldId id="766" r:id="rId6"/>
    <p:sldId id="767" r:id="rId7"/>
    <p:sldId id="768" r:id="rId8"/>
    <p:sldId id="771" r:id="rId9"/>
    <p:sldId id="772" r:id="rId10"/>
    <p:sldId id="773" r:id="rId11"/>
    <p:sldId id="775" r:id="rId12"/>
    <p:sldId id="780" r:id="rId13"/>
    <p:sldId id="778" r:id="rId14"/>
    <p:sldId id="782" r:id="rId15"/>
    <p:sldId id="783" r:id="rId16"/>
    <p:sldId id="784" r:id="rId17"/>
    <p:sldId id="789" r:id="rId18"/>
    <p:sldId id="792" r:id="rId19"/>
    <p:sldId id="794" r:id="rId20"/>
    <p:sldId id="796" r:id="rId21"/>
    <p:sldId id="790" r:id="rId22"/>
    <p:sldId id="798" r:id="rId23"/>
    <p:sldId id="800" r:id="rId24"/>
    <p:sldId id="801" r:id="rId25"/>
    <p:sldId id="802" r:id="rId26"/>
    <p:sldId id="742" r:id="rId2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>
          <p15:clr>
            <a:srgbClr val="A4A3A4"/>
          </p15:clr>
        </p15:guide>
        <p15:guide id="2" orient="horz" pos="3748">
          <p15:clr>
            <a:srgbClr val="A4A3A4"/>
          </p15:clr>
        </p15:guide>
        <p15:guide id="3" orient="horz" pos="595">
          <p15:clr>
            <a:srgbClr val="A4A3A4"/>
          </p15:clr>
        </p15:guide>
        <p15:guide id="4" orient="horz" pos="1434">
          <p15:clr>
            <a:srgbClr val="A4A3A4"/>
          </p15:clr>
        </p15:guide>
        <p15:guide id="5" orient="horz" pos="4088">
          <p15:clr>
            <a:srgbClr val="A4A3A4"/>
          </p15:clr>
        </p15:guide>
        <p15:guide id="6" orient="horz" pos="4110">
          <p15:clr>
            <a:srgbClr val="A4A3A4"/>
          </p15:clr>
        </p15:guide>
        <p15:guide id="7" pos="172">
          <p15:clr>
            <a:srgbClr val="A4A3A4"/>
          </p15:clr>
        </p15:guide>
        <p15:guide id="8" pos="398">
          <p15:clr>
            <a:srgbClr val="A4A3A4"/>
          </p15:clr>
        </p15:guide>
        <p15:guide id="9" pos="3120">
          <p15:clr>
            <a:srgbClr val="A4A3A4"/>
          </p15:clr>
        </p15:guide>
        <p15:guide id="10" pos="5842">
          <p15:clr>
            <a:srgbClr val="A4A3A4"/>
          </p15:clr>
        </p15:guide>
        <p15:guide id="11" pos="1056">
          <p15:clr>
            <a:srgbClr val="A4A3A4"/>
          </p15:clr>
        </p15:guide>
        <p15:guide id="12" pos="45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FF66"/>
    <a:srgbClr val="3366FF"/>
    <a:srgbClr val="008000"/>
    <a:srgbClr val="003300"/>
    <a:srgbClr val="009900"/>
    <a:srgbClr val="9933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87" autoAdjust="0"/>
    <p:restoredTop sz="97835" autoAdjust="0"/>
  </p:normalViewPr>
  <p:slideViewPr>
    <p:cSldViewPr showGuides="1">
      <p:cViewPr varScale="1">
        <p:scale>
          <a:sx n="87" d="100"/>
          <a:sy n="87" d="100"/>
        </p:scale>
        <p:origin x="1584" y="96"/>
      </p:cViewPr>
      <p:guideLst>
        <p:guide orient="horz" pos="459"/>
        <p:guide orient="horz" pos="3748"/>
        <p:guide orient="horz" pos="595"/>
        <p:guide orient="horz" pos="1434"/>
        <p:guide orient="horz" pos="4088"/>
        <p:guide orient="horz" pos="4110"/>
        <p:guide pos="172"/>
        <p:guide pos="398"/>
        <p:guide pos="3120"/>
        <p:guide pos="5842"/>
        <p:guide pos="1056"/>
        <p:guide pos="4549"/>
      </p:guideLst>
    </p:cSldViewPr>
  </p:slideViewPr>
  <p:outlineViewPr>
    <p:cViewPr>
      <p:scale>
        <a:sx n="33" d="100"/>
        <a:sy n="33" d="100"/>
      </p:scale>
      <p:origin x="0" y="7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5DC6627-289D-468B-8CFC-54FE21DF9B88}" type="datetimeFigureOut">
              <a:rPr lang="ko-KR" altLang="en-US"/>
              <a:pPr>
                <a:defRPr/>
              </a:pPr>
              <a:t>2026-02-22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4F6FBEC-AB91-4672-98F7-AA961E30502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511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14375" y="742950"/>
            <a:ext cx="5376863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6463" y="4714875"/>
            <a:ext cx="4984750" cy="44688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1687" tIns="45844" rIns="91687" bIns="4584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z="23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86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80968" y="2500306"/>
            <a:ext cx="9231988" cy="214314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088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6413" y="419100"/>
            <a:ext cx="8896350" cy="8128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8638" y="1485900"/>
            <a:ext cx="8897937" cy="4445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9328277" y="6379314"/>
            <a:ext cx="576511" cy="26034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defRPr/>
            </a:pPr>
            <a:fld id="{FF121EFA-2BB5-4153-B46B-629B3FACD415}" type="slidenum">
              <a:rPr lang="ko-KR" altLang="en-US" sz="1200" smtClean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pPr algn="r">
                <a:defRPr/>
              </a:pPr>
              <a:t>‹#›</a:t>
            </a:fld>
            <a:endParaRPr lang="ko-KR" altLang="en-US" sz="1200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00472" y="692710"/>
            <a:ext cx="9324000" cy="1"/>
          </a:xfrm>
          <a:prstGeom prst="line">
            <a:avLst/>
          </a:prstGeom>
          <a:ln cap="sq">
            <a:solidFill>
              <a:schemeClr val="accent1"/>
            </a:solidFill>
            <a:headEnd type="none" w="med" len="med"/>
            <a:tailEnd type="diamond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Rectangle 176"/>
          <p:cNvSpPr>
            <a:spLocks noChangeArrowheads="1"/>
          </p:cNvSpPr>
          <p:nvPr userDrawn="1"/>
        </p:nvSpPr>
        <p:spPr bwMode="auto">
          <a:xfrm>
            <a:off x="166654" y="6571287"/>
            <a:ext cx="55721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Font typeface="Wingdings" pitchFamily="2" charset="2"/>
              <a:buChar char="u"/>
            </a:pPr>
            <a:r>
              <a:rPr lang="ko-KR" altLang="en-US" sz="900" b="1" dirty="0">
                <a:solidFill>
                  <a:schemeClr val="tx2"/>
                </a:solidFill>
                <a:latin typeface="+mn-ea"/>
                <a:ea typeface="+mn-ea"/>
              </a:rPr>
              <a:t> 저작권법에 의해 한국 내에서 보호를 받는 저작물이므로 무단 전재와 무단 복제를 금합니다</a:t>
            </a:r>
            <a:r>
              <a:rPr lang="en-US" altLang="ko-KR" sz="900" b="1" dirty="0">
                <a:solidFill>
                  <a:schemeClr val="tx2"/>
                </a:solidFill>
                <a:latin typeface="+mn-ea"/>
                <a:ea typeface="+mn-ea"/>
              </a:rPr>
              <a:t>.</a:t>
            </a:r>
          </a:p>
        </p:txBody>
      </p:sp>
      <p:cxnSp>
        <p:nvCxnSpPr>
          <p:cNvPr id="17" name="직선 연결선 16"/>
          <p:cNvCxnSpPr/>
          <p:nvPr userDrawn="1"/>
        </p:nvCxnSpPr>
        <p:spPr>
          <a:xfrm rot="10800000" flipV="1">
            <a:off x="200472" y="6500834"/>
            <a:ext cx="9324000" cy="1"/>
          </a:xfrm>
          <a:prstGeom prst="line">
            <a:avLst/>
          </a:prstGeom>
          <a:ln w="19050" cap="sq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Rectangle 176"/>
          <p:cNvSpPr>
            <a:spLocks noChangeArrowheads="1"/>
          </p:cNvSpPr>
          <p:nvPr userDrawn="1"/>
        </p:nvSpPr>
        <p:spPr bwMode="auto">
          <a:xfrm>
            <a:off x="5924583" y="6571287"/>
            <a:ext cx="36718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  <a:buFontTx/>
              <a:buNone/>
            </a:pPr>
            <a:r>
              <a:rPr lang="en-US" altLang="ko-KR" sz="1000" b="1" dirty="0">
                <a:solidFill>
                  <a:schemeClr val="tx2"/>
                </a:solidFill>
                <a:latin typeface="+mn-ea"/>
                <a:ea typeface="+mn-ea"/>
              </a:rPr>
              <a:t>KQTI.  </a:t>
            </a:r>
            <a:r>
              <a:rPr lang="ko-KR" altLang="en-US" sz="1000" b="1" dirty="0">
                <a:solidFill>
                  <a:schemeClr val="tx2"/>
                </a:solidFill>
                <a:latin typeface="+mn-ea"/>
                <a:ea typeface="+mn-ea"/>
              </a:rPr>
              <a:t>한국자격기술인증원</a:t>
            </a:r>
            <a:endParaRPr lang="en-US" altLang="ko-KR" sz="10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9" name="Rectangle 176"/>
          <p:cNvSpPr>
            <a:spLocks noChangeArrowheads="1"/>
          </p:cNvSpPr>
          <p:nvPr userDrawn="1"/>
        </p:nvSpPr>
        <p:spPr bwMode="auto">
          <a:xfrm>
            <a:off x="5881694" y="214290"/>
            <a:ext cx="36718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  <a:buFontTx/>
              <a:buNone/>
            </a:pPr>
            <a:r>
              <a:rPr lang="en-US" altLang="ko-KR" sz="1050" b="1" dirty="0">
                <a:solidFill>
                  <a:schemeClr val="tx2"/>
                </a:solidFill>
                <a:latin typeface="+mn-ea"/>
                <a:ea typeface="+mn-ea"/>
              </a:rPr>
              <a:t>6</a:t>
            </a:r>
            <a:r>
              <a:rPr lang="ko-KR" altLang="en-US" sz="1050" b="1" dirty="0">
                <a:solidFill>
                  <a:schemeClr val="tx2"/>
                </a:solidFill>
                <a:latin typeface="+mn-ea"/>
                <a:ea typeface="+mn-ea"/>
              </a:rPr>
              <a:t>시그마 프로젝트전문가</a:t>
            </a:r>
            <a:endParaRPr lang="en-US" altLang="ko-KR" sz="1050" b="1" dirty="0">
              <a:solidFill>
                <a:schemeClr val="tx2"/>
              </a:solidFill>
              <a:latin typeface="+mn-ea"/>
              <a:ea typeface="+mn-ea"/>
            </a:endParaRPr>
          </a:p>
          <a:p>
            <a:pPr algn="r">
              <a:lnSpc>
                <a:spcPct val="100000"/>
              </a:lnSpc>
              <a:buFontTx/>
              <a:buNone/>
            </a:pPr>
            <a:r>
              <a:rPr lang="ko-KR" altLang="en-US" sz="1050" b="1" baseline="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ko-KR" sz="1050" b="1" baseline="0" dirty="0">
                <a:solidFill>
                  <a:schemeClr val="tx2"/>
                </a:solidFill>
                <a:latin typeface="+mn-ea"/>
                <a:ea typeface="+mn-ea"/>
              </a:rPr>
              <a:t>GB/BB </a:t>
            </a:r>
            <a:r>
              <a:rPr lang="ko-KR" altLang="en-US" sz="1050" b="1" baseline="0" dirty="0">
                <a:solidFill>
                  <a:schemeClr val="tx2"/>
                </a:solidFill>
                <a:latin typeface="+mn-ea"/>
                <a:ea typeface="+mn-ea"/>
              </a:rPr>
              <a:t>통합인증과정</a:t>
            </a:r>
            <a:endParaRPr lang="en-US" altLang="ko-KR" sz="105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53" r:id="rId3"/>
    <p:sldLayoutId id="2147484162" r:id="rId4"/>
    <p:sldLayoutId id="2147484163" r:id="rId5"/>
    <p:sldLayoutId id="2147484164" r:id="rId6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바탕" pitchFamily="18" charset="-127"/>
        </a:defRPr>
      </a:lvl9pPr>
    </p:titleStyle>
    <p:bodyStyle>
      <a:lvl1pPr marL="273050" indent="-273050" algn="l" rtl="0" eaLnBrk="0" fontAlgn="base" latinLnBrk="1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latinLnBrk="1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latinLnBrk="1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latinLnBrk="1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latinLnBrk="1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1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1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1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1004harry33@naver.com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-qti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0" y="1142984"/>
            <a:ext cx="9906000" cy="378621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0" y="6143644"/>
            <a:ext cx="9906000" cy="7143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-10927" y="1428736"/>
            <a:ext cx="990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4800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6</a:t>
            </a:r>
            <a:r>
              <a:rPr lang="ko-KR" altLang="en-US" sz="4800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시그마 프로젝트 전문가</a:t>
            </a:r>
            <a:endParaRPr lang="en-US" altLang="ko-KR" sz="4800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  <a:p>
            <a:pPr lvl="0" algn="ctr">
              <a:defRPr/>
            </a:pPr>
            <a:r>
              <a:rPr lang="ko-KR" altLang="en-US" sz="3600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프로젝트</a:t>
            </a:r>
            <a:r>
              <a:rPr lang="en-US" altLang="ko-KR" sz="3600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 </a:t>
            </a:r>
            <a:r>
              <a:rPr lang="ko-KR" altLang="en-US" sz="3600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보고서</a:t>
            </a:r>
          </a:p>
          <a:p>
            <a:pPr lvl="0" algn="ctr">
              <a:defRPr/>
            </a:pPr>
            <a:endParaRPr kumimoji="0" lang="en-US" altLang="ko-KR" sz="3600" baseline="100000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38729"/>
              </p:ext>
            </p:extLst>
          </p:nvPr>
        </p:nvGraphicFramePr>
        <p:xfrm>
          <a:off x="3452802" y="3357562"/>
          <a:ext cx="2425972" cy="153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5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2026-02-21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     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김건호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메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1004harry33@naver.com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 락 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010-2602-5031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2026-02-21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7" name="Picture 3" descr="C:\Users\kqti3\Desktop\한국자격기술인증원 AI\한국자격기술인증원 KQTI_logo final 복사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67116" y="6286520"/>
            <a:ext cx="2143140" cy="352088"/>
          </a:xfrm>
          <a:prstGeom prst="rect">
            <a:avLst/>
          </a:prstGeom>
          <a:noFill/>
        </p:spPr>
      </p:pic>
      <p:sp>
        <p:nvSpPr>
          <p:cNvPr id="81" name="TextBox 80"/>
          <p:cNvSpPr txBox="1"/>
          <p:nvPr/>
        </p:nvSpPr>
        <p:spPr>
          <a:xfrm>
            <a:off x="7540799" y="6072206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endParaRPr kumimoji="1" lang="en-US" altLang="ko-KR" sz="900" dirty="0">
              <a:latin typeface="나눔고딕" pitchFamily="50" charset="-127"/>
              <a:ea typeface="나눔고딕" pitchFamily="50" charset="-127"/>
            </a:endParaRPr>
          </a:p>
          <a:p>
            <a:pPr algn="ctr" latinLnBrk="1"/>
            <a:r>
              <a:rPr kumimoji="1" lang="en-US" altLang="ko-KR" sz="900" dirty="0">
                <a:latin typeface="나눔고딕" pitchFamily="50" charset="-127"/>
                <a:ea typeface="나눔고딕" pitchFamily="50" charset="-127"/>
              </a:rPr>
              <a:t>T. (053)428-1105  l  F. (053)428-1106</a:t>
            </a:r>
          </a:p>
          <a:p>
            <a:pPr algn="ctr" latinLnBrk="1"/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대구광역시 중구 </a:t>
            </a:r>
            <a:r>
              <a:rPr lang="ko-KR" altLang="en-US" sz="900" dirty="0" err="1">
                <a:latin typeface="나눔고딕" pitchFamily="50" charset="-127"/>
                <a:ea typeface="나눔고딕" pitchFamily="50" charset="-127"/>
              </a:rPr>
              <a:t>문우관길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47, 4F</a:t>
            </a:r>
          </a:p>
          <a:p>
            <a:pPr algn="ctr" latinLnBrk="1"/>
            <a:r>
              <a:rPr kumimoji="1" lang="en-US" altLang="ko-KR" sz="900" dirty="0">
                <a:latin typeface="나눔고딕" pitchFamily="50" charset="-127"/>
                <a:ea typeface="나눔고딕" pitchFamily="50" charset="-127"/>
              </a:rPr>
              <a:t>www.k-qti.com</a:t>
            </a:r>
            <a:endParaRPr kumimoji="1" lang="ko-KR" altLang="en-US" sz="9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096140" y="130710"/>
            <a:ext cx="280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>
                <a:solidFill>
                  <a:schemeClr val="bg1"/>
                </a:solidFill>
              </a:rPr>
              <a:t>핵심인재양성프로젝트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9926" y="2786058"/>
            <a:ext cx="280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2"/>
                </a:solidFill>
              </a:rPr>
              <a:t>- GB/BB </a:t>
            </a:r>
            <a:r>
              <a:rPr lang="ko-KR" altLang="en-US" b="1" dirty="0">
                <a:solidFill>
                  <a:schemeClr val="tx2"/>
                </a:solidFill>
              </a:rPr>
              <a:t>통합인증과정</a:t>
            </a:r>
            <a:r>
              <a:rPr lang="en-US" altLang="ko-KR" b="1" dirty="0">
                <a:solidFill>
                  <a:schemeClr val="tx2"/>
                </a:solidFill>
              </a:rPr>
              <a:t>-</a:t>
            </a:r>
            <a:endParaRPr lang="ko-KR" altLang="en-US" b="1" dirty="0">
              <a:solidFill>
                <a:schemeClr val="tx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AA4A0-0A1B-46ED-922E-B96882F72D0F}"/>
              </a:ext>
            </a:extLst>
          </p:cNvPr>
          <p:cNvSpPr txBox="1"/>
          <p:nvPr/>
        </p:nvSpPr>
        <p:spPr>
          <a:xfrm>
            <a:off x="8954304" y="814595"/>
            <a:ext cx="84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</a:rPr>
              <a:t>Ver. 26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05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23844" y="1071546"/>
            <a:ext cx="8929750" cy="5143536"/>
          </a:xfrm>
          <a:prstGeom prst="roundRect">
            <a:avLst>
              <a:gd name="adj" fmla="val 926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0968" y="214290"/>
            <a:ext cx="8643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ko-KR" sz="2000" dirty="0"/>
              <a:t> 6</a:t>
            </a:r>
            <a:r>
              <a:rPr lang="ko-KR" altLang="en-US" sz="2000" dirty="0"/>
              <a:t>시그마 프로젝트전문가 취득과정 및 유의사항</a:t>
            </a:r>
            <a:endParaRPr lang="en-US" altLang="ko-KR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23043" y="1227037"/>
            <a:ext cx="8643998" cy="4966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Wingdings" pitchFamily="2" charset="2"/>
              <a:buChar char="u"/>
            </a:pPr>
            <a:endParaRPr lang="en-US" altLang="ko-KR" sz="1400" dirty="0"/>
          </a:p>
          <a:p>
            <a:pPr>
              <a:buFont typeface="Wingdings" pitchFamily="2" charset="2"/>
              <a:buChar char="ü"/>
            </a:pPr>
            <a:r>
              <a:rPr lang="en-US" altLang="ko-KR" sz="1600" dirty="0"/>
              <a:t> </a:t>
            </a:r>
            <a:r>
              <a:rPr lang="ko-KR" altLang="en-US" sz="1600" b="1" dirty="0"/>
              <a:t>본 자격인증은 </a:t>
            </a:r>
            <a:r>
              <a:rPr lang="en-US" altLang="ko-KR" sz="1600" b="1" u="sng" dirty="0"/>
              <a:t>1)</a:t>
            </a:r>
            <a:r>
              <a:rPr lang="ko-KR" altLang="en-US" sz="1600" b="1" u="sng" dirty="0"/>
              <a:t>자격인증시험</a:t>
            </a:r>
            <a:r>
              <a:rPr lang="ko-KR" altLang="en-US" sz="1600" b="1" dirty="0"/>
              <a:t>  </a:t>
            </a:r>
            <a:r>
              <a:rPr lang="en-US" altLang="ko-KR" sz="1600" b="1" u="sng" dirty="0"/>
              <a:t>2)</a:t>
            </a:r>
            <a:r>
              <a:rPr lang="ko-KR" altLang="en-US" sz="1600" b="1" u="sng" dirty="0"/>
              <a:t>프로젝트보고서</a:t>
            </a:r>
            <a:r>
              <a:rPr lang="ko-KR" altLang="en-US" sz="1600" b="1" dirty="0"/>
              <a:t> 평가를 통해 </a:t>
            </a:r>
            <a:r>
              <a:rPr lang="en-US" altLang="ko-KR" sz="1600" b="1" dirty="0"/>
              <a:t>60</a:t>
            </a:r>
            <a:r>
              <a:rPr lang="ko-KR" altLang="en-US" sz="1600" b="1" dirty="0"/>
              <a:t>점 이상인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경우 </a:t>
            </a:r>
            <a:endParaRPr lang="en-US" altLang="ko-KR" sz="1600" b="1" dirty="0"/>
          </a:p>
          <a:p>
            <a:r>
              <a:rPr lang="en-US" altLang="ko-KR" sz="1600" b="1" dirty="0"/>
              <a:t>   6</a:t>
            </a:r>
            <a:r>
              <a:rPr lang="ko-KR" altLang="en-US" sz="1600" b="1" dirty="0"/>
              <a:t>시그마프로젝트전문가 자격을 부여합니다</a:t>
            </a:r>
            <a:r>
              <a:rPr lang="en-US" altLang="ko-KR" sz="1600" b="1" dirty="0"/>
              <a:t>.</a:t>
            </a:r>
          </a:p>
          <a:p>
            <a:r>
              <a:rPr lang="en-US" altLang="ko-KR" sz="1600" dirty="0"/>
              <a:t>   </a:t>
            </a:r>
            <a:r>
              <a:rPr lang="en-US" altLang="ko-KR" sz="1400" dirty="0"/>
              <a:t>(</a:t>
            </a: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자격인증시험의 점수가 </a:t>
            </a:r>
            <a:r>
              <a:rPr lang="en-US" altLang="ko-KR" sz="1400" dirty="0"/>
              <a:t>60</a:t>
            </a:r>
            <a:r>
              <a:rPr lang="ko-KR" altLang="en-US" sz="1400" dirty="0"/>
              <a:t>점 미만인 경우는 평균점수와 관계없이 불합격 처리됩니다</a:t>
            </a:r>
            <a:r>
              <a:rPr lang="en-US" altLang="ko-KR" sz="1400" dirty="0"/>
              <a:t>.)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>
              <a:buFont typeface="Wingdings" pitchFamily="2" charset="2"/>
              <a:buChar char="ü"/>
            </a:pPr>
            <a:r>
              <a:rPr lang="en-US" altLang="ko-KR" sz="1600" dirty="0"/>
              <a:t> </a:t>
            </a:r>
            <a:r>
              <a:rPr lang="ko-KR" altLang="en-US" sz="1600" b="1" dirty="0"/>
              <a:t>프로젝트 보고서 제출관련 유의사항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- </a:t>
            </a:r>
            <a:r>
              <a:rPr lang="ko-KR" altLang="en-US" sz="1400" dirty="0"/>
              <a:t>보고서 작성은 개인</a:t>
            </a:r>
            <a:r>
              <a:rPr lang="en-US" altLang="ko-KR" sz="1400" dirty="0"/>
              <a:t>/</a:t>
            </a:r>
            <a:r>
              <a:rPr lang="ko-KR" altLang="en-US" sz="1400" dirty="0"/>
              <a:t>팀 모두가능하며</a:t>
            </a:r>
            <a:r>
              <a:rPr lang="en-US" altLang="ko-KR" sz="1400" dirty="0"/>
              <a:t>, </a:t>
            </a:r>
            <a:r>
              <a:rPr lang="ko-KR" altLang="en-US" sz="1400" dirty="0"/>
              <a:t>제출은 반드시 개인별로 제출하셔야 합니다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  </a:t>
            </a:r>
            <a:r>
              <a:rPr lang="en-US" altLang="ko-KR" sz="1400" dirty="0"/>
              <a:t>- </a:t>
            </a:r>
            <a:r>
              <a:rPr lang="ko-KR" altLang="en-US" sz="1400" dirty="0"/>
              <a:t>보고서 제출은 </a:t>
            </a:r>
            <a:r>
              <a:rPr lang="ko-KR" altLang="en-US" sz="1400" u="sng" dirty="0"/>
              <a:t>교육종료일로부터 </a:t>
            </a:r>
            <a:r>
              <a:rPr lang="en-US" altLang="ko-KR" sz="1400" u="sng" dirty="0"/>
              <a:t>1</a:t>
            </a:r>
            <a:r>
              <a:rPr lang="ko-KR" altLang="en-US" sz="1400" u="sng" dirty="0"/>
              <a:t>주일 이내</a:t>
            </a:r>
            <a:r>
              <a:rPr lang="ko-KR" altLang="en-US" sz="1400" dirty="0"/>
              <a:t>에 제출하셔야 합니다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- </a:t>
            </a:r>
            <a:r>
              <a:rPr lang="ko-KR" altLang="en-US" sz="1400" dirty="0"/>
              <a:t>파일이름 </a:t>
            </a:r>
            <a:r>
              <a:rPr lang="en-US" altLang="ko-KR" sz="1400" dirty="0"/>
              <a:t>:  </a:t>
            </a:r>
            <a:r>
              <a:rPr lang="ko-KR" altLang="en-US" sz="1400" b="1" dirty="0"/>
              <a:t>교육일자</a:t>
            </a:r>
            <a:r>
              <a:rPr lang="en-US" altLang="ko-KR" sz="1400" b="1" dirty="0"/>
              <a:t>_</a:t>
            </a:r>
            <a:r>
              <a:rPr lang="ko-KR" altLang="en-US" sz="1400" b="1" dirty="0"/>
              <a:t>이름</a:t>
            </a:r>
            <a:r>
              <a:rPr lang="en-US" altLang="ko-KR" sz="1400" b="1" dirty="0"/>
              <a:t>.pptx  </a:t>
            </a:r>
            <a:r>
              <a:rPr lang="ko-KR" altLang="en-US" sz="1400" b="1" dirty="0"/>
              <a:t>예</a:t>
            </a:r>
            <a:r>
              <a:rPr lang="en-US" altLang="ko-KR" sz="1400" b="1" dirty="0"/>
              <a:t>)250101_</a:t>
            </a:r>
            <a:r>
              <a:rPr lang="ko-KR" altLang="en-US" sz="1400" b="1" dirty="0"/>
              <a:t>홍길동</a:t>
            </a:r>
            <a:r>
              <a:rPr lang="en-US" altLang="ko-KR" sz="1400" b="1" dirty="0"/>
              <a:t>.pptx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- </a:t>
            </a:r>
            <a:r>
              <a:rPr lang="ko-KR" altLang="en-US" sz="1400" dirty="0"/>
              <a:t>제출방법 </a:t>
            </a:r>
            <a:r>
              <a:rPr lang="en-US" altLang="ko-KR" sz="1400" b="1" dirty="0"/>
              <a:t>:  kqti@k-qti.com</a:t>
            </a:r>
            <a:r>
              <a:rPr lang="ko-KR" altLang="en-US" sz="1400" b="1" dirty="0"/>
              <a:t>  </a:t>
            </a:r>
            <a:r>
              <a:rPr lang="ko-KR" altLang="en-US" sz="1400" dirty="0"/>
              <a:t>이메일 제출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buFont typeface="Wingdings" pitchFamily="2" charset="2"/>
              <a:buChar char="ü"/>
            </a:pPr>
            <a:r>
              <a:rPr lang="en-US" altLang="ko-KR" sz="1600" dirty="0"/>
              <a:t> </a:t>
            </a:r>
            <a:r>
              <a:rPr lang="ko-KR" altLang="en-US" sz="1600" b="1" dirty="0"/>
              <a:t>합격조회 및 자격인증서 발급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출력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- </a:t>
            </a:r>
            <a:r>
              <a:rPr lang="ko-KR" altLang="en-US" sz="1400" dirty="0"/>
              <a:t>시험종료 후 </a:t>
            </a:r>
            <a:r>
              <a:rPr lang="en-US" altLang="ko-KR" sz="1400" dirty="0"/>
              <a:t>1</a:t>
            </a:r>
            <a:r>
              <a:rPr lang="ko-KR" altLang="en-US" sz="1400" dirty="0"/>
              <a:t>주일 뒤 홈페이지</a:t>
            </a:r>
            <a:r>
              <a:rPr lang="en-US" altLang="ko-KR" sz="1400" dirty="0"/>
              <a:t>(</a:t>
            </a:r>
            <a:r>
              <a:rPr lang="en-US" altLang="ko-KR" sz="1400" dirty="0">
                <a:hlinkClick r:id="rId2"/>
              </a:rPr>
              <a:t>www.k-qti.com</a:t>
            </a:r>
            <a:r>
              <a:rPr lang="en-US" altLang="ko-KR" sz="1400" dirty="0"/>
              <a:t>) </a:t>
            </a:r>
            <a:r>
              <a:rPr lang="ko-KR" altLang="en-US" sz="1400" u="sng" dirty="0"/>
              <a:t>마이페이지</a:t>
            </a:r>
            <a:r>
              <a:rPr lang="ko-KR" altLang="en-US" sz="1400" dirty="0"/>
              <a:t>에서 자격인증 내용 조회</a:t>
            </a:r>
            <a:r>
              <a:rPr lang="en-US" altLang="ko-KR" sz="1400" dirty="0"/>
              <a:t>/</a:t>
            </a:r>
            <a:r>
              <a:rPr lang="ko-KR" altLang="en-US" sz="1400" dirty="0"/>
              <a:t>출력 가능합니다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- </a:t>
            </a:r>
            <a:r>
              <a:rPr lang="ko-KR" altLang="en-US" sz="1400" dirty="0"/>
              <a:t>보고서 </a:t>
            </a:r>
            <a:r>
              <a:rPr lang="ko-KR" altLang="en-US" sz="1400" dirty="0" err="1"/>
              <a:t>미제출</a:t>
            </a:r>
            <a:r>
              <a:rPr lang="ko-KR" altLang="en-US" sz="1400" dirty="0"/>
              <a:t> 및 채점 대기중인 경우 시험점수의 합격여부와 관계없이 불합격으로 처리되어 있으며</a:t>
            </a:r>
            <a:r>
              <a:rPr lang="en-US" altLang="ko-KR" sz="1400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</a:t>
            </a:r>
            <a:r>
              <a:rPr lang="ko-KR" altLang="en-US" sz="1400" dirty="0"/>
              <a:t>보고서 평가가 끝난 후 합격으로 </a:t>
            </a:r>
            <a:r>
              <a:rPr lang="ko-KR" altLang="en-US" sz="1400" dirty="0" err="1"/>
              <a:t>변경되오니</a:t>
            </a:r>
            <a:r>
              <a:rPr lang="ko-KR" altLang="en-US" sz="1400" dirty="0"/>
              <a:t> 평가완료까지 </a:t>
            </a:r>
            <a:r>
              <a:rPr lang="ko-KR" altLang="en-US" sz="1400" dirty="0" err="1"/>
              <a:t>기다려주시기</a:t>
            </a:r>
            <a:r>
              <a:rPr lang="ko-KR" altLang="en-US" sz="1400" dirty="0"/>
              <a:t> 바랍니다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</a:t>
            </a:r>
            <a:r>
              <a:rPr lang="ko-KR" altLang="en-US" sz="1400" dirty="0"/>
              <a:t>◆  고객센터 문의 </a:t>
            </a:r>
            <a:r>
              <a:rPr lang="en-US" altLang="ko-KR" sz="1400" dirty="0"/>
              <a:t>: 053-428-1105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681" name="Text Box 9"/>
          <p:cNvSpPr txBox="1">
            <a:spLocks noChangeArrowheads="1"/>
          </p:cNvSpPr>
          <p:nvPr/>
        </p:nvSpPr>
        <p:spPr bwMode="auto">
          <a:xfrm>
            <a:off x="1136650" y="1092200"/>
            <a:ext cx="7632700" cy="1152000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hlink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ko-KR" altLang="en-US" sz="4000" dirty="0">
                <a:solidFill>
                  <a:srgbClr val="FFFFFF"/>
                </a:solidFill>
                <a:latin typeface="휴먼엑스포" pitchFamily="18" charset="-127"/>
                <a:ea typeface="휴먼엑스포" pitchFamily="18" charset="-127"/>
              </a:rPr>
              <a:t>정의</a:t>
            </a:r>
            <a:r>
              <a:rPr lang="en-US" altLang="ko-KR" sz="4000" dirty="0">
                <a:solidFill>
                  <a:srgbClr val="FFFFFF"/>
                </a:solidFill>
                <a:latin typeface="휴먼엑스포" pitchFamily="18" charset="-127"/>
                <a:ea typeface="휴먼엑스포" pitchFamily="18" charset="-127"/>
              </a:rPr>
              <a:t>(Define) </a:t>
            </a:r>
            <a:r>
              <a:rPr lang="ko-KR" altLang="en-US" sz="4000" dirty="0">
                <a:solidFill>
                  <a:srgbClr val="FFFFFF"/>
                </a:solidFill>
                <a:latin typeface="휴먼엑스포" pitchFamily="18" charset="-127"/>
                <a:ea typeface="휴먼엑스포" pitchFamily="18" charset="-127"/>
              </a:rPr>
              <a:t>단계</a:t>
            </a:r>
            <a:endParaRPr lang="ko-KR" altLang="ko-KR" sz="4000" dirty="0">
              <a:solidFill>
                <a:srgbClr val="FFFFFF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52438" y="2571744"/>
          <a:ext cx="9001125" cy="3456000"/>
        </p:xfrm>
        <a:graphic>
          <a:graphicData uri="http://schemas.openxmlformats.org/drawingml/2006/table">
            <a:tbl>
              <a:tblPr/>
              <a:tblGrid>
                <a:gridCol w="808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574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활동정의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프로젝트 수행 내용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441">
                <a:tc rowSpan="3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Define</a:t>
                      </a:r>
                    </a:p>
                  </a:txBody>
                  <a:tcPr marL="0" marR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1 -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선정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배경 기술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81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프로젝트의 선정된 과정과 당위성을 기술하고 프로젝트를 확인한다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81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경영환경 및 기회분석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VOC / VOB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CTQ / CTP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도출 및 선정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선정</a:t>
                      </a:r>
                    </a:p>
                  </a:txBody>
                  <a:tcPr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467">
                <a:tc vMerge="1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2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정의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프로젝트의 목표와 범위를 설정한다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선정배경 및 문제기술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조직구성 및 프로세스 분석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기대효과 산정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목표기술서 작성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5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3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승인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실행계획을 등록하고 승인을 받는다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관련부서 조율 및 합의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등록 및 승인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 공식화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52400"/>
            <a:ext cx="6213475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400" dirty="0">
                <a:latin typeface="휴먼엑스포" pitchFamily="18" charset="-127"/>
                <a:ea typeface="휴먼엑스포" pitchFamily="18" charset="-127"/>
              </a:rPr>
              <a:t>기회의 확인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88504" y="993774"/>
            <a:ext cx="9028559" cy="36224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88504" y="4673602"/>
            <a:ext cx="9028559" cy="16351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0" latinLnBrk="0" hangingPunct="0">
              <a:defRPr/>
            </a:pP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792760" y="1106488"/>
            <a:ext cx="4954588" cy="345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미니탭을 이용한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개선기회 확인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기초통계학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그래프 요약 활용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31825" y="207762"/>
            <a:ext cx="6213475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투석기 개선기회 확인</a:t>
            </a:r>
            <a:endParaRPr kumimoji="0" lang="en-US" altLang="ko-KR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096E6D-055E-4819-8A60-352FB7C8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06" y="1190017"/>
            <a:ext cx="4133588" cy="32873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531368-3D2A-430E-A03A-C32839A563DE}"/>
              </a:ext>
            </a:extLst>
          </p:cNvPr>
          <p:cNvSpPr txBox="1"/>
          <p:nvPr/>
        </p:nvSpPr>
        <p:spPr>
          <a:xfrm>
            <a:off x="776536" y="4752499"/>
            <a:ext cx="8496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발사 </a:t>
            </a:r>
            <a:r>
              <a:rPr lang="ko-KR" altLang="en-US" dirty="0" err="1"/>
              <a:t>테이터의</a:t>
            </a:r>
            <a:r>
              <a:rPr lang="ko-KR" altLang="en-US" dirty="0"/>
              <a:t> 분석결과</a:t>
            </a:r>
            <a:r>
              <a:rPr lang="en-US" altLang="ko-KR" dirty="0"/>
              <a:t>, </a:t>
            </a:r>
            <a:r>
              <a:rPr lang="ko-KR" altLang="en-US" dirty="0"/>
              <a:t>평균은 </a:t>
            </a:r>
            <a:r>
              <a:rPr lang="en-US" altLang="ko-KR" dirty="0"/>
              <a:t>271.78, </a:t>
            </a:r>
            <a:r>
              <a:rPr lang="ko-KR" altLang="en-US" dirty="0"/>
              <a:t>표준편차는 </a:t>
            </a:r>
            <a:r>
              <a:rPr lang="en-US" altLang="ko-KR" dirty="0"/>
              <a:t>8.48, </a:t>
            </a:r>
            <a:r>
              <a:rPr lang="ko-KR" altLang="en-US" dirty="0"/>
              <a:t>최소값은 </a:t>
            </a:r>
            <a:r>
              <a:rPr lang="en-US" altLang="ko-KR" dirty="0"/>
              <a:t>253.35, </a:t>
            </a:r>
            <a:r>
              <a:rPr lang="ko-KR" altLang="en-US" dirty="0"/>
              <a:t>최대값은 </a:t>
            </a:r>
            <a:r>
              <a:rPr lang="en-US" altLang="ko-KR" dirty="0"/>
              <a:t>289.05</a:t>
            </a:r>
            <a:r>
              <a:rPr lang="ko-KR" altLang="en-US" dirty="0"/>
              <a:t>로써 전체적으로 넓게 분포하고 있으며 분석결과 전반적으로 </a:t>
            </a:r>
            <a:r>
              <a:rPr lang="en-US" altLang="ko-KR" dirty="0"/>
              <a:t>275</a:t>
            </a:r>
            <a:r>
              <a:rPr lang="ko-KR" altLang="en-US" dirty="0"/>
              <a:t>기준으로 대칭인 형태를 보이나</a:t>
            </a:r>
            <a:r>
              <a:rPr lang="en-US" altLang="ko-KR" dirty="0"/>
              <a:t>, </a:t>
            </a:r>
            <a:r>
              <a:rPr lang="ko-KR" altLang="en-US" dirty="0" err="1"/>
              <a:t>하한쪽에서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개의 이상치가 발견된다</a:t>
            </a:r>
            <a:endParaRPr lang="en-US" altLang="ko-KR" dirty="0"/>
          </a:p>
          <a:p>
            <a:r>
              <a:rPr lang="ko-KR" altLang="en-US" dirty="0"/>
              <a:t>목표치인 </a:t>
            </a:r>
            <a:r>
              <a:rPr lang="en-US" altLang="ko-KR" dirty="0"/>
              <a:t>265 ~ 275</a:t>
            </a:r>
            <a:r>
              <a:rPr lang="ko-KR" altLang="en-US" dirty="0"/>
              <a:t>를 기준으로 </a:t>
            </a:r>
            <a:r>
              <a:rPr lang="ko-KR" altLang="en-US" dirty="0" err="1"/>
              <a:t>보았을때</a:t>
            </a:r>
            <a:r>
              <a:rPr lang="ko-KR" altLang="en-US" dirty="0"/>
              <a:t> 투석기의 정확도가 좋지 못하므로 개선이 필요할 것으로 사료된다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 bwMode="auto">
          <a:xfrm>
            <a:off x="634467" y="857777"/>
            <a:ext cx="5969124" cy="21376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59304" tIns="29651" rIns="59304" bIns="29651" anchor="ctr">
            <a:spAutoFit/>
          </a:bodyPr>
          <a:lstStyle/>
          <a:p>
            <a:pPr eaLnBrk="0" hangingPunct="0">
              <a:defRPr/>
            </a:pP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3C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분석을 통한 시장 환경분석을 수행한 후 분석 결과를 바탕으로 문제도출 및 프로젝트를 선정하시오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ko-KR" altLang="en-US" sz="1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1825" y="207762"/>
            <a:ext cx="6213475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경영환경 및 환경분석</a:t>
            </a:r>
            <a:endParaRPr kumimoji="0" lang="en-US" altLang="ko-KR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pSp>
        <p:nvGrpSpPr>
          <p:cNvPr id="2" name="그룹 15"/>
          <p:cNvGrpSpPr/>
          <p:nvPr/>
        </p:nvGrpSpPr>
        <p:grpSpPr>
          <a:xfrm>
            <a:off x="629259" y="1487030"/>
            <a:ext cx="8610021" cy="4786286"/>
            <a:chOff x="629259" y="1487030"/>
            <a:chExt cx="4323741" cy="4786286"/>
          </a:xfrm>
        </p:grpSpPr>
        <p:sp>
          <p:nvSpPr>
            <p:cNvPr id="50" name="Rectangle 2"/>
            <p:cNvSpPr>
              <a:spLocks noChangeArrowheads="1"/>
            </p:cNvSpPr>
            <p:nvPr/>
          </p:nvSpPr>
          <p:spPr bwMode="gray">
            <a:xfrm>
              <a:off x="629259" y="1487030"/>
              <a:ext cx="4323741" cy="4786286"/>
            </a:xfrm>
            <a:prstGeom prst="rect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/>
            <a:lstStyle/>
            <a:p>
              <a:pPr algn="ctr" eaLnBrk="0" hangingPunct="0"/>
              <a:endParaRPr lang="ko-KR" altLang="en-US" sz="16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7" name="AutoShape 56"/>
            <p:cNvSpPr>
              <a:spLocks noChangeArrowheads="1"/>
            </p:cNvSpPr>
            <p:nvPr/>
          </p:nvSpPr>
          <p:spPr bwMode="auto">
            <a:xfrm>
              <a:off x="762132" y="1988840"/>
              <a:ext cx="794659" cy="121762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 algn="ctr">
                <a:spcBef>
                  <a:spcPct val="50000"/>
                </a:spcBef>
                <a:defRPr/>
              </a:pPr>
              <a:r>
                <a:rPr lang="ko-KR" altLang="en-US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고객</a:t>
              </a:r>
              <a:endParaRPr lang="en-US" altLang="ko-KR" sz="1000" b="1" dirty="0">
                <a:solidFill>
                  <a:prstClr val="white"/>
                </a:solidFill>
                <a:latin typeface="맑은 고딕"/>
                <a:ea typeface="맑은 고딕"/>
              </a:endParaRPr>
            </a:p>
            <a:p>
              <a:pPr lvl="0" algn="ctr">
                <a:spcBef>
                  <a:spcPct val="50000"/>
                </a:spcBef>
                <a:defRPr/>
              </a:pPr>
              <a:r>
                <a:rPr lang="en-US" altLang="ko-KR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(Customer)</a:t>
              </a:r>
            </a:p>
          </p:txBody>
        </p:sp>
        <p:sp>
          <p:nvSpPr>
            <p:cNvPr id="58" name="AutoShape 56"/>
            <p:cNvSpPr>
              <a:spLocks noChangeArrowheads="1"/>
            </p:cNvSpPr>
            <p:nvPr/>
          </p:nvSpPr>
          <p:spPr bwMode="auto">
            <a:xfrm>
              <a:off x="762132" y="3429000"/>
              <a:ext cx="794659" cy="121762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 algn="ctr">
                <a:spcBef>
                  <a:spcPct val="50000"/>
                </a:spcBef>
                <a:defRPr/>
              </a:pPr>
              <a:r>
                <a:rPr lang="ko-KR" altLang="en-US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경쟁사</a:t>
              </a:r>
              <a:endParaRPr lang="en-US" altLang="ko-KR" sz="1000" b="1" dirty="0">
                <a:solidFill>
                  <a:prstClr val="white"/>
                </a:solidFill>
                <a:latin typeface="맑은 고딕"/>
                <a:ea typeface="맑은 고딕"/>
              </a:endParaRPr>
            </a:p>
            <a:p>
              <a:pPr lvl="0" algn="ctr">
                <a:spcBef>
                  <a:spcPct val="50000"/>
                </a:spcBef>
                <a:defRPr/>
              </a:pPr>
              <a:r>
                <a:rPr lang="en-US" altLang="ko-KR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(Competitor)</a:t>
              </a:r>
            </a:p>
          </p:txBody>
        </p:sp>
        <p:sp>
          <p:nvSpPr>
            <p:cNvPr id="59" name="AutoShape 56"/>
            <p:cNvSpPr>
              <a:spLocks noChangeArrowheads="1"/>
            </p:cNvSpPr>
            <p:nvPr/>
          </p:nvSpPr>
          <p:spPr bwMode="auto">
            <a:xfrm>
              <a:off x="741559" y="4875673"/>
              <a:ext cx="794659" cy="121762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 algn="ctr">
                <a:spcBef>
                  <a:spcPct val="50000"/>
                </a:spcBef>
                <a:defRPr/>
              </a:pPr>
              <a:r>
                <a:rPr lang="ko-KR" altLang="en-US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자사</a:t>
              </a:r>
              <a:endParaRPr lang="en-US" altLang="ko-KR" sz="1000" b="1" dirty="0">
                <a:solidFill>
                  <a:prstClr val="white"/>
                </a:solidFill>
                <a:latin typeface="맑은 고딕"/>
                <a:ea typeface="맑은 고딕"/>
              </a:endParaRPr>
            </a:p>
            <a:p>
              <a:pPr lvl="0" algn="ctr">
                <a:spcBef>
                  <a:spcPct val="50000"/>
                </a:spcBef>
                <a:defRPr/>
              </a:pPr>
              <a:r>
                <a:rPr lang="en-US" altLang="ko-KR" sz="1000" b="1" dirty="0">
                  <a:solidFill>
                    <a:prstClr val="white"/>
                  </a:solidFill>
                  <a:latin typeface="맑은 고딕"/>
                  <a:ea typeface="맑은 고딕"/>
                </a:rPr>
                <a:t>(Corporation)</a:t>
              </a:r>
            </a:p>
          </p:txBody>
        </p:sp>
        <p:sp>
          <p:nvSpPr>
            <p:cNvPr id="62" name="AutoShape 56"/>
            <p:cNvSpPr>
              <a:spLocks noChangeArrowheads="1"/>
            </p:cNvSpPr>
            <p:nvPr/>
          </p:nvSpPr>
          <p:spPr bwMode="auto">
            <a:xfrm>
              <a:off x="1709191" y="1997843"/>
              <a:ext cx="2919773" cy="1217623"/>
            </a:xfrm>
            <a:prstGeom prst="roundRect">
              <a:avLst>
                <a:gd name="adj" fmla="val 13304"/>
              </a:avLst>
            </a:prstGeom>
            <a:noFill/>
            <a:ln w="28575" algn="ctr">
              <a:solidFill>
                <a:schemeClr val="tx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>
                <a:spcBef>
                  <a:spcPct val="50000"/>
                </a:spcBef>
                <a:buClr>
                  <a:schemeClr val="tx2">
                    <a:lumMod val="50000"/>
                  </a:schemeClr>
                </a:buClr>
                <a:buFont typeface="Arial" pitchFamily="34" charset="0"/>
                <a:buChar char="•"/>
                <a:defRPr/>
              </a:pPr>
              <a:endParaRPr lang="en-US" altLang="ko-KR" sz="1000" b="1" dirty="0">
                <a:latin typeface="맑은 고딕"/>
                <a:ea typeface="맑은 고딕"/>
              </a:endParaRPr>
            </a:p>
          </p:txBody>
        </p:sp>
        <p:sp>
          <p:nvSpPr>
            <p:cNvPr id="63" name="AutoShape 56"/>
            <p:cNvSpPr>
              <a:spLocks noChangeArrowheads="1"/>
            </p:cNvSpPr>
            <p:nvPr/>
          </p:nvSpPr>
          <p:spPr bwMode="auto">
            <a:xfrm>
              <a:off x="1709191" y="3444221"/>
              <a:ext cx="2919773" cy="1217623"/>
            </a:xfrm>
            <a:prstGeom prst="roundRect">
              <a:avLst>
                <a:gd name="adj" fmla="val 13304"/>
              </a:avLst>
            </a:prstGeom>
            <a:noFill/>
            <a:ln w="28575" algn="ctr">
              <a:solidFill>
                <a:schemeClr val="tx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>
                <a:spcBef>
                  <a:spcPct val="50000"/>
                </a:spcBef>
                <a:buClr>
                  <a:schemeClr val="tx2">
                    <a:lumMod val="50000"/>
                  </a:schemeClr>
                </a:buClr>
                <a:buFont typeface="Arial" pitchFamily="34" charset="0"/>
                <a:buChar char="•"/>
                <a:defRPr/>
              </a:pPr>
              <a:endParaRPr lang="en-US" altLang="ko-KR" sz="1000" b="1" dirty="0">
                <a:latin typeface="맑은 고딕"/>
                <a:ea typeface="맑은 고딕"/>
              </a:endParaRPr>
            </a:p>
          </p:txBody>
        </p:sp>
        <p:sp>
          <p:nvSpPr>
            <p:cNvPr id="64" name="AutoShape 56"/>
            <p:cNvSpPr>
              <a:spLocks noChangeArrowheads="1"/>
            </p:cNvSpPr>
            <p:nvPr/>
          </p:nvSpPr>
          <p:spPr bwMode="auto">
            <a:xfrm>
              <a:off x="1712640" y="4882808"/>
              <a:ext cx="2919773" cy="1217623"/>
            </a:xfrm>
            <a:prstGeom prst="roundRect">
              <a:avLst>
                <a:gd name="adj" fmla="val 13304"/>
              </a:avLst>
            </a:prstGeom>
            <a:noFill/>
            <a:ln w="28575" algn="ctr">
              <a:solidFill>
                <a:schemeClr val="tx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pPr lvl="0">
                <a:spcBef>
                  <a:spcPct val="50000"/>
                </a:spcBef>
                <a:buClr>
                  <a:schemeClr val="tx2">
                    <a:lumMod val="50000"/>
                  </a:schemeClr>
                </a:buClr>
                <a:buFont typeface="Arial" pitchFamily="34" charset="0"/>
                <a:buChar char="•"/>
                <a:defRPr/>
              </a:pPr>
              <a:endParaRPr lang="en-US" altLang="ko-KR" sz="1000" b="1" dirty="0">
                <a:latin typeface="맑은 고딕"/>
                <a:ea typeface="맑은 고딕"/>
              </a:endParaRPr>
            </a:p>
          </p:txBody>
        </p:sp>
      </p:grpSp>
      <p:sp>
        <p:nvSpPr>
          <p:cNvPr id="52" name="AutoShape 56"/>
          <p:cNvSpPr>
            <a:spLocks noChangeArrowheads="1"/>
          </p:cNvSpPr>
          <p:nvPr/>
        </p:nvSpPr>
        <p:spPr bwMode="auto">
          <a:xfrm>
            <a:off x="4145001" y="1259792"/>
            <a:ext cx="2451073" cy="457274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시장환경 분석</a:t>
            </a:r>
            <a: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/>
              </a:rPr>
              <a:t>_3C</a:t>
            </a: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분석</a:t>
            </a:r>
            <a:endParaRPr lang="en-US" altLang="ko-KR" sz="1400" b="1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811F9-07B2-4E2C-AFB7-0B9976A94723}"/>
              </a:ext>
            </a:extLst>
          </p:cNvPr>
          <p:cNvSpPr txBox="1"/>
          <p:nvPr/>
        </p:nvSpPr>
        <p:spPr>
          <a:xfrm>
            <a:off x="3008784" y="2060848"/>
            <a:ext cx="54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왕은 전국통일</a:t>
            </a:r>
            <a:r>
              <a:rPr lang="en-US" altLang="ko-KR" sz="1400" dirty="0"/>
              <a:t>, </a:t>
            </a:r>
            <a:r>
              <a:rPr lang="ko-KR" altLang="en-US" sz="1400" dirty="0"/>
              <a:t>업적달성을 최단기간내 </a:t>
            </a:r>
            <a:r>
              <a:rPr lang="ko-KR" altLang="en-US" sz="1400" dirty="0" err="1"/>
              <a:t>이루는것을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목표로한다</a:t>
            </a:r>
            <a:endParaRPr lang="en-US" altLang="ko-KR" sz="1400" dirty="0"/>
          </a:p>
          <a:p>
            <a:r>
              <a:rPr lang="ko-KR" altLang="en-US" sz="1400" dirty="0"/>
              <a:t>아군손실에 대한 안타까움</a:t>
            </a:r>
            <a:endParaRPr lang="en-US" altLang="ko-KR" sz="1400" dirty="0"/>
          </a:p>
          <a:p>
            <a:r>
              <a:rPr lang="ko-KR" altLang="en-US" sz="1400" dirty="0"/>
              <a:t>보급물자와 같은 백성부담 걱정</a:t>
            </a:r>
            <a:endParaRPr lang="en-US" altLang="ko-KR" sz="1400" dirty="0"/>
          </a:p>
          <a:p>
            <a:r>
              <a:rPr lang="ko-KR" altLang="en-US" sz="1400" dirty="0"/>
              <a:t>적군 사망 </a:t>
            </a:r>
            <a:r>
              <a:rPr lang="ko-KR" altLang="en-US" sz="1400" dirty="0" err="1"/>
              <a:t>미고려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90AC2-DCB1-46A2-9A5A-E1BFDE6535DB}"/>
              </a:ext>
            </a:extLst>
          </p:cNvPr>
          <p:cNvSpPr txBox="1"/>
          <p:nvPr/>
        </p:nvSpPr>
        <p:spPr>
          <a:xfrm>
            <a:off x="3008784" y="5001638"/>
            <a:ext cx="54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병사수</a:t>
            </a:r>
            <a:r>
              <a:rPr lang="ko-KR" altLang="en-US" sz="1400" dirty="0"/>
              <a:t> </a:t>
            </a:r>
            <a:r>
              <a:rPr lang="en-US" altLang="ko-KR" sz="1400" dirty="0"/>
              <a:t>10</a:t>
            </a:r>
            <a:r>
              <a:rPr lang="ko-KR" altLang="en-US" sz="1400" dirty="0"/>
              <a:t>만</a:t>
            </a:r>
            <a:r>
              <a:rPr lang="en-US" altLang="ko-KR" sz="1400" dirty="0"/>
              <a:t>, </a:t>
            </a:r>
            <a:r>
              <a:rPr lang="ko-KR" altLang="en-US" sz="1400" dirty="0"/>
              <a:t>다양한 공격자원 보유</a:t>
            </a:r>
            <a:r>
              <a:rPr lang="en-US" altLang="ko-KR" sz="1400" dirty="0"/>
              <a:t>(</a:t>
            </a:r>
            <a:r>
              <a:rPr lang="ko-KR" altLang="en-US" sz="1400" dirty="0"/>
              <a:t>활</a:t>
            </a:r>
            <a:r>
              <a:rPr lang="en-US" altLang="ko-KR" sz="1400" dirty="0"/>
              <a:t>, </a:t>
            </a:r>
            <a:r>
              <a:rPr lang="ko-KR" altLang="en-US" sz="1400" dirty="0"/>
              <a:t>창</a:t>
            </a:r>
            <a:r>
              <a:rPr lang="en-US" altLang="ko-KR" sz="1400" dirty="0"/>
              <a:t>, </a:t>
            </a:r>
            <a:r>
              <a:rPr lang="ko-KR" altLang="en-US" sz="1400" dirty="0"/>
              <a:t>투석기</a:t>
            </a:r>
            <a:r>
              <a:rPr lang="en-US" altLang="ko-KR" sz="1400" dirty="0"/>
              <a:t>, </a:t>
            </a:r>
            <a:r>
              <a:rPr lang="ko-KR" altLang="en-US" sz="1400" dirty="0"/>
              <a:t>기마병 등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오랜 전쟁의 경험과 같은 노하우</a:t>
            </a:r>
            <a:endParaRPr lang="en-US" altLang="ko-KR" sz="1400" dirty="0"/>
          </a:p>
          <a:p>
            <a:r>
              <a:rPr lang="ko-KR" altLang="en-US" sz="1400" dirty="0"/>
              <a:t>체력과 사기 </a:t>
            </a:r>
            <a:r>
              <a:rPr lang="ko-KR" altLang="en-US" sz="1400" dirty="0" err="1"/>
              <a:t>저하중</a:t>
            </a:r>
            <a:endParaRPr lang="en-US" altLang="ko-KR" sz="1400" dirty="0"/>
          </a:p>
          <a:p>
            <a:r>
              <a:rPr lang="ko-KR" altLang="en-US" sz="1400" dirty="0"/>
              <a:t>현재 보유 보급량 </a:t>
            </a:r>
            <a:r>
              <a:rPr lang="en-US" altLang="ko-KR" sz="1400" dirty="0"/>
              <a:t>15</a:t>
            </a:r>
            <a:r>
              <a:rPr lang="ko-KR" altLang="en-US" sz="1400" dirty="0"/>
              <a:t>일치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97B18-87E7-4129-8FAF-14FF60F560EF}"/>
              </a:ext>
            </a:extLst>
          </p:cNvPr>
          <p:cNvSpPr txBox="1"/>
          <p:nvPr/>
        </p:nvSpPr>
        <p:spPr>
          <a:xfrm>
            <a:off x="2936776" y="3505515"/>
            <a:ext cx="54726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병사 수 </a:t>
            </a:r>
            <a:r>
              <a:rPr lang="en-US" altLang="ko-KR" sz="1400" dirty="0"/>
              <a:t>3</a:t>
            </a:r>
            <a:r>
              <a:rPr lang="ko-KR" altLang="en-US" sz="1400" dirty="0"/>
              <a:t>만</a:t>
            </a:r>
            <a:r>
              <a:rPr lang="en-US" altLang="ko-KR" sz="1400" dirty="0"/>
              <a:t>, </a:t>
            </a:r>
            <a:r>
              <a:rPr lang="ko-KR" altLang="en-US" sz="1400" dirty="0"/>
              <a:t>주요 무기 활</a:t>
            </a:r>
            <a:endParaRPr lang="en-US" altLang="ko-KR" sz="1400" dirty="0"/>
          </a:p>
          <a:p>
            <a:r>
              <a:rPr lang="ko-KR" altLang="en-US" sz="1400" dirty="0"/>
              <a:t>전면전 회피</a:t>
            </a:r>
            <a:r>
              <a:rPr lang="en-US" altLang="ko-KR" sz="1400" dirty="0"/>
              <a:t>, </a:t>
            </a:r>
            <a:r>
              <a:rPr lang="ko-KR" altLang="en-US" sz="1400" dirty="0"/>
              <a:t>방어적 태세</a:t>
            </a:r>
            <a:endParaRPr lang="en-US" altLang="ko-KR" sz="1400" dirty="0"/>
          </a:p>
          <a:p>
            <a:r>
              <a:rPr lang="ko-KR" altLang="en-US" sz="1400" dirty="0"/>
              <a:t>최근 성벽 높이 증축</a:t>
            </a:r>
            <a:endParaRPr lang="en-US" altLang="ko-KR" sz="1400" dirty="0"/>
          </a:p>
          <a:p>
            <a:r>
              <a:rPr lang="ko-KR" altLang="en-US" sz="1400" dirty="0"/>
              <a:t>보유 </a:t>
            </a:r>
            <a:r>
              <a:rPr lang="ko-KR" altLang="en-US" sz="1400" dirty="0" err="1"/>
              <a:t>물자량</a:t>
            </a:r>
            <a:r>
              <a:rPr lang="ko-KR" altLang="en-US" sz="1400" dirty="0"/>
              <a:t> </a:t>
            </a:r>
            <a:r>
              <a:rPr lang="en-US" altLang="ko-KR" sz="1400" dirty="0"/>
              <a:t>30</a:t>
            </a:r>
            <a:r>
              <a:rPr lang="ko-KR" altLang="en-US" sz="1400" dirty="0"/>
              <a:t>일 이상</a:t>
            </a:r>
            <a:endParaRPr lang="en-US" altLang="ko-KR" sz="1400" dirty="0"/>
          </a:p>
          <a:p>
            <a:r>
              <a:rPr lang="ko-KR" altLang="en-US" sz="1400" dirty="0"/>
              <a:t>굳센 의지 항복 의사 낮음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14710" y="207762"/>
            <a:ext cx="6213475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2.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프로젝트 추진 배경 및 프로세스 확인</a:t>
            </a:r>
          </a:p>
        </p:txBody>
      </p:sp>
      <p:sp>
        <p:nvSpPr>
          <p:cNvPr id="4" name="직사각형 3"/>
          <p:cNvSpPr/>
          <p:nvPr/>
        </p:nvSpPr>
        <p:spPr bwMode="auto">
          <a:xfrm>
            <a:off x="596516" y="1181083"/>
            <a:ext cx="8676964" cy="103410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598418" y="2664910"/>
            <a:ext cx="8676964" cy="3267746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" name="그룹 10"/>
          <p:cNvGrpSpPr/>
          <p:nvPr/>
        </p:nvGrpSpPr>
        <p:grpSpPr>
          <a:xfrm>
            <a:off x="731902" y="2997491"/>
            <a:ext cx="8379456" cy="2855270"/>
            <a:chOff x="353964" y="3356049"/>
            <a:chExt cx="9202810" cy="2855270"/>
          </a:xfrm>
        </p:grpSpPr>
        <p:sp>
          <p:nvSpPr>
            <p:cNvPr id="21" name="Rectangle 72"/>
            <p:cNvSpPr>
              <a:spLocks noChangeArrowheads="1"/>
            </p:cNvSpPr>
            <p:nvPr/>
          </p:nvSpPr>
          <p:spPr bwMode="auto">
            <a:xfrm>
              <a:off x="4056063" y="3356049"/>
              <a:ext cx="1795462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98822"/>
              </a:schemeClr>
            </a:solidFill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anchor="ctr">
              <a:flatTx/>
            </a:bodyPr>
            <a:lstStyle/>
            <a:p>
              <a:pPr algn="ctr" latinLnBrk="1"/>
              <a:r>
                <a:rPr kumimoji="1" lang="en-US" altLang="ko-KR" sz="1200" b="1" dirty="0">
                  <a:solidFill>
                    <a:schemeClr val="tx2"/>
                  </a:solidFill>
                  <a:latin typeface="+mn-ea"/>
                  <a:ea typeface="+mn-ea"/>
                </a:rPr>
                <a:t>PROCESS</a:t>
              </a:r>
            </a:p>
          </p:txBody>
        </p:sp>
        <p:sp>
          <p:nvSpPr>
            <p:cNvPr id="23" name="Rectangle 71"/>
            <p:cNvSpPr>
              <a:spLocks noChangeArrowheads="1"/>
            </p:cNvSpPr>
            <p:nvPr/>
          </p:nvSpPr>
          <p:spPr bwMode="auto">
            <a:xfrm>
              <a:off x="4056063" y="3787850"/>
              <a:ext cx="1795462" cy="24225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latinLnBrk="1">
                <a:spcBef>
                  <a:spcPct val="50000"/>
                </a:spcBef>
              </a:pPr>
              <a:endParaRPr kumimoji="1" lang="ko-KR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0" name="Rectangle 72"/>
            <p:cNvSpPr>
              <a:spLocks noChangeArrowheads="1"/>
            </p:cNvSpPr>
            <p:nvPr/>
          </p:nvSpPr>
          <p:spPr bwMode="auto">
            <a:xfrm>
              <a:off x="5911740" y="3356992"/>
              <a:ext cx="1795462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98822"/>
              </a:schemeClr>
            </a:solidFill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anchor="ctr">
              <a:flatTx/>
            </a:bodyPr>
            <a:lstStyle/>
            <a:p>
              <a:pPr algn="ctr" latinLnBrk="1"/>
              <a:r>
                <a:rPr kumimoji="1" lang="en-US" altLang="ko-KR" sz="1200" b="1" dirty="0">
                  <a:solidFill>
                    <a:schemeClr val="tx2"/>
                  </a:solidFill>
                  <a:latin typeface="+mn-ea"/>
                  <a:ea typeface="+mn-ea"/>
                </a:rPr>
                <a:t>OUTPUT</a:t>
              </a:r>
            </a:p>
          </p:txBody>
        </p:sp>
        <p:sp>
          <p:nvSpPr>
            <p:cNvPr id="31" name="Rectangle 71"/>
            <p:cNvSpPr>
              <a:spLocks noChangeArrowheads="1"/>
            </p:cNvSpPr>
            <p:nvPr/>
          </p:nvSpPr>
          <p:spPr bwMode="auto">
            <a:xfrm>
              <a:off x="5911740" y="3788793"/>
              <a:ext cx="1795462" cy="24225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latinLnBrk="1">
                <a:spcBef>
                  <a:spcPct val="50000"/>
                </a:spcBef>
              </a:pPr>
              <a:endParaRPr kumimoji="1" lang="ko-KR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2" name="Rectangle 72"/>
            <p:cNvSpPr>
              <a:spLocks noChangeArrowheads="1"/>
            </p:cNvSpPr>
            <p:nvPr/>
          </p:nvSpPr>
          <p:spPr bwMode="auto">
            <a:xfrm>
              <a:off x="7761312" y="3356992"/>
              <a:ext cx="1795462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98822"/>
              </a:schemeClr>
            </a:solidFill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anchor="ctr">
              <a:flatTx/>
            </a:bodyPr>
            <a:lstStyle/>
            <a:p>
              <a:pPr algn="ctr" latinLnBrk="1"/>
              <a:r>
                <a:rPr kumimoji="1" lang="en-US" altLang="ko-KR" sz="1200" b="1" dirty="0">
                  <a:solidFill>
                    <a:schemeClr val="tx2"/>
                  </a:solidFill>
                  <a:latin typeface="+mn-ea"/>
                  <a:ea typeface="+mn-ea"/>
                </a:rPr>
                <a:t>CUSTOMER</a:t>
              </a:r>
            </a:p>
          </p:txBody>
        </p:sp>
        <p:sp>
          <p:nvSpPr>
            <p:cNvPr id="33" name="Rectangle 71"/>
            <p:cNvSpPr>
              <a:spLocks noChangeArrowheads="1"/>
            </p:cNvSpPr>
            <p:nvPr/>
          </p:nvSpPr>
          <p:spPr bwMode="auto">
            <a:xfrm>
              <a:off x="7761312" y="3788793"/>
              <a:ext cx="1795462" cy="24225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latinLnBrk="1">
                <a:spcBef>
                  <a:spcPct val="50000"/>
                </a:spcBef>
              </a:pPr>
              <a:endParaRPr kumimoji="1" lang="ko-KR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4" name="Rectangle 72"/>
            <p:cNvSpPr>
              <a:spLocks noChangeArrowheads="1"/>
            </p:cNvSpPr>
            <p:nvPr/>
          </p:nvSpPr>
          <p:spPr bwMode="auto">
            <a:xfrm>
              <a:off x="353964" y="3356992"/>
              <a:ext cx="1795462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98822"/>
              </a:schemeClr>
            </a:solidFill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anchor="ctr">
              <a:flatTx/>
            </a:bodyPr>
            <a:lstStyle/>
            <a:p>
              <a:pPr algn="ctr"/>
              <a:r>
                <a:rPr lang="en-US" altLang="ko-KR" sz="1200" b="1" dirty="0">
                  <a:solidFill>
                    <a:schemeClr val="tx2"/>
                  </a:solidFill>
                  <a:latin typeface="+mn-ea"/>
                  <a:ea typeface="+mn-ea"/>
                </a:rPr>
                <a:t>SUPPLIER</a:t>
              </a:r>
            </a:p>
          </p:txBody>
        </p:sp>
        <p:sp>
          <p:nvSpPr>
            <p:cNvPr id="35" name="Rectangle 71"/>
            <p:cNvSpPr>
              <a:spLocks noChangeArrowheads="1"/>
            </p:cNvSpPr>
            <p:nvPr/>
          </p:nvSpPr>
          <p:spPr bwMode="auto">
            <a:xfrm>
              <a:off x="353964" y="3788793"/>
              <a:ext cx="1795462" cy="24225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latinLnBrk="1">
                <a:spcBef>
                  <a:spcPct val="50000"/>
                </a:spcBef>
              </a:pPr>
              <a:endParaRPr kumimoji="1" lang="ko-KR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6" name="Rectangle 72"/>
            <p:cNvSpPr>
              <a:spLocks noChangeArrowheads="1"/>
            </p:cNvSpPr>
            <p:nvPr/>
          </p:nvSpPr>
          <p:spPr bwMode="auto">
            <a:xfrm>
              <a:off x="2203536" y="3356992"/>
              <a:ext cx="1795462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98822"/>
              </a:schemeClr>
            </a:solidFill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anchor="ctr">
              <a:flatTx/>
            </a:bodyPr>
            <a:lstStyle/>
            <a:p>
              <a:pPr algn="ctr" latinLnBrk="1"/>
              <a:r>
                <a:rPr kumimoji="1" lang="en-US" altLang="ko-KR" sz="1200" b="1" dirty="0">
                  <a:solidFill>
                    <a:schemeClr val="tx2"/>
                  </a:solidFill>
                  <a:latin typeface="+mn-ea"/>
                  <a:ea typeface="+mn-ea"/>
                </a:rPr>
                <a:t>INPUT</a:t>
              </a:r>
            </a:p>
          </p:txBody>
        </p:sp>
        <p:sp>
          <p:nvSpPr>
            <p:cNvPr id="37" name="Rectangle 71"/>
            <p:cNvSpPr>
              <a:spLocks noChangeArrowheads="1"/>
            </p:cNvSpPr>
            <p:nvPr/>
          </p:nvSpPr>
          <p:spPr bwMode="auto">
            <a:xfrm>
              <a:off x="2203536" y="3788793"/>
              <a:ext cx="1795462" cy="24225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latinLnBrk="1">
                <a:spcBef>
                  <a:spcPct val="50000"/>
                </a:spcBef>
              </a:pPr>
              <a:endParaRPr kumimoji="1" lang="ko-KR" altLang="en-US" sz="1200" b="1" dirty="0">
                <a:latin typeface="+mn-ea"/>
                <a:ea typeface="+mn-ea"/>
              </a:endParaRPr>
            </a:p>
          </p:txBody>
        </p:sp>
      </p:grpSp>
      <p:sp>
        <p:nvSpPr>
          <p:cNvPr id="22" name="AutoShape 56"/>
          <p:cNvSpPr>
            <a:spLocks noChangeArrowheads="1"/>
          </p:cNvSpPr>
          <p:nvPr/>
        </p:nvSpPr>
        <p:spPr bwMode="auto">
          <a:xfrm>
            <a:off x="703800" y="1000108"/>
            <a:ext cx="2848848" cy="359084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400" b="1" i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프로젝트 추진 배경</a:t>
            </a:r>
            <a:endParaRPr lang="en-US" altLang="ko-KR" sz="1400" b="1" i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720737" y="2475440"/>
            <a:ext cx="2848848" cy="359084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400" b="1" i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상위 프로세스 </a:t>
            </a:r>
            <a:r>
              <a:rPr lang="ko-KR" altLang="en-US" sz="1400" b="1" i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맵</a:t>
            </a:r>
            <a:r>
              <a:rPr lang="en-US" altLang="ko-KR" sz="1400" b="1" i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(SIPOC)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BF9E9-C4CE-44E6-890F-005D428E971E}"/>
              </a:ext>
            </a:extLst>
          </p:cNvPr>
          <p:cNvSpPr txBox="1"/>
          <p:nvPr/>
        </p:nvSpPr>
        <p:spPr>
          <a:xfrm>
            <a:off x="731902" y="1412776"/>
            <a:ext cx="8325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현재 적군의 높은 성벽으로 인해서</a:t>
            </a:r>
            <a:r>
              <a:rPr lang="en-US" altLang="ko-KR" sz="1200" dirty="0"/>
              <a:t>, </a:t>
            </a:r>
            <a:r>
              <a:rPr lang="ko-KR" altLang="en-US" sz="1200" dirty="0"/>
              <a:t>아군의 강점인 기존 공격의 효율이 낮아지고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따라서 성벽을 제거 한 후 기존의 방법을 활용한다면 좋은 결과로 이어질 수 있을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때문에 투석기의 개선을 통한 성벽제거가 필요하다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FE6493-D3C4-4688-B763-BC2A10D2522B}"/>
              </a:ext>
            </a:extLst>
          </p:cNvPr>
          <p:cNvSpPr txBox="1"/>
          <p:nvPr/>
        </p:nvSpPr>
        <p:spPr>
          <a:xfrm>
            <a:off x="3220008" y="43267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88BAF-5224-4198-8602-A55B54FCE1AF}"/>
              </a:ext>
            </a:extLst>
          </p:cNvPr>
          <p:cNvSpPr txBox="1"/>
          <p:nvPr/>
        </p:nvSpPr>
        <p:spPr>
          <a:xfrm>
            <a:off x="4827830" y="44558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BC274-39BC-4348-9EE8-2A8AD6DD0D5B}"/>
              </a:ext>
            </a:extLst>
          </p:cNvPr>
          <p:cNvSpPr txBox="1"/>
          <p:nvPr/>
        </p:nvSpPr>
        <p:spPr>
          <a:xfrm>
            <a:off x="1404306" y="44558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D77646-DA92-4FA6-9952-2A4DFC802F12}"/>
              </a:ext>
            </a:extLst>
          </p:cNvPr>
          <p:cNvSpPr txBox="1"/>
          <p:nvPr/>
        </p:nvSpPr>
        <p:spPr>
          <a:xfrm>
            <a:off x="2758375" y="3808517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투석기</a:t>
            </a:r>
            <a:endParaRPr lang="en-US" altLang="ko-KR" dirty="0"/>
          </a:p>
          <a:p>
            <a:r>
              <a:rPr lang="ko-KR" altLang="en-US" dirty="0"/>
              <a:t>돌</a:t>
            </a:r>
            <a:endParaRPr lang="en-US" altLang="ko-KR" dirty="0"/>
          </a:p>
          <a:p>
            <a:r>
              <a:rPr lang="ko-KR" altLang="en-US" dirty="0"/>
              <a:t>밧줄</a:t>
            </a:r>
            <a:endParaRPr lang="en-US" altLang="ko-KR" dirty="0"/>
          </a:p>
          <a:p>
            <a:r>
              <a:rPr lang="ko-KR" altLang="en-US" dirty="0"/>
              <a:t>사람</a:t>
            </a:r>
            <a:endParaRPr lang="en-US" altLang="ko-KR" dirty="0"/>
          </a:p>
          <a:p>
            <a:r>
              <a:rPr lang="ko-KR" altLang="en-US" dirty="0"/>
              <a:t>정보</a:t>
            </a:r>
            <a:endParaRPr lang="en-US" altLang="ko-KR" dirty="0"/>
          </a:p>
          <a:p>
            <a:r>
              <a:rPr lang="ko-KR" altLang="en-US" dirty="0" err="1"/>
              <a:t>기타등등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08F7BD-2D01-4552-A707-E54D5A658764}"/>
              </a:ext>
            </a:extLst>
          </p:cNvPr>
          <p:cNvSpPr txBox="1"/>
          <p:nvPr/>
        </p:nvSpPr>
        <p:spPr>
          <a:xfrm>
            <a:off x="4245327" y="3670017"/>
            <a:ext cx="16257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목표설정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돌의 무게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각도설정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밧줄의 굵기</a:t>
            </a:r>
            <a:endParaRPr lang="en-US" altLang="ko-KR" dirty="0"/>
          </a:p>
          <a:p>
            <a:r>
              <a:rPr lang="en-US" altLang="ko-KR" dirty="0"/>
              <a:t>5.</a:t>
            </a:r>
            <a:r>
              <a:rPr lang="ko-KR" altLang="en-US" dirty="0"/>
              <a:t>힘의 세기</a:t>
            </a:r>
            <a:endParaRPr lang="en-US" altLang="ko-KR" dirty="0"/>
          </a:p>
          <a:p>
            <a:r>
              <a:rPr lang="en-US" altLang="ko-KR" dirty="0"/>
              <a:t>6.</a:t>
            </a:r>
            <a:r>
              <a:rPr lang="ko-KR" altLang="en-US" dirty="0"/>
              <a:t>발사</a:t>
            </a:r>
            <a:endParaRPr lang="en-US" altLang="ko-KR" dirty="0"/>
          </a:p>
          <a:p>
            <a:r>
              <a:rPr lang="en-US" altLang="ko-KR" dirty="0"/>
              <a:t>7.</a:t>
            </a:r>
            <a:r>
              <a:rPr lang="ko-KR" altLang="en-US" dirty="0"/>
              <a:t>기록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F0158F-FB6A-4914-93A6-3820A330CC2D}"/>
              </a:ext>
            </a:extLst>
          </p:cNvPr>
          <p:cNvSpPr txBox="1"/>
          <p:nvPr/>
        </p:nvSpPr>
        <p:spPr>
          <a:xfrm>
            <a:off x="6056708" y="3763392"/>
            <a:ext cx="11849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성 파괴</a:t>
            </a:r>
            <a:endParaRPr lang="en-US" altLang="ko-KR" dirty="0"/>
          </a:p>
          <a:p>
            <a:r>
              <a:rPr lang="ko-KR" altLang="en-US" dirty="0"/>
              <a:t>적군 사망</a:t>
            </a:r>
            <a:endParaRPr lang="en-US" altLang="ko-KR" dirty="0"/>
          </a:p>
          <a:p>
            <a:r>
              <a:rPr lang="ko-KR" altLang="en-US" dirty="0"/>
              <a:t>아군 손실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r>
              <a:rPr lang="ko-KR" altLang="en-US" dirty="0"/>
              <a:t>발사 거리</a:t>
            </a:r>
            <a:endParaRPr lang="en-US" altLang="ko-KR" dirty="0"/>
          </a:p>
          <a:p>
            <a:r>
              <a:rPr lang="ko-KR" altLang="en-US" dirty="0" err="1"/>
              <a:t>명줄률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71BE3B-3A4C-4989-97EA-C21CA87E3E9F}"/>
              </a:ext>
            </a:extLst>
          </p:cNvPr>
          <p:cNvSpPr txBox="1"/>
          <p:nvPr/>
        </p:nvSpPr>
        <p:spPr>
          <a:xfrm>
            <a:off x="8086196" y="432677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D2762-4846-4F3A-A570-7AA89486B2BF}"/>
              </a:ext>
            </a:extLst>
          </p:cNvPr>
          <p:cNvSpPr txBox="1"/>
          <p:nvPr/>
        </p:nvSpPr>
        <p:spPr>
          <a:xfrm>
            <a:off x="4160912" y="2311530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프로세스 분석법</a:t>
            </a:r>
            <a:r>
              <a:rPr lang="en-US" altLang="ko-KR" dirty="0"/>
              <a:t>: </a:t>
            </a:r>
            <a:r>
              <a:rPr lang="ko-KR" altLang="en-US" dirty="0"/>
              <a:t>프로젝트의 범위 설정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730371"/>
              </p:ext>
            </p:extLst>
          </p:nvPr>
        </p:nvGraphicFramePr>
        <p:xfrm>
          <a:off x="452438" y="908051"/>
          <a:ext cx="9001126" cy="5500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7135"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적군의 높은 성벽으로 인해 아군의 강점인 기존공격의 효율성이 낮아지고있다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따라서 성벽을 제거한 후 기존의 방법으로 활용한다면 좋은 결과로 이어질 수 있을 것이다 그래서 투석기의 개선을 통한 성벽제거가 필요하다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발사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분석결과 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평균은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271.78, 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표준편차는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8.48, 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최소값은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253.35, 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최대값은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289.0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로 전체적으로 넓게 분포하고 있으며 상자그림분석결과 전반적으로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275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기준으로 대칭형태를 보이나 하한에서 이상치가 발견된다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. 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이를 바탕으로 유추한 명중률은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50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굴림" charset="-127"/>
                          <a:ea typeface="굴림" charset="-127"/>
                          <a:cs typeface="+mn-cs"/>
                        </a:rPr>
                        <a:t>퍼센트 정도로 추정된다 따라서 투석기의 명중률개선이 필요한 실정이다</a:t>
                      </a:r>
                      <a:r>
                        <a:rPr lang="ko-KR" altLang="en-US" sz="1100" dirty="0"/>
                        <a:t>평균은 </a:t>
                      </a:r>
                      <a:r>
                        <a:rPr lang="en-US" altLang="ko-KR" sz="1100" dirty="0"/>
                        <a:t>271.78, </a:t>
                      </a:r>
                      <a:r>
                        <a:rPr lang="ko-KR" altLang="en-US" sz="1100" dirty="0"/>
                        <a:t>표준편차는 </a:t>
                      </a:r>
                      <a:r>
                        <a:rPr lang="en-US" altLang="ko-KR" sz="1100" dirty="0"/>
                        <a:t>8.48, </a:t>
                      </a:r>
                      <a:r>
                        <a:rPr lang="ko-KR" altLang="en-US" sz="1100" dirty="0"/>
                        <a:t>최소값은 </a:t>
                      </a:r>
                      <a:r>
                        <a:rPr lang="en-US" altLang="ko-KR" sz="1100" dirty="0"/>
                        <a:t>253.35, </a:t>
                      </a:r>
                      <a:r>
                        <a:rPr lang="ko-KR" altLang="en-US" sz="1100" dirty="0"/>
                        <a:t>최대값은 </a:t>
                      </a:r>
                      <a:r>
                        <a:rPr lang="en-US" altLang="ko-KR" sz="1100" dirty="0"/>
                        <a:t>289.05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926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6204"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631825" y="212701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4.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프로젝트 기술서 </a:t>
            </a:r>
            <a:r>
              <a:rPr kumimoji="0" lang="en-US" altLang="ko-KR" sz="1600" b="1" dirty="0">
                <a:solidFill>
                  <a:srgbClr val="1F497D"/>
                </a:solidFill>
                <a:latin typeface="휴먼엑스포" pitchFamily="18" charset="-127"/>
                <a:ea typeface="휴먼엑스포" pitchFamily="18" charset="-127"/>
              </a:rPr>
              <a:t>; Project Charter</a:t>
            </a:r>
            <a:endParaRPr kumimoji="0" lang="en-US" altLang="ko-KR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56333"/>
              </p:ext>
            </p:extLst>
          </p:nvPr>
        </p:nvGraphicFramePr>
        <p:xfrm>
          <a:off x="631825" y="2600324"/>
          <a:ext cx="4249736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정량적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CTQ1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투석기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 내외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=&gt;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고객요구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80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추가목표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= 85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ts val="12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841"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정성적    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전쟁기간단축을 통한 보급물자 사용량 감소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아군손실감소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아군 공격증가 통한 적군 항복확률증가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ts val="1200"/>
                        </a:lnSpc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ts val="1200"/>
                        </a:lnSpc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ts val="12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77473"/>
              </p:ext>
            </p:extLst>
          </p:nvPr>
        </p:nvGraphicFramePr>
        <p:xfrm>
          <a:off x="631825" y="4833156"/>
          <a:ext cx="42497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ts val="1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정의단계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측정단계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분석단계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개선단계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7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385776"/>
              </p:ext>
            </p:extLst>
          </p:nvPr>
        </p:nvGraphicFramePr>
        <p:xfrm>
          <a:off x="5097016" y="4833156"/>
          <a:ext cx="424974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71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구 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소속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직책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챔피언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이수지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프로젝트 리더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이채은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프로젝트 멤버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김건호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석정훈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오채윤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88562"/>
              </p:ext>
            </p:extLst>
          </p:nvPr>
        </p:nvGraphicFramePr>
        <p:xfrm>
          <a:off x="5061012" y="2601342"/>
          <a:ext cx="4284477" cy="168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110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구분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프로젝트 범위 선정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804"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CTQ1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투석기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2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발사거리 영향주는 공정을 대상으로 한다 실제 돌 무게 공정부터 발사 공정까지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(2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번부터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번까지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488505" y="954521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비즈니스 케이스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프로젝트 추진 배경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7" name="AutoShape 56"/>
          <p:cNvSpPr>
            <a:spLocks noChangeArrowheads="1"/>
          </p:cNvSpPr>
          <p:nvPr/>
        </p:nvSpPr>
        <p:spPr bwMode="auto">
          <a:xfrm>
            <a:off x="6311479" y="954521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기회 기술서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프로젝트 문제 정의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" name="AutoShape 56"/>
          <p:cNvSpPr>
            <a:spLocks noChangeArrowheads="1"/>
          </p:cNvSpPr>
          <p:nvPr/>
        </p:nvSpPr>
        <p:spPr bwMode="auto">
          <a:xfrm>
            <a:off x="488504" y="2241820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프로젝트 목표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개선 목표 선정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1" name="AutoShape 56"/>
          <p:cNvSpPr>
            <a:spLocks noChangeArrowheads="1"/>
          </p:cNvSpPr>
          <p:nvPr/>
        </p:nvSpPr>
        <p:spPr bwMode="auto">
          <a:xfrm>
            <a:off x="6311478" y="2241820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프로젝트 범위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중점 개선 업무 정의</a:t>
            </a: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4" name="AutoShape 56"/>
          <p:cNvSpPr>
            <a:spLocks noChangeArrowheads="1"/>
          </p:cNvSpPr>
          <p:nvPr/>
        </p:nvSpPr>
        <p:spPr bwMode="auto">
          <a:xfrm>
            <a:off x="488505" y="4473116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추진 일정</a:t>
            </a:r>
            <a:endParaRPr lang="en-US" altLang="ko-KR" sz="1200" b="1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5" name="AutoShape 56"/>
          <p:cNvSpPr>
            <a:spLocks noChangeArrowheads="1"/>
          </p:cNvSpPr>
          <p:nvPr/>
        </p:nvSpPr>
        <p:spPr bwMode="auto">
          <a:xfrm>
            <a:off x="6311479" y="4473116"/>
            <a:ext cx="3096964" cy="287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prstClr val="white"/>
                </a:solidFill>
                <a:latin typeface="맑은 고딕"/>
                <a:ea typeface="맑은 고딕"/>
              </a:rPr>
              <a:t>추진 팀 구성</a:t>
            </a:r>
            <a:endParaRPr lang="en-US" altLang="ko-KR" sz="1200" b="1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6FC218BD-E93B-4FCE-A8AF-2CB930CD7A20}"/>
              </a:ext>
            </a:extLst>
          </p:cNvPr>
          <p:cNvSpPr/>
          <p:nvPr/>
        </p:nvSpPr>
        <p:spPr>
          <a:xfrm>
            <a:off x="1424918" y="5045094"/>
            <a:ext cx="1224136" cy="2160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CC06F86-6EA9-4614-9B25-1B26E2E293F7}"/>
              </a:ext>
            </a:extLst>
          </p:cNvPr>
          <p:cNvSpPr/>
          <p:nvPr/>
        </p:nvSpPr>
        <p:spPr>
          <a:xfrm>
            <a:off x="1793032" y="5273182"/>
            <a:ext cx="1224136" cy="2160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6C5C51E-4959-4693-AEA2-E5C6316E06CF}"/>
              </a:ext>
            </a:extLst>
          </p:cNvPr>
          <p:cNvSpPr/>
          <p:nvPr/>
        </p:nvSpPr>
        <p:spPr>
          <a:xfrm>
            <a:off x="2810096" y="5476456"/>
            <a:ext cx="1224136" cy="2160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8D7EB1F-49BA-43CC-8EDE-CBF408ED1314}"/>
              </a:ext>
            </a:extLst>
          </p:cNvPr>
          <p:cNvSpPr/>
          <p:nvPr/>
        </p:nvSpPr>
        <p:spPr>
          <a:xfrm>
            <a:off x="3500542" y="5928337"/>
            <a:ext cx="1224136" cy="2160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FFA6032-C447-4825-B4BD-682A7182AA51}"/>
              </a:ext>
            </a:extLst>
          </p:cNvPr>
          <p:cNvSpPr/>
          <p:nvPr/>
        </p:nvSpPr>
        <p:spPr>
          <a:xfrm>
            <a:off x="3094048" y="5712313"/>
            <a:ext cx="1224136" cy="2160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815E1-F5CA-4AFF-A71A-9FC408C95668}"/>
              </a:ext>
            </a:extLst>
          </p:cNvPr>
          <p:cNvSpPr txBox="1"/>
          <p:nvPr/>
        </p:nvSpPr>
        <p:spPr>
          <a:xfrm>
            <a:off x="8535083" y="6147626"/>
            <a:ext cx="684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 </a:t>
            </a:r>
            <a:r>
              <a:rPr lang="ko-KR" altLang="en-US" sz="800" dirty="0" err="1"/>
              <a:t>배기태</a:t>
            </a:r>
            <a:endParaRPr lang="ko-KR" alt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681" name="Text Box 9"/>
          <p:cNvSpPr txBox="1">
            <a:spLocks noChangeArrowheads="1"/>
          </p:cNvSpPr>
          <p:nvPr/>
        </p:nvSpPr>
        <p:spPr bwMode="auto">
          <a:xfrm>
            <a:off x="1136650" y="1092200"/>
            <a:ext cx="7632700" cy="1152000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hlink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측정</a:t>
            </a:r>
            <a:r>
              <a:rPr lang="en-US" altLang="ko-KR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(Measure) </a:t>
            </a: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단계</a:t>
            </a:r>
            <a:endParaRPr lang="ko-KR" altLang="ko-KR" sz="4000" dirty="0">
              <a:solidFill>
                <a:schemeClr val="bg1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52438" y="2643182"/>
          <a:ext cx="9001124" cy="3456000"/>
        </p:xfrm>
        <a:graphic>
          <a:graphicData uri="http://schemas.openxmlformats.org/drawingml/2006/table">
            <a:tbl>
              <a:tblPr/>
              <a:tblGrid>
                <a:gridCol w="808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09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활동정의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프로젝트 수행 내용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327">
                <a:tc rowSpan="2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Measure</a:t>
                      </a:r>
                    </a:p>
                  </a:txBody>
                  <a:tcPr marL="0" marR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4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측정대상의 결정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CTQ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명확히 하고 측정 가능한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구체적 지표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(Y’s)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표현한다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 핵심요구 특성의 파악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Project Y’s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수집 계획 및 측정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06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5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현수준 파악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Y’s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공정능력수준을 파악하여 개선목표를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MSA(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측정시스템분석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현수준 확인 및 개선목표 확정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4-Block Diagram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27446" y="223838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Project-Y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도출 및 성과지표 결정</a:t>
            </a:r>
            <a:endParaRPr kumimoji="0" lang="en-US" altLang="ko-KR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631825" y="944835"/>
            <a:ext cx="4797329" cy="21376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59304" tIns="29651" rIns="59304" bIns="29651" anchor="ctr">
            <a:spAutoFit/>
          </a:bodyPr>
          <a:lstStyle/>
          <a:p>
            <a:pPr eaLnBrk="0" hangingPunct="0">
              <a:defRPr/>
            </a:pP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고객의 핵심요구사항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(CTQ)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를 개선하기 위한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Project-Y(CTQ(Y))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를 도출하고 하시오</a:t>
            </a:r>
          </a:p>
        </p:txBody>
      </p:sp>
      <p:sp>
        <p:nvSpPr>
          <p:cNvPr id="13" name="직사각형 12"/>
          <p:cNvSpPr/>
          <p:nvPr/>
        </p:nvSpPr>
        <p:spPr bwMode="auto">
          <a:xfrm>
            <a:off x="633017" y="2000241"/>
            <a:ext cx="1439664" cy="1272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투석기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2207460" y="2000385"/>
            <a:ext cx="2133472" cy="577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발사거리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207460" y="2676134"/>
            <a:ext cx="2133472" cy="577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4520951" y="2000385"/>
            <a:ext cx="4753223" cy="577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목표값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270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으로 발사한 거리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4520951" y="2676134"/>
            <a:ext cx="4753223" cy="577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endParaRPr lang="en-US" altLang="ko-KR" sz="1200" b="1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523844" y="3714752"/>
            <a:ext cx="8783041" cy="242889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65285"/>
              </p:ext>
            </p:extLst>
          </p:nvPr>
        </p:nvGraphicFramePr>
        <p:xfrm>
          <a:off x="665727" y="4145844"/>
          <a:ext cx="8426849" cy="1854925"/>
        </p:xfrm>
        <a:graphic>
          <a:graphicData uri="http://schemas.openxmlformats.org/drawingml/2006/table">
            <a:tbl>
              <a:tblPr/>
              <a:tblGrid>
                <a:gridCol w="1907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5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4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측정지표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유형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표본크기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수집 위치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수집시기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수집 담당자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연속형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201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02.20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김건호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9304" marR="59304" marT="29651" marB="29651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AutoShape 56"/>
          <p:cNvSpPr>
            <a:spLocks noChangeArrowheads="1"/>
          </p:cNvSpPr>
          <p:nvPr/>
        </p:nvSpPr>
        <p:spPr bwMode="auto">
          <a:xfrm>
            <a:off x="645997" y="1296097"/>
            <a:ext cx="1413703" cy="5918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/>
              </a:rPr>
              <a:t>CTQ</a:t>
            </a:r>
          </a:p>
        </p:txBody>
      </p:sp>
      <p:sp>
        <p:nvSpPr>
          <p:cNvPr id="31" name="AutoShape 56"/>
          <p:cNvSpPr>
            <a:spLocks noChangeArrowheads="1"/>
          </p:cNvSpPr>
          <p:nvPr/>
        </p:nvSpPr>
        <p:spPr bwMode="auto">
          <a:xfrm>
            <a:off x="2207460" y="1296097"/>
            <a:ext cx="2133472" cy="5918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측정</a:t>
            </a:r>
            <a: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지표</a:t>
            </a:r>
            <a: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/>
              </a:rPr>
              <a:t>(Project-Y)</a:t>
            </a:r>
          </a:p>
        </p:txBody>
      </p:sp>
      <p:sp>
        <p:nvSpPr>
          <p:cNvPr id="33" name="AutoShape 56"/>
          <p:cNvSpPr>
            <a:spLocks noChangeArrowheads="1"/>
          </p:cNvSpPr>
          <p:nvPr/>
        </p:nvSpPr>
        <p:spPr bwMode="auto">
          <a:xfrm>
            <a:off x="4520951" y="1296097"/>
            <a:ext cx="4753224" cy="5918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/>
              </a:rPr>
              <a:t>Project- Y </a:t>
            </a: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정 의</a:t>
            </a:r>
            <a:endParaRPr lang="en-US" altLang="ko-KR" sz="1400" b="1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5" name="AutoShape 56"/>
          <p:cNvSpPr>
            <a:spLocks noChangeArrowheads="1"/>
          </p:cNvSpPr>
          <p:nvPr/>
        </p:nvSpPr>
        <p:spPr bwMode="auto">
          <a:xfrm>
            <a:off x="664536" y="3533777"/>
            <a:ext cx="2810445" cy="36195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dirty="0">
                <a:solidFill>
                  <a:prstClr val="white"/>
                </a:solidFill>
                <a:latin typeface="맑은 고딕"/>
                <a:ea typeface="맑은 고딕"/>
              </a:rPr>
              <a:t>데이터 측정 계획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25"/>
          <p:cNvGrpSpPr>
            <a:grpSpLocks/>
          </p:cNvGrpSpPr>
          <p:nvPr/>
        </p:nvGrpSpPr>
        <p:grpSpPr bwMode="auto">
          <a:xfrm>
            <a:off x="279400" y="992188"/>
            <a:ext cx="4076700" cy="5316537"/>
            <a:chOff x="279102" y="992556"/>
            <a:chExt cx="4076700" cy="5168900"/>
          </a:xfrm>
        </p:grpSpPr>
        <p:sp>
          <p:nvSpPr>
            <p:cNvPr id="1389597" name="Rectangle 29"/>
            <p:cNvSpPr>
              <a:spLocks noChangeArrowheads="1"/>
            </p:cNvSpPr>
            <p:nvPr/>
          </p:nvSpPr>
          <p:spPr bwMode="auto">
            <a:xfrm>
              <a:off x="425152" y="3891091"/>
              <a:ext cx="3797300" cy="375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ko-KR" altLang="en-US" sz="1200" dirty="0">
                <a:solidFill>
                  <a:srgbClr val="000000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389573" name="Text Box 5"/>
            <p:cNvSpPr txBox="1">
              <a:spLocks noChangeArrowheads="1"/>
            </p:cNvSpPr>
            <p:nvPr/>
          </p:nvSpPr>
          <p:spPr bwMode="auto">
            <a:xfrm>
              <a:off x="1885652" y="1767351"/>
              <a:ext cx="2328863" cy="4830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30</a:t>
              </a:r>
            </a:p>
          </p:txBody>
        </p:sp>
        <p:sp>
          <p:nvSpPr>
            <p:cNvPr id="1389574" name="Rectangle 6" descr="편지지"/>
            <p:cNvSpPr>
              <a:spLocks noChangeArrowheads="1"/>
            </p:cNvSpPr>
            <p:nvPr/>
          </p:nvSpPr>
          <p:spPr bwMode="auto">
            <a:xfrm>
              <a:off x="425152" y="1767351"/>
              <a:ext cx="1387475" cy="4830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샘플 데이터 수</a:t>
              </a:r>
            </a:p>
          </p:txBody>
        </p:sp>
        <p:sp>
          <p:nvSpPr>
            <p:cNvPr id="1389575" name="Text Box 7"/>
            <p:cNvSpPr txBox="1">
              <a:spLocks noChangeArrowheads="1"/>
            </p:cNvSpPr>
            <p:nvPr/>
          </p:nvSpPr>
          <p:spPr bwMode="auto">
            <a:xfrm>
              <a:off x="1885652" y="2301373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272.303</a:t>
              </a:r>
            </a:p>
          </p:txBody>
        </p:sp>
        <p:sp>
          <p:nvSpPr>
            <p:cNvPr id="1389576" name="Rectangle 8" descr="편지지"/>
            <p:cNvSpPr>
              <a:spLocks noChangeArrowheads="1"/>
            </p:cNvSpPr>
            <p:nvPr/>
          </p:nvSpPr>
          <p:spPr bwMode="auto">
            <a:xfrm>
              <a:off x="425152" y="2301373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평균값</a:t>
              </a:r>
            </a:p>
          </p:txBody>
        </p:sp>
        <p:sp>
          <p:nvSpPr>
            <p:cNvPr id="1389577" name="Text Box 9"/>
            <p:cNvSpPr txBox="1">
              <a:spLocks noChangeArrowheads="1"/>
            </p:cNvSpPr>
            <p:nvPr/>
          </p:nvSpPr>
          <p:spPr bwMode="auto">
            <a:xfrm>
              <a:off x="1885652" y="2835395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5.64758</a:t>
              </a:r>
            </a:p>
          </p:txBody>
        </p:sp>
        <p:sp>
          <p:nvSpPr>
            <p:cNvPr id="1389578" name="Rectangle 10" descr="편지지"/>
            <p:cNvSpPr>
              <a:spLocks noChangeArrowheads="1"/>
            </p:cNvSpPr>
            <p:nvPr/>
          </p:nvSpPr>
          <p:spPr bwMode="auto">
            <a:xfrm>
              <a:off x="425152" y="2835395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표준편차</a:t>
              </a:r>
            </a:p>
          </p:txBody>
        </p:sp>
        <p:sp>
          <p:nvSpPr>
            <p:cNvPr id="1389581" name="AutoShape 13" descr="재생지"/>
            <p:cNvSpPr>
              <a:spLocks noChangeArrowheads="1"/>
            </p:cNvSpPr>
            <p:nvPr/>
          </p:nvSpPr>
          <p:spPr bwMode="auto">
            <a:xfrm>
              <a:off x="425152" y="5286340"/>
              <a:ext cx="1606550" cy="770164"/>
            </a:xfrm>
            <a:prstGeom prst="bevel">
              <a:avLst>
                <a:gd name="adj" fmla="val 1250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 err="1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양품률</a:t>
              </a:r>
              <a:r>
                <a:rPr lang="en-US" altLang="ko-KR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(</a:t>
              </a:r>
              <a:r>
                <a:rPr lang="ko-KR" altLang="en-US" sz="1200" b="1" dirty="0" err="1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합격율</a:t>
              </a:r>
              <a:r>
                <a:rPr lang="en-US" altLang="ko-KR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)</a:t>
              </a:r>
            </a:p>
          </p:txBody>
        </p:sp>
        <p:sp>
          <p:nvSpPr>
            <p:cNvPr id="1389582" name="AutoShape 14"/>
            <p:cNvSpPr>
              <a:spLocks noChangeArrowheads="1"/>
            </p:cNvSpPr>
            <p:nvPr/>
          </p:nvSpPr>
          <p:spPr bwMode="gray">
            <a:xfrm flipV="1">
              <a:off x="699790" y="3449674"/>
              <a:ext cx="3238500" cy="280902"/>
            </a:xfrm>
            <a:prstGeom prst="triangle">
              <a:avLst>
                <a:gd name="adj" fmla="val 50000"/>
              </a:avLst>
            </a:prstGeom>
            <a:solidFill>
              <a:srgbClr val="96969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outerShdw dist="28398" dir="3806097" algn="ctr" rotWithShape="0">
                <a:schemeClr val="tx1"/>
              </a:outerShdw>
            </a:effectLst>
          </p:spPr>
          <p:txBody>
            <a:bodyPr wrap="none" lIns="59304" tIns="29651" rIns="59304" bIns="29651" anchor="ctr"/>
            <a:lstStyle/>
            <a:p>
              <a:pPr algn="ctr" eaLnBrk="0" hangingPunct="0">
                <a:defRPr/>
              </a:pPr>
              <a:endParaRPr lang="ko-KR" altLang="en-US" sz="1600">
                <a:solidFill>
                  <a:srgbClr val="000000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389583" name="AutoShape 15" descr="편지지"/>
            <p:cNvSpPr>
              <a:spLocks noChangeArrowheads="1"/>
            </p:cNvSpPr>
            <p:nvPr/>
          </p:nvSpPr>
          <p:spPr bwMode="auto">
            <a:xfrm>
              <a:off x="425152" y="4384985"/>
              <a:ext cx="1617663" cy="838074"/>
            </a:xfrm>
            <a:prstGeom prst="bevel">
              <a:avLst>
                <a:gd name="adj" fmla="val 8333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공정능력분석</a:t>
              </a:r>
              <a:endParaRPr lang="ko-KR" altLang="ko-KR" sz="1200" b="1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endParaRPr>
            </a:p>
          </p:txBody>
        </p:sp>
        <p:sp>
          <p:nvSpPr>
            <p:cNvPr id="22548" name="Rectangle 2"/>
            <p:cNvSpPr>
              <a:spLocks noChangeArrowheads="1"/>
            </p:cNvSpPr>
            <p:nvPr/>
          </p:nvSpPr>
          <p:spPr bwMode="gray">
            <a:xfrm>
              <a:off x="279102" y="992556"/>
              <a:ext cx="4076700" cy="5168900"/>
            </a:xfrm>
            <a:prstGeom prst="rect">
              <a:avLst/>
            </a:prstGeom>
            <a:noFill/>
            <a:ln w="38100">
              <a:solidFill>
                <a:srgbClr val="424E5C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/>
            <a:lstStyle/>
            <a:p>
              <a:pPr algn="ctr" eaLnBrk="0" hangingPunct="0"/>
              <a:endParaRPr lang="ko-KR" alt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9" name="Text Box 20"/>
            <p:cNvSpPr txBox="1">
              <a:spLocks noChangeArrowheads="1"/>
            </p:cNvSpPr>
            <p:nvPr/>
          </p:nvSpPr>
          <p:spPr bwMode="gray">
            <a:xfrm>
              <a:off x="1020465" y="3960545"/>
              <a:ext cx="1311275" cy="2438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59304" tIns="29651" rIns="59304" bIns="29651"/>
            <a:lstStyle/>
            <a:p>
              <a:pPr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굴림" pitchFamily="50" charset="-127"/>
                </a:rPr>
                <a:t>단기데이터	</a:t>
              </a:r>
            </a:p>
          </p:txBody>
        </p:sp>
        <p:sp>
          <p:nvSpPr>
            <p:cNvPr id="30" name="Text Box 21"/>
            <p:cNvSpPr txBox="1">
              <a:spLocks noChangeArrowheads="1"/>
            </p:cNvSpPr>
            <p:nvPr/>
          </p:nvSpPr>
          <p:spPr bwMode="gray">
            <a:xfrm>
              <a:off x="2696865" y="3960545"/>
              <a:ext cx="1311275" cy="2438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59304" tIns="29651" rIns="59304" bIns="29651"/>
            <a:lstStyle/>
            <a:p>
              <a:pPr eaLnBrk="0" hangingPunct="0">
                <a:defRPr/>
              </a:pPr>
              <a:r>
                <a:rPr lang="ko-KR" altLang="en-US" sz="12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굴림" pitchFamily="50" charset="-127"/>
                </a:rPr>
                <a:t>장기데이터	</a:t>
              </a:r>
            </a:p>
          </p:txBody>
        </p:sp>
        <p:sp>
          <p:nvSpPr>
            <p:cNvPr id="22551" name="Rectangle 39"/>
            <p:cNvSpPr>
              <a:spLocks noChangeArrowheads="1"/>
            </p:cNvSpPr>
            <p:nvPr/>
          </p:nvSpPr>
          <p:spPr bwMode="gray">
            <a:xfrm>
              <a:off x="836315" y="399134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>
              <a:spAutoFit/>
            </a:bodyPr>
            <a:lstStyle/>
            <a:p>
              <a:pPr algn="ctr" eaLnBrk="0" hangingPunct="0"/>
              <a:endParaRPr lang="ko-KR" alt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552" name="Rectangle 40"/>
            <p:cNvSpPr>
              <a:spLocks noChangeArrowheads="1"/>
            </p:cNvSpPr>
            <p:nvPr/>
          </p:nvSpPr>
          <p:spPr bwMode="gray">
            <a:xfrm>
              <a:off x="2538115" y="3991343"/>
              <a:ext cx="165100" cy="165100"/>
            </a:xfrm>
            <a:prstGeom prst="rect">
              <a:avLst/>
            </a:prstGeom>
            <a:solidFill>
              <a:schemeClr val="accent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>
              <a:spAutoFit/>
            </a:bodyPr>
            <a:lstStyle/>
            <a:p>
              <a:pPr algn="ctr" eaLnBrk="0" hangingPunct="0"/>
              <a:endParaRPr lang="ko-KR" altLang="en-US" sz="160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1885652" y="1228698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</a:t>
              </a:r>
              <a:r>
                <a:rPr lang="ko-KR" altLang="en-US" sz="1200" b="1" dirty="0" err="1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차발사</a:t>
              </a:r>
              <a:endParaRPr lang="en-US" altLang="ko-KR" sz="1200" b="1" dirty="0">
                <a:solidFill>
                  <a:srgbClr val="000000"/>
                </a:solidFill>
                <a:latin typeface="Arial" charset="0"/>
                <a:ea typeface="굴림체" pitchFamily="49" charset="-127"/>
              </a:endParaRPr>
            </a:p>
          </p:txBody>
        </p:sp>
        <p:sp>
          <p:nvSpPr>
            <p:cNvPr id="22" name="Rectangle 6" descr="편지지"/>
            <p:cNvSpPr>
              <a:spLocks noChangeArrowheads="1"/>
            </p:cNvSpPr>
            <p:nvPr/>
          </p:nvSpPr>
          <p:spPr bwMode="auto">
            <a:xfrm>
              <a:off x="425152" y="1228698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측정 대상</a:t>
              </a: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4551363" y="993775"/>
            <a:ext cx="5081587" cy="34686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551363" y="4560888"/>
            <a:ext cx="5081587" cy="1747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분석결과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차 발사에서 평균값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272.303,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표준편차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5.64758,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공정능력분석 </a:t>
            </a:r>
            <a:r>
              <a:rPr lang="en-US" altLang="ko-KR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Cp 0.35 cpk0.19 pp0.3 </a:t>
            </a:r>
            <a:r>
              <a:rPr lang="en-US" altLang="ko-KR" sz="1200" dirty="0" err="1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ppk</a:t>
            </a:r>
            <a:r>
              <a:rPr lang="en-US" altLang="ko-KR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 0.16, </a:t>
            </a:r>
            <a:r>
              <a:rPr lang="ko-KR" altLang="en-US" sz="1200" dirty="0" err="1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합격율</a:t>
            </a:r>
            <a:r>
              <a:rPr lang="ko-KR" altLang="en-US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58.6</a:t>
            </a:r>
            <a:r>
              <a:rPr lang="ko-KR" altLang="en-US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이므로 개선이 필요하다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defRPr/>
            </a:pP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defRPr/>
            </a:pP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개선목표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31825" y="221409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3.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현 수준 분석 </a:t>
            </a:r>
            <a:r>
              <a:rPr kumimoji="0" lang="en-US" altLang="ko-KR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; </a:t>
            </a:r>
            <a:r>
              <a:rPr kumimoji="0" lang="ko-KR" altLang="en-US" sz="1600" b="1" dirty="0" err="1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연속형</a:t>
            </a:r>
            <a:r>
              <a:rPr kumimoji="0" lang="ko-KR" altLang="en-US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 </a:t>
            </a:r>
            <a:r>
              <a:rPr kumimoji="0" lang="en-US" altLang="ko-KR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CTQ</a:t>
            </a:r>
            <a:r>
              <a:rPr kumimoji="0" lang="ko-KR" altLang="en-US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에 대한 시그마 수준 분석</a:t>
            </a: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gray">
          <a:xfrm>
            <a:off x="2081213" y="4481513"/>
            <a:ext cx="2133600" cy="862012"/>
          </a:xfrm>
          <a:prstGeom prst="rect">
            <a:avLst/>
          </a:prstGeom>
          <a:solidFill>
            <a:schemeClr val="bg1"/>
          </a:solidFill>
          <a:ln w="12700">
            <a:solidFill>
              <a:srgbClr val="969696"/>
            </a:solidFill>
            <a:miter lim="800000"/>
            <a:headEnd/>
            <a:tailEnd/>
          </a:ln>
          <a:effectLst>
            <a:outerShdw dist="35921" dir="2700000" algn="ctr" rotWithShape="0">
              <a:srgbClr val="5F5F5F"/>
            </a:outerShdw>
          </a:effectLst>
        </p:spPr>
        <p:txBody>
          <a:bodyPr lIns="59304" tIns="29651" rIns="309600" bIns="29651" anchor="ctr"/>
          <a:lstStyle/>
          <a:p>
            <a:pPr algn="r" eaLnBrk="0" hangingPunct="0">
              <a:lnSpc>
                <a:spcPct val="110000"/>
              </a:lnSpc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Cp 0.35 cpk0.19 pp0.3 </a:t>
            </a:r>
            <a:r>
              <a:rPr lang="en-US" altLang="ko-KR" sz="1200" b="1" dirty="0" err="1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ppk</a:t>
            </a:r>
            <a:r>
              <a:rPr lang="en-US" altLang="ko-KR" sz="1200" b="1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 0.16               </a:t>
            </a:r>
            <a:r>
              <a:rPr lang="ko-KR" altLang="ko-KR" sz="1200" dirty="0">
                <a:solidFill>
                  <a:srgbClr val="000000"/>
                </a:solidFill>
                <a:latin typeface="Arial" charset="0"/>
                <a:ea typeface="돋움" pitchFamily="50" charset="-127"/>
                <a:sym typeface="Symbol" pitchFamily="18" charset="2"/>
              </a:rPr>
              <a:t></a:t>
            </a:r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2081213" y="5408613"/>
            <a:ext cx="2133600" cy="792162"/>
          </a:xfrm>
          <a:prstGeom prst="rect">
            <a:avLst/>
          </a:prstGeom>
          <a:solidFill>
            <a:schemeClr val="bg1"/>
          </a:solidFill>
          <a:ln w="12700">
            <a:solidFill>
              <a:srgbClr val="969696"/>
            </a:solidFill>
            <a:miter lim="800000"/>
            <a:headEnd/>
            <a:tailEnd/>
          </a:ln>
          <a:effectLst>
            <a:outerShdw dist="28398" dir="1593903" algn="ctr" rotWithShape="0">
              <a:srgbClr val="666633"/>
            </a:outerShdw>
          </a:effectLst>
        </p:spPr>
        <p:txBody>
          <a:bodyPr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charset="0"/>
                <a:ea typeface="굴림체" pitchFamily="49" charset="-127"/>
              </a:rPr>
              <a:t>                   58.6             %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81F962-CF38-438B-9E07-B659E91E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455" y="1032434"/>
            <a:ext cx="3773932" cy="3263341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1825" y="223838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5.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잠재 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X`s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인자 발굴 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(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특성요인도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)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93750" y="1647825"/>
            <a:ext cx="1584325" cy="42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ko-KR" altLang="en-US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125788" y="1604963"/>
            <a:ext cx="1585912" cy="465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ko-KR" altLang="en-US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52438" y="5168900"/>
            <a:ext cx="1371600" cy="42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altLang="ko-KR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2428875" y="5168900"/>
            <a:ext cx="1374775" cy="42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ko-KR" altLang="en-US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411663" y="5168900"/>
            <a:ext cx="1374775" cy="42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ko-KR" altLang="en-US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8108950" y="3362325"/>
            <a:ext cx="1344613" cy="487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ko-KR" altLang="en-US" sz="1100" b="1" dirty="0">
                <a:solidFill>
                  <a:srgbClr val="000000"/>
                </a:solidFill>
                <a:latin typeface="Arial" charset="0"/>
              </a:rPr>
              <a:t>발사거리</a:t>
            </a:r>
            <a:endParaRPr lang="en-US" altLang="ko-KR" sz="11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1784350" y="2070100"/>
            <a:ext cx="1385888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4019550" y="2070100"/>
            <a:ext cx="1382713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V="1">
            <a:off x="1133475" y="3619500"/>
            <a:ext cx="1482725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Line 13"/>
          <p:cNvSpPr>
            <a:spLocks noChangeShapeType="1"/>
          </p:cNvSpPr>
          <p:nvPr/>
        </p:nvSpPr>
        <p:spPr bwMode="auto">
          <a:xfrm flipV="1">
            <a:off x="3209925" y="3619500"/>
            <a:ext cx="1489075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 flipV="1">
            <a:off x="5192713" y="3619500"/>
            <a:ext cx="1484312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>
            <a:off x="2378075" y="2705100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flipV="1">
            <a:off x="2873375" y="2493963"/>
            <a:ext cx="296863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" name="Line 17"/>
          <p:cNvSpPr>
            <a:spLocks noChangeShapeType="1"/>
          </p:cNvSpPr>
          <p:nvPr/>
        </p:nvSpPr>
        <p:spPr bwMode="auto">
          <a:xfrm>
            <a:off x="3170238" y="2705100"/>
            <a:ext cx="296862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Line 18"/>
          <p:cNvSpPr>
            <a:spLocks noChangeShapeType="1"/>
          </p:cNvSpPr>
          <p:nvPr/>
        </p:nvSpPr>
        <p:spPr bwMode="auto">
          <a:xfrm>
            <a:off x="2674938" y="2705100"/>
            <a:ext cx="296862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5" name="Line 19"/>
          <p:cNvSpPr>
            <a:spLocks noChangeShapeType="1"/>
          </p:cNvSpPr>
          <p:nvPr/>
        </p:nvSpPr>
        <p:spPr bwMode="auto">
          <a:xfrm>
            <a:off x="4411663" y="2479675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" name="Line 20"/>
          <p:cNvSpPr>
            <a:spLocks noChangeShapeType="1"/>
          </p:cNvSpPr>
          <p:nvPr/>
        </p:nvSpPr>
        <p:spPr bwMode="auto">
          <a:xfrm flipV="1">
            <a:off x="4906963" y="2268538"/>
            <a:ext cx="298450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" name="Line 21"/>
          <p:cNvSpPr>
            <a:spLocks noChangeShapeType="1"/>
          </p:cNvSpPr>
          <p:nvPr/>
        </p:nvSpPr>
        <p:spPr bwMode="auto">
          <a:xfrm>
            <a:off x="4816475" y="2901950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22"/>
          <p:cNvSpPr>
            <a:spLocks noChangeShapeType="1"/>
          </p:cNvSpPr>
          <p:nvPr/>
        </p:nvSpPr>
        <p:spPr bwMode="auto">
          <a:xfrm flipV="1">
            <a:off x="5113338" y="2690813"/>
            <a:ext cx="298450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39" name="Line 23"/>
          <p:cNvSpPr>
            <a:spLocks noChangeShapeType="1"/>
          </p:cNvSpPr>
          <p:nvPr/>
        </p:nvSpPr>
        <p:spPr bwMode="auto">
          <a:xfrm flipV="1">
            <a:off x="5707063" y="2690813"/>
            <a:ext cx="296862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Line 24"/>
          <p:cNvSpPr>
            <a:spLocks noChangeShapeType="1"/>
          </p:cNvSpPr>
          <p:nvPr/>
        </p:nvSpPr>
        <p:spPr bwMode="auto">
          <a:xfrm>
            <a:off x="5373688" y="2890838"/>
            <a:ext cx="42545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" name="Line 25"/>
          <p:cNvSpPr>
            <a:spLocks noChangeShapeType="1"/>
          </p:cNvSpPr>
          <p:nvPr/>
        </p:nvSpPr>
        <p:spPr bwMode="auto">
          <a:xfrm>
            <a:off x="5599113" y="3055938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" name="Line 26"/>
          <p:cNvSpPr>
            <a:spLocks noChangeShapeType="1"/>
          </p:cNvSpPr>
          <p:nvPr/>
        </p:nvSpPr>
        <p:spPr bwMode="auto">
          <a:xfrm>
            <a:off x="4264025" y="2774950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3" name="Line 27"/>
          <p:cNvSpPr>
            <a:spLocks noChangeShapeType="1"/>
          </p:cNvSpPr>
          <p:nvPr/>
        </p:nvSpPr>
        <p:spPr bwMode="auto">
          <a:xfrm>
            <a:off x="1684338" y="2986088"/>
            <a:ext cx="892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>
            <a:off x="1982788" y="2774950"/>
            <a:ext cx="295275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5" name="Line 29"/>
          <p:cNvSpPr>
            <a:spLocks noChangeShapeType="1"/>
          </p:cNvSpPr>
          <p:nvPr/>
        </p:nvSpPr>
        <p:spPr bwMode="auto">
          <a:xfrm flipV="1">
            <a:off x="1844675" y="2968625"/>
            <a:ext cx="29845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>
            <a:off x="1090613" y="3959225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7" name="Line 31"/>
          <p:cNvSpPr>
            <a:spLocks noChangeShapeType="1"/>
          </p:cNvSpPr>
          <p:nvPr/>
        </p:nvSpPr>
        <p:spPr bwMode="auto">
          <a:xfrm flipH="1" flipV="1">
            <a:off x="1727200" y="3733800"/>
            <a:ext cx="339725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8" name="Line 32"/>
          <p:cNvSpPr>
            <a:spLocks noChangeShapeType="1"/>
          </p:cNvSpPr>
          <p:nvPr/>
        </p:nvSpPr>
        <p:spPr bwMode="auto">
          <a:xfrm flipH="1">
            <a:off x="1628775" y="3959225"/>
            <a:ext cx="25400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0" name="Line 33"/>
          <p:cNvSpPr>
            <a:spLocks noChangeShapeType="1"/>
          </p:cNvSpPr>
          <p:nvPr/>
        </p:nvSpPr>
        <p:spPr bwMode="auto">
          <a:xfrm flipH="1" flipV="1">
            <a:off x="1289050" y="3733800"/>
            <a:ext cx="339725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" name="Line 35"/>
          <p:cNvSpPr>
            <a:spLocks noChangeShapeType="1"/>
          </p:cNvSpPr>
          <p:nvPr/>
        </p:nvSpPr>
        <p:spPr bwMode="auto">
          <a:xfrm flipH="1" flipV="1">
            <a:off x="1008063" y="4471988"/>
            <a:ext cx="338137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2" name="Line 36"/>
          <p:cNvSpPr>
            <a:spLocks noChangeShapeType="1"/>
          </p:cNvSpPr>
          <p:nvPr/>
        </p:nvSpPr>
        <p:spPr bwMode="auto">
          <a:xfrm flipH="1">
            <a:off x="911225" y="4695825"/>
            <a:ext cx="255588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3" name="Line 37"/>
          <p:cNvSpPr>
            <a:spLocks noChangeShapeType="1"/>
          </p:cNvSpPr>
          <p:nvPr/>
        </p:nvSpPr>
        <p:spPr bwMode="auto">
          <a:xfrm>
            <a:off x="785813" y="4562475"/>
            <a:ext cx="298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4" name="Line 38"/>
          <p:cNvSpPr>
            <a:spLocks noChangeShapeType="1"/>
          </p:cNvSpPr>
          <p:nvPr/>
        </p:nvSpPr>
        <p:spPr bwMode="auto">
          <a:xfrm>
            <a:off x="2646363" y="4533900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5" name="Line 39"/>
          <p:cNvSpPr>
            <a:spLocks noChangeShapeType="1"/>
          </p:cNvSpPr>
          <p:nvPr/>
        </p:nvSpPr>
        <p:spPr bwMode="auto">
          <a:xfrm flipH="1" flipV="1">
            <a:off x="3001963" y="4324350"/>
            <a:ext cx="338137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6" name="Line 40"/>
          <p:cNvSpPr>
            <a:spLocks noChangeShapeType="1"/>
          </p:cNvSpPr>
          <p:nvPr/>
        </p:nvSpPr>
        <p:spPr bwMode="auto">
          <a:xfrm flipH="1">
            <a:off x="2844800" y="4533900"/>
            <a:ext cx="255588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7" name="Line 41"/>
          <p:cNvSpPr>
            <a:spLocks noChangeShapeType="1"/>
          </p:cNvSpPr>
          <p:nvPr/>
        </p:nvSpPr>
        <p:spPr bwMode="auto">
          <a:xfrm>
            <a:off x="4260850" y="4098925"/>
            <a:ext cx="831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8" name="Line 42"/>
          <p:cNvSpPr>
            <a:spLocks noChangeShapeType="1"/>
          </p:cNvSpPr>
          <p:nvPr/>
        </p:nvSpPr>
        <p:spPr bwMode="auto">
          <a:xfrm flipV="1">
            <a:off x="4754563" y="3887788"/>
            <a:ext cx="295275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 flipV="1">
            <a:off x="4699000" y="4113213"/>
            <a:ext cx="0" cy="2111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0" name="Line 44"/>
          <p:cNvSpPr>
            <a:spLocks noChangeShapeType="1"/>
          </p:cNvSpPr>
          <p:nvPr/>
        </p:nvSpPr>
        <p:spPr bwMode="auto">
          <a:xfrm>
            <a:off x="4500563" y="4886325"/>
            <a:ext cx="987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8" name="Line 45"/>
          <p:cNvSpPr>
            <a:spLocks noChangeShapeType="1"/>
          </p:cNvSpPr>
          <p:nvPr/>
        </p:nvSpPr>
        <p:spPr bwMode="auto">
          <a:xfrm flipH="1" flipV="1">
            <a:off x="4794250" y="4746625"/>
            <a:ext cx="14128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9" name="Line 46"/>
          <p:cNvSpPr>
            <a:spLocks noChangeShapeType="1"/>
          </p:cNvSpPr>
          <p:nvPr/>
        </p:nvSpPr>
        <p:spPr bwMode="auto">
          <a:xfrm>
            <a:off x="5932488" y="4425950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0" name="Line 47"/>
          <p:cNvSpPr>
            <a:spLocks noChangeShapeType="1"/>
          </p:cNvSpPr>
          <p:nvPr/>
        </p:nvSpPr>
        <p:spPr bwMode="auto">
          <a:xfrm flipV="1">
            <a:off x="6230938" y="4214813"/>
            <a:ext cx="295275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" name="Line 48"/>
          <p:cNvSpPr>
            <a:spLocks noChangeShapeType="1"/>
          </p:cNvSpPr>
          <p:nvPr/>
        </p:nvSpPr>
        <p:spPr bwMode="auto">
          <a:xfrm flipV="1">
            <a:off x="6824663" y="4214813"/>
            <a:ext cx="295275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2" name="Line 49"/>
          <p:cNvSpPr>
            <a:spLocks noChangeShapeType="1"/>
          </p:cNvSpPr>
          <p:nvPr/>
        </p:nvSpPr>
        <p:spPr bwMode="auto">
          <a:xfrm>
            <a:off x="6491288" y="4413250"/>
            <a:ext cx="423862" cy="306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3" name="Line 50"/>
          <p:cNvSpPr>
            <a:spLocks noChangeShapeType="1"/>
          </p:cNvSpPr>
          <p:nvPr/>
        </p:nvSpPr>
        <p:spPr bwMode="auto">
          <a:xfrm>
            <a:off x="6280150" y="4579938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74" name="직선 화살표 연결선 49"/>
          <p:cNvCxnSpPr>
            <a:cxnSpLocks noChangeShapeType="1"/>
          </p:cNvCxnSpPr>
          <p:nvPr/>
        </p:nvCxnSpPr>
        <p:spPr bwMode="auto">
          <a:xfrm>
            <a:off x="2252663" y="3606800"/>
            <a:ext cx="5830887" cy="1588"/>
          </a:xfrm>
          <a:prstGeom prst="straightConnector1">
            <a:avLst/>
          </a:prstGeom>
          <a:noFill/>
          <a:ln w="222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5557838" y="1592263"/>
            <a:ext cx="1584325" cy="465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ko-KR" altLang="en-US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>
            <a:off x="6450013" y="2057400"/>
            <a:ext cx="1384300" cy="154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7" name="Line 19"/>
          <p:cNvSpPr>
            <a:spLocks noChangeShapeType="1"/>
          </p:cNvSpPr>
          <p:nvPr/>
        </p:nvSpPr>
        <p:spPr bwMode="auto">
          <a:xfrm>
            <a:off x="6843713" y="2466975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8" name="Line 20"/>
          <p:cNvSpPr>
            <a:spLocks noChangeShapeType="1"/>
          </p:cNvSpPr>
          <p:nvPr/>
        </p:nvSpPr>
        <p:spPr bwMode="auto">
          <a:xfrm flipV="1">
            <a:off x="7339013" y="2255838"/>
            <a:ext cx="296862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9" name="Line 21"/>
          <p:cNvSpPr>
            <a:spLocks noChangeShapeType="1"/>
          </p:cNvSpPr>
          <p:nvPr/>
        </p:nvSpPr>
        <p:spPr bwMode="auto">
          <a:xfrm>
            <a:off x="7248525" y="2889250"/>
            <a:ext cx="1187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0" name="Line 22"/>
          <p:cNvSpPr>
            <a:spLocks noChangeShapeType="1"/>
          </p:cNvSpPr>
          <p:nvPr/>
        </p:nvSpPr>
        <p:spPr bwMode="auto">
          <a:xfrm flipV="1">
            <a:off x="7543800" y="2678113"/>
            <a:ext cx="300038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1" name="Line 23"/>
          <p:cNvSpPr>
            <a:spLocks noChangeShapeType="1"/>
          </p:cNvSpPr>
          <p:nvPr/>
        </p:nvSpPr>
        <p:spPr bwMode="auto">
          <a:xfrm flipV="1">
            <a:off x="8137525" y="2678113"/>
            <a:ext cx="298450" cy="211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2" name="Line 24"/>
          <p:cNvSpPr>
            <a:spLocks noChangeShapeType="1"/>
          </p:cNvSpPr>
          <p:nvPr/>
        </p:nvSpPr>
        <p:spPr bwMode="auto">
          <a:xfrm>
            <a:off x="7804150" y="2878138"/>
            <a:ext cx="42545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3" name="Line 25"/>
          <p:cNvSpPr>
            <a:spLocks noChangeShapeType="1"/>
          </p:cNvSpPr>
          <p:nvPr/>
        </p:nvSpPr>
        <p:spPr bwMode="auto">
          <a:xfrm>
            <a:off x="8031163" y="3043238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4" name="Line 26"/>
          <p:cNvSpPr>
            <a:spLocks noChangeShapeType="1"/>
          </p:cNvSpPr>
          <p:nvPr/>
        </p:nvSpPr>
        <p:spPr bwMode="auto">
          <a:xfrm>
            <a:off x="6696075" y="2762250"/>
            <a:ext cx="395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85" name="직선 화살표 연결선 60"/>
          <p:cNvCxnSpPr>
            <a:cxnSpLocks noChangeShapeType="1"/>
          </p:cNvCxnSpPr>
          <p:nvPr/>
        </p:nvCxnSpPr>
        <p:spPr bwMode="auto">
          <a:xfrm>
            <a:off x="752475" y="4702175"/>
            <a:ext cx="809625" cy="1588"/>
          </a:xfrm>
          <a:prstGeom prst="straightConnector1">
            <a:avLst/>
          </a:prstGeom>
          <a:noFill/>
          <a:ln w="19050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1BEA97-8783-4F7B-9C93-CE168926AC7D}"/>
              </a:ext>
            </a:extLst>
          </p:cNvPr>
          <p:cNvSpPr txBox="1"/>
          <p:nvPr/>
        </p:nvSpPr>
        <p:spPr>
          <a:xfrm>
            <a:off x="1305609" y="16761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사람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11185B-322C-416C-BF26-50C558D40C8B}"/>
              </a:ext>
            </a:extLst>
          </p:cNvPr>
          <p:cNvSpPr txBox="1"/>
          <p:nvPr/>
        </p:nvSpPr>
        <p:spPr>
          <a:xfrm>
            <a:off x="3631296" y="16303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1BA2CD-77FF-4958-BE36-986E1AA1FCDF}"/>
              </a:ext>
            </a:extLst>
          </p:cNvPr>
          <p:cNvSpPr txBox="1"/>
          <p:nvPr/>
        </p:nvSpPr>
        <p:spPr>
          <a:xfrm>
            <a:off x="6030694" y="16303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재료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79AD7E-B34C-4673-9DC2-C8A1BFDF69C7}"/>
              </a:ext>
            </a:extLst>
          </p:cNvPr>
          <p:cNvSpPr txBox="1"/>
          <p:nvPr/>
        </p:nvSpPr>
        <p:spPr>
          <a:xfrm>
            <a:off x="4816475" y="51773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환경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92834F-177E-434B-8EEA-F7622CAB47A3}"/>
              </a:ext>
            </a:extLst>
          </p:cNvPr>
          <p:cNvSpPr txBox="1"/>
          <p:nvPr/>
        </p:nvSpPr>
        <p:spPr>
          <a:xfrm>
            <a:off x="2777222" y="51773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측정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26AEDD-B519-4149-8F2C-03653E8ACEDD}"/>
              </a:ext>
            </a:extLst>
          </p:cNvPr>
          <p:cNvSpPr txBox="1"/>
          <p:nvPr/>
        </p:nvSpPr>
        <p:spPr>
          <a:xfrm>
            <a:off x="993427" y="27159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경험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E53BEF9-2F92-4BF5-8558-52A7941AD90F}"/>
              </a:ext>
            </a:extLst>
          </p:cNvPr>
          <p:cNvSpPr txBox="1"/>
          <p:nvPr/>
        </p:nvSpPr>
        <p:spPr>
          <a:xfrm>
            <a:off x="3333475" y="22908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교육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79683CB-4211-43DF-8F4B-7730CABC0841}"/>
              </a:ext>
            </a:extLst>
          </p:cNvPr>
          <p:cNvSpPr txBox="1"/>
          <p:nvPr/>
        </p:nvSpPr>
        <p:spPr>
          <a:xfrm>
            <a:off x="3305670" y="28247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숙련도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9320883-4F56-4CFD-A59C-FB0F4CC83B76}"/>
              </a:ext>
            </a:extLst>
          </p:cNvPr>
          <p:cNvSpPr txBox="1"/>
          <p:nvPr/>
        </p:nvSpPr>
        <p:spPr>
          <a:xfrm>
            <a:off x="5760858" y="22264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노트북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1AEBD4-FF74-4BF0-A3A6-DE10D3EC8EB6}"/>
              </a:ext>
            </a:extLst>
          </p:cNvPr>
          <p:cNvSpPr txBox="1"/>
          <p:nvPr/>
        </p:nvSpPr>
        <p:spPr>
          <a:xfrm>
            <a:off x="4786818" y="21141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성능</a:t>
            </a:r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D2367D7-00F8-4183-8515-3D3F8EF2E910}"/>
              </a:ext>
            </a:extLst>
          </p:cNvPr>
          <p:cNvSpPr txBox="1"/>
          <p:nvPr/>
        </p:nvSpPr>
        <p:spPr>
          <a:xfrm>
            <a:off x="5879882" y="29535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키보드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4F9B96-CB23-4427-8478-7A6F92043990}"/>
              </a:ext>
            </a:extLst>
          </p:cNvPr>
          <p:cNvSpPr txBox="1"/>
          <p:nvPr/>
        </p:nvSpPr>
        <p:spPr>
          <a:xfrm>
            <a:off x="7634070" y="19627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몸무게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FE0201-A433-401A-896B-777D7C370406}"/>
              </a:ext>
            </a:extLst>
          </p:cNvPr>
          <p:cNvSpPr txBox="1"/>
          <p:nvPr/>
        </p:nvSpPr>
        <p:spPr>
          <a:xfrm>
            <a:off x="8435975" y="24357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힘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E0DD2D2-0408-4C4C-9582-C4EB52C5EC3A}"/>
              </a:ext>
            </a:extLst>
          </p:cNvPr>
          <p:cNvSpPr txBox="1"/>
          <p:nvPr/>
        </p:nvSpPr>
        <p:spPr>
          <a:xfrm>
            <a:off x="347096" y="424128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발사 키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2AF50C-EB72-4FA4-AD7F-8929B9BA942A}"/>
              </a:ext>
            </a:extLst>
          </p:cNvPr>
          <p:cNvSpPr txBox="1"/>
          <p:nvPr/>
        </p:nvSpPr>
        <p:spPr>
          <a:xfrm>
            <a:off x="755541" y="51688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방법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03B1ABF-3921-447C-AD25-AA00D330F790}"/>
              </a:ext>
            </a:extLst>
          </p:cNvPr>
          <p:cNvSpPr txBox="1"/>
          <p:nvPr/>
        </p:nvSpPr>
        <p:spPr>
          <a:xfrm>
            <a:off x="872809" y="34250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감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FF1B3D-A86A-4507-97BF-1C95597D7012}"/>
              </a:ext>
            </a:extLst>
          </p:cNvPr>
          <p:cNvSpPr txBox="1"/>
          <p:nvPr/>
        </p:nvSpPr>
        <p:spPr>
          <a:xfrm>
            <a:off x="2767025" y="39753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소수점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2A97991-0B3F-420C-A869-AE2D9B9A621C}"/>
              </a:ext>
            </a:extLst>
          </p:cNvPr>
          <p:cNvSpPr txBox="1"/>
          <p:nvPr/>
        </p:nvSpPr>
        <p:spPr>
          <a:xfrm>
            <a:off x="6523818" y="47014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타인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B70FB13-D839-428A-968B-CF15F2ECF563}"/>
              </a:ext>
            </a:extLst>
          </p:cNvPr>
          <p:cNvSpPr txBox="1"/>
          <p:nvPr/>
        </p:nvSpPr>
        <p:spPr>
          <a:xfrm>
            <a:off x="6602194" y="3842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날씨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08742E2-A6F5-457A-AB6A-8241B9C4FBB9}"/>
              </a:ext>
            </a:extLst>
          </p:cNvPr>
          <p:cNvSpPr txBox="1"/>
          <p:nvPr/>
        </p:nvSpPr>
        <p:spPr>
          <a:xfrm>
            <a:off x="4694128" y="45562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기분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27B091E-9DF6-4FA2-A8B6-2511E32E4638}"/>
              </a:ext>
            </a:extLst>
          </p:cNvPr>
          <p:cNvSpPr txBox="1"/>
          <p:nvPr/>
        </p:nvSpPr>
        <p:spPr>
          <a:xfrm>
            <a:off x="4849532" y="36765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단위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136650" y="1092200"/>
            <a:ext cx="7632700" cy="1152000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hlink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분석</a:t>
            </a:r>
            <a:r>
              <a:rPr lang="en-US" altLang="ko-KR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(Analyze) </a:t>
            </a: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단계</a:t>
            </a:r>
            <a:endParaRPr lang="ko-KR" altLang="ko-KR" sz="4000" dirty="0">
              <a:solidFill>
                <a:schemeClr val="bg1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52438" y="2687645"/>
          <a:ext cx="9001124" cy="3455999"/>
        </p:xfrm>
        <a:graphic>
          <a:graphicData uri="http://schemas.openxmlformats.org/drawingml/2006/table">
            <a:tbl>
              <a:tblPr/>
              <a:tblGrid>
                <a:gridCol w="808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197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활동정의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프로젝트 수행 내용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686">
                <a:tc rowSpan="3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Analyze</a:t>
                      </a:r>
                    </a:p>
                  </a:txBody>
                  <a:tcPr marL="0" marR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6 -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원인도출</a:t>
                      </a:r>
                    </a:p>
                  </a:txBody>
                  <a:tcPr marL="381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영향을 줄 것이라고 예상되는 잠재 원인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(X’s)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발굴하고 우선순위화 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상세 프로세스 확인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모든 잠재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X`s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발굴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잠재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X`s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인자 우선 순위화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2430">
                <a:tc vMerge="1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7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원인변수 검증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Vital Few X’s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확인하기 위하여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Data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Data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수집 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그래프 분석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통계분석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가설검정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6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8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핵심인자 선정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Data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 결과를 토대로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Vital Few X’s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Vital Few X’s 목록 작성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위험검토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우선순위화 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1825" y="216470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데이터 수집 및 분석계획</a:t>
            </a:r>
          </a:p>
        </p:txBody>
      </p:sp>
      <p:sp>
        <p:nvSpPr>
          <p:cNvPr id="4" name="직사각형 3"/>
          <p:cNvSpPr/>
          <p:nvPr/>
        </p:nvSpPr>
        <p:spPr bwMode="auto">
          <a:xfrm>
            <a:off x="631825" y="944563"/>
            <a:ext cx="9001125" cy="21431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59304" tIns="29651" rIns="59304" bIns="29651" anchor="ctr">
            <a:spAutoFit/>
          </a:bodyPr>
          <a:lstStyle/>
          <a:p>
            <a:pPr eaLnBrk="0" hangingPunct="0">
              <a:defRPr/>
            </a:pP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Measure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단계에서 발굴된 잠재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X`s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인자에 대한 분석을 위한 데이터 수집계획 및 분석계획을 작성하시오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34527"/>
              </p:ext>
            </p:extLst>
          </p:nvPr>
        </p:nvGraphicFramePr>
        <p:xfrm>
          <a:off x="631827" y="1268761"/>
          <a:ext cx="8787061" cy="5004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6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Project-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잠재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X`s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인자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수집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분석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유형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분석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분석기법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73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따른 발사거리의 평균차이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2sample 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따른 발사거리의 분산차이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비정규검정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돌무게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정규성 여부확인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정규성검정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731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각도에 따른 발사거리 평균차이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way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anova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각도에 따른 발사거리의 분산차이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각도별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발사거리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정규성 여부확인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정규성검정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731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7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1825" y="223838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2.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데이터 분석결과 </a:t>
            </a:r>
            <a:r>
              <a:rPr kumimoji="0" lang="en-US" altLang="ko-KR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; </a:t>
            </a:r>
            <a:r>
              <a:rPr kumimoji="0" lang="ko-KR" altLang="en-US" sz="1600" b="1" dirty="0" err="1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정규성검정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38" name="Rectangle 2"/>
          <p:cNvSpPr>
            <a:spLocks noChangeArrowheads="1"/>
          </p:cNvSpPr>
          <p:nvPr/>
        </p:nvSpPr>
        <p:spPr bwMode="gray">
          <a:xfrm>
            <a:off x="665163" y="1027131"/>
            <a:ext cx="4076700" cy="2835275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44525" y="1057294"/>
            <a:ext cx="4081463" cy="2776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정규성 테스트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집단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</a:t>
            </a:r>
          </a:p>
          <a:p>
            <a:pPr algn="ctr" eaLnBrk="0" latinLnBrk="0" hangingPunct="0">
              <a:defRPr/>
            </a:pP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통계분석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기초통계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정규성검정</a:t>
            </a:r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gray">
          <a:xfrm>
            <a:off x="685800" y="5202256"/>
            <a:ext cx="4076700" cy="86995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38158" y="5143512"/>
            <a:ext cx="3455988" cy="86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분석결과 요약 및 해석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0" latinLnBrk="0" hangingPunct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0.117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이므로 정규분포가 아니다</a:t>
            </a:r>
          </a:p>
        </p:txBody>
      </p:sp>
      <p:sp>
        <p:nvSpPr>
          <p:cNvPr id="56" name="Rectangle 2"/>
          <p:cNvSpPr>
            <a:spLocks noChangeArrowheads="1"/>
          </p:cNvSpPr>
          <p:nvPr/>
        </p:nvSpPr>
        <p:spPr bwMode="gray">
          <a:xfrm>
            <a:off x="5176838" y="1019194"/>
            <a:ext cx="4076700" cy="28321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207000" y="1019194"/>
            <a:ext cx="4014788" cy="280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정규성 테스트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집단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</a:t>
            </a:r>
          </a:p>
          <a:p>
            <a:pPr algn="ctr" eaLnBrk="0" latinLnBrk="0" hangingPunct="0">
              <a:defRPr/>
            </a:pP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</a:rPr>
              <a:t>미니탭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</a:rPr>
              <a:t>–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</a:rPr>
              <a:t>통계분석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</a:rPr>
              <a:t>-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</a:rPr>
              <a:t>기초통계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</a:rPr>
              <a:t>-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</a:rPr>
              <a:t>정규성검정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Rectangle 2"/>
          <p:cNvSpPr>
            <a:spLocks noChangeArrowheads="1"/>
          </p:cNvSpPr>
          <p:nvPr/>
        </p:nvSpPr>
        <p:spPr bwMode="gray">
          <a:xfrm>
            <a:off x="5181600" y="5202256"/>
            <a:ext cx="4076700" cy="86995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238752" y="5143512"/>
            <a:ext cx="3455988" cy="86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분석결과 요약 및 해석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0" latinLnBrk="0" hangingPunct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0.789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이므로 정규분포가 아니다</a:t>
            </a: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652954"/>
              </p:ext>
            </p:extLst>
          </p:nvPr>
        </p:nvGraphicFramePr>
        <p:xfrm>
          <a:off x="685800" y="4049731"/>
          <a:ext cx="4040188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8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가설수립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itchFamily="50" charset="-127"/>
                          <a:ea typeface="맑은 고딕" pitchFamily="50" charset="-127"/>
                        </a:rPr>
                        <a:t>귀무가설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정규분포와 같다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itchFamily="50" charset="-127"/>
                          <a:ea typeface="맑은 고딕" pitchFamily="50" charset="-127"/>
                        </a:rPr>
                        <a:t>대립가설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정규분포와 다르다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15934"/>
              </p:ext>
            </p:extLst>
          </p:nvPr>
        </p:nvGraphicFramePr>
        <p:xfrm>
          <a:off x="5176838" y="4049731"/>
          <a:ext cx="4040188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8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가설수립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itchFamily="50" charset="-127"/>
                          <a:ea typeface="맑은 고딕" pitchFamily="50" charset="-127"/>
                        </a:rPr>
                        <a:t>귀무가설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정규분포와 같다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itchFamily="50" charset="-127"/>
                          <a:ea typeface="맑은 고딕" pitchFamily="50" charset="-127"/>
                        </a:rPr>
                        <a:t>대립가설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정규분포와 다르다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A7F8A4CB-813E-404F-B938-156E97B50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08" y="1082082"/>
            <a:ext cx="3278738" cy="26607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7094F5-A890-45D0-B512-82A4AA8C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279" y="1067990"/>
            <a:ext cx="3731747" cy="252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64553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1825" y="223838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2.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데이터 분석결과 </a:t>
            </a:r>
            <a:r>
              <a:rPr kumimoji="0" lang="en-US" altLang="ko-KR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; </a:t>
            </a:r>
            <a:r>
              <a:rPr kumimoji="0" lang="ko-KR" altLang="en-US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등분산검정 및 평균검정</a:t>
            </a:r>
            <a:r>
              <a:rPr kumimoji="0" lang="en-US" altLang="ko-KR" sz="16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(T-test)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F15851-7732-4667-ADD0-C70FB5CCDC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5163" y="1027131"/>
            <a:ext cx="4076700" cy="2835275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C84F6F-0586-4AB3-A8B5-C7DB088A704D}"/>
              </a:ext>
            </a:extLst>
          </p:cNvPr>
          <p:cNvSpPr/>
          <p:nvPr/>
        </p:nvSpPr>
        <p:spPr>
          <a:xfrm>
            <a:off x="644525" y="1057294"/>
            <a:ext cx="4081463" cy="2776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등분산검정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(F-test or </a:t>
            </a:r>
            <a:r>
              <a:rPr lang="en-US" altLang="ko-KR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levene’s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test)</a:t>
            </a:r>
          </a:p>
          <a:p>
            <a:pPr algn="ctr" eaLnBrk="0" latinLnBrk="0" hangingPunct="0">
              <a:defRPr/>
            </a:pP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통계분석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기초통계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두표본분산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C9EBA60-F6B0-4D7F-8492-359508C4F3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5800" y="5202256"/>
            <a:ext cx="4076700" cy="86995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C4FC95-36EC-4133-B576-B600972DDDB3}"/>
              </a:ext>
            </a:extLst>
          </p:cNvPr>
          <p:cNvSpPr/>
          <p:nvPr/>
        </p:nvSpPr>
        <p:spPr>
          <a:xfrm>
            <a:off x="738158" y="5143512"/>
            <a:ext cx="3455988" cy="86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분석결과 요약 및 해석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0" latinLnBrk="0" hangingPunct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0.817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매우 크다 그러므로 두 집단의 분산이 같다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FEA16C0-6A75-421B-9C73-F4775EF589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76838" y="1019194"/>
            <a:ext cx="4076700" cy="283210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28EE7B-350E-4896-9A9B-A464BEA37512}"/>
              </a:ext>
            </a:extLst>
          </p:cNvPr>
          <p:cNvSpPr/>
          <p:nvPr/>
        </p:nvSpPr>
        <p:spPr>
          <a:xfrm>
            <a:off x="5207000" y="1019194"/>
            <a:ext cx="4014788" cy="280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평균비교검정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(T-test)</a:t>
            </a:r>
          </a:p>
          <a:p>
            <a:pPr algn="ctr" eaLnBrk="0" latinLnBrk="0" hangingPunct="0">
              <a:defRPr/>
            </a:pP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364E0BA8-4388-4BB9-8E96-D76532BDB7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81600" y="5202256"/>
            <a:ext cx="4076700" cy="869950"/>
          </a:xfrm>
          <a:prstGeom prst="rect">
            <a:avLst/>
          </a:prstGeom>
          <a:noFill/>
          <a:ln w="38100">
            <a:solidFill>
              <a:srgbClr val="002060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221DB33-8B7E-4EBC-972C-A68593DA87B3}"/>
              </a:ext>
            </a:extLst>
          </p:cNvPr>
          <p:cNvSpPr/>
          <p:nvPr/>
        </p:nvSpPr>
        <p:spPr>
          <a:xfrm>
            <a:off x="5238752" y="5143512"/>
            <a:ext cx="4076700" cy="86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분석결과 요약 및 해석</a:t>
            </a:r>
            <a:b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 &lt; 0.001</a:t>
            </a:r>
            <a:r>
              <a:rPr lang="ko-KR" altLang="en-US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이므로 돌의 무게에 따른 발사거리 차이가 있다</a:t>
            </a:r>
            <a:r>
              <a:rPr lang="en-US" altLang="ko-KR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그리고 그 차이는 최소 </a:t>
            </a:r>
            <a:r>
              <a:rPr lang="en-US" altLang="ko-KR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25.151 ~</a:t>
            </a:r>
            <a:r>
              <a:rPr lang="ko-KR" altLang="en-US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최대 </a:t>
            </a:r>
            <a:r>
              <a:rPr lang="en-US" altLang="ko-KR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27.253</a:t>
            </a:r>
            <a:r>
              <a:rPr lang="ko-KR" altLang="en-US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이므로 유의미하며 돌의 무게를 바꾸는 것이 의미가 있다</a:t>
            </a:r>
            <a:r>
              <a:rPr lang="en-US" altLang="ko-KR" sz="11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EA58E09-9D58-4AAC-A412-82CA01449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223228"/>
              </p:ext>
            </p:extLst>
          </p:nvPr>
        </p:nvGraphicFramePr>
        <p:xfrm>
          <a:off x="685800" y="4049731"/>
          <a:ext cx="4040188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8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가설수립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itchFamily="50" charset="-127"/>
                          <a:ea typeface="맑은 고딕" pitchFamily="50" charset="-127"/>
                        </a:rPr>
                        <a:t>귀무가설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두 집단의 발사거리의 분산은 같다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itchFamily="50" charset="-127"/>
                          <a:ea typeface="맑은 고딕" pitchFamily="50" charset="-127"/>
                        </a:rPr>
                        <a:t>대립가설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두 집단의 발사거리의 분산은 다르다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14D9830-1E6C-48F9-AD24-F570F5C5E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5336"/>
              </p:ext>
            </p:extLst>
          </p:nvPr>
        </p:nvGraphicFramePr>
        <p:xfrm>
          <a:off x="5176838" y="4049731"/>
          <a:ext cx="4040188" cy="93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8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가설수립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itchFamily="50" charset="-127"/>
                          <a:ea typeface="맑은 고딕" pitchFamily="50" charset="-127"/>
                        </a:rPr>
                        <a:t>귀무가설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두 집단의 발사거리 평균은 같다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itchFamily="50" charset="-127"/>
                          <a:ea typeface="맑은 고딕" pitchFamily="50" charset="-127"/>
                        </a:rPr>
                        <a:t>대립가설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/>
                        <a:t>두 집단의 발사거리 평균은 다르다</a:t>
                      </a:r>
                    </a:p>
                  </a:txBody>
                  <a:tcPr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2FC3D1EB-6F9E-47D5-8129-8863240C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7" y="1057294"/>
            <a:ext cx="4076701" cy="27066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A37A88D-E005-4371-A9DD-9AC0DA6F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112" y="1027131"/>
            <a:ext cx="2376264" cy="2765108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BBEC676-6467-430A-A22B-2955441F7612}"/>
              </a:ext>
            </a:extLst>
          </p:cNvPr>
          <p:cNvSpPr/>
          <p:nvPr/>
        </p:nvSpPr>
        <p:spPr>
          <a:xfrm>
            <a:off x="3872880" y="1988840"/>
            <a:ext cx="449708" cy="1781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D27C610-3085-4E85-921B-87820601327F}"/>
              </a:ext>
            </a:extLst>
          </p:cNvPr>
          <p:cNvSpPr/>
          <p:nvPr/>
        </p:nvSpPr>
        <p:spPr>
          <a:xfrm>
            <a:off x="6105128" y="2324694"/>
            <a:ext cx="360040" cy="3122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E41305-149F-41DC-A4BC-6BE28A0B1E0C}"/>
              </a:ext>
            </a:extLst>
          </p:cNvPr>
          <p:cNvSpPr/>
          <p:nvPr/>
        </p:nvSpPr>
        <p:spPr>
          <a:xfrm>
            <a:off x="6720106" y="3304662"/>
            <a:ext cx="214084" cy="4352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464553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136650" y="1092200"/>
            <a:ext cx="7632700" cy="1152000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hlink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개선</a:t>
            </a:r>
            <a:r>
              <a:rPr lang="en-US" altLang="ko-KR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(Improve) </a:t>
            </a:r>
            <a:r>
              <a:rPr lang="ko-KR" altLang="en-US" sz="4000" dirty="0">
                <a:solidFill>
                  <a:schemeClr val="bg1"/>
                </a:solidFill>
                <a:latin typeface="휴먼엑스포" pitchFamily="18" charset="-127"/>
                <a:ea typeface="휴먼엑스포" pitchFamily="18" charset="-127"/>
              </a:rPr>
              <a:t>단계</a:t>
            </a:r>
            <a:endParaRPr lang="ko-KR" altLang="ko-KR" sz="4000" dirty="0">
              <a:solidFill>
                <a:schemeClr val="bg1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52438" y="2687644"/>
          <a:ext cx="9000000" cy="3456000"/>
        </p:xfrm>
        <a:graphic>
          <a:graphicData uri="http://schemas.openxmlformats.org/drawingml/2006/table">
            <a:tbl>
              <a:tblPr/>
              <a:tblGrid>
                <a:gridCol w="80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8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424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활동정의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프로젝트 수행 내용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970">
                <a:tc rowSpan="3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Improve</a:t>
                      </a:r>
                    </a:p>
                  </a:txBody>
                  <a:tcPr marL="0" marR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6000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Step9.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개선안</a:t>
                      </a:r>
                      <a:r>
                        <a:rPr lang="en-US" altLang="ko-KR" sz="10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dirty="0">
                          <a:latin typeface="+mn-ea"/>
                          <a:ea typeface="+mn-ea"/>
                        </a:rPr>
                        <a:t>도출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Vital Few X’s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특성을 구분한다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X’s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특성 확인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최적화 계획 수립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Step 10.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개선안 선정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X’s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관계를 규명하고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Vital Few X’s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들의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8425" marR="0" lvl="0" indent="-984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최적조건을 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실험계획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최적조건의 도출 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최적대안의 선정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3862">
                <a:tc vMerge="1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 anchorCtr="1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Step 11.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실행 및 결과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결정된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최적안의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검증을 위한 확인작업을 실시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파일럿 테스트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최적안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검증 </a:t>
                      </a: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단기 공정능력 파악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개선결과의 확인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73977"/>
              </p:ext>
            </p:extLst>
          </p:nvPr>
        </p:nvGraphicFramePr>
        <p:xfrm>
          <a:off x="952500" y="2786058"/>
          <a:ext cx="8537604" cy="350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5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5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선정 인자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인자 수준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5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낮은 수준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높은 수준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돌무게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밧줄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가는 밧줄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굵은 밧줄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힘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8"/>
          <p:cNvSpPr txBox="1">
            <a:spLocks noChangeArrowheads="1"/>
          </p:cNvSpPr>
          <p:nvPr/>
        </p:nvSpPr>
        <p:spPr bwMode="gray">
          <a:xfrm>
            <a:off x="595282" y="1000108"/>
            <a:ext cx="8897937" cy="27146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15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>
                <a:tab pos="1244600" algn="l"/>
              </a:tabLst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실험 목적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15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>
                <a:tab pos="1244600" algn="l"/>
              </a:tabLst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tabLst>
                <a:tab pos="1244600" algn="l"/>
              </a:tabLst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   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Full Factorial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실험을 통하여 </a:t>
            </a:r>
            <a:r>
              <a:rPr kumimoji="0" lang="ko-KR" altLang="en-US" sz="1600" dirty="0">
                <a:solidFill>
                  <a:srgbClr val="000000"/>
                </a:solidFill>
                <a:latin typeface="굴림" pitchFamily="50" charset="-127"/>
                <a:ea typeface="+mn-ea"/>
              </a:rPr>
              <a:t>투석기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의 투석거리에 영향을 미치는 인자들의 주효과 및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tabLst>
                <a:tab pos="1244600" algn="l"/>
              </a:tabLst>
              <a:defRPr/>
            </a:pPr>
            <a:endParaRPr kumimoji="0" lang="en-US" altLang="ko-KR" sz="1600" dirty="0">
              <a:solidFill>
                <a:srgbClr val="000000"/>
              </a:solidFill>
              <a:latin typeface="굴림" pitchFamily="50" charset="-127"/>
              <a:ea typeface="+mn-ea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tabLst>
                <a:tab pos="12446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tabLst>
                <a:tab pos="1244600" algn="l"/>
              </a:tabLst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       교호작용 효과를 분석하여 정확한 투석거리 확보를 위한 최적의 조건을 찾아낸다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.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15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>
                <a:tab pos="1244600" algn="l"/>
              </a:tabLst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반응변수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(Y)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 : 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투석기의 투석거리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단위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: Cm)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itchFamily="50" charset="-127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15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tabLst>
                <a:tab pos="1244600" algn="l"/>
              </a:tabLst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독립변수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(X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’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s)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 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itchFamily="50" charset="-127"/>
                <a:ea typeface="+mn-ea"/>
                <a:cs typeface="+mn-cs"/>
              </a:rPr>
              <a:t>및 수준 결정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25499" y="216470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완전요인배치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152400"/>
            <a:ext cx="6891338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dirty="0">
                <a:latin typeface="휴먼엑스포" pitchFamily="18" charset="-127"/>
                <a:ea typeface="휴먼엑스포" pitchFamily="18" charset="-127"/>
              </a:rPr>
              <a:t>Full Factorial Design</a:t>
            </a:r>
            <a:r>
              <a:rPr kumimoji="0" lang="ko-KR" altLang="en-US" sz="2400" dirty="0">
                <a:latin typeface="휴먼엑스포" pitchFamily="18" charset="-127"/>
                <a:ea typeface="휴먼엑스포" pitchFamily="18" charset="-127"/>
              </a:rPr>
              <a:t>의 분석결과</a:t>
            </a: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gray">
          <a:xfrm>
            <a:off x="425449" y="992189"/>
            <a:ext cx="9083677" cy="4082067"/>
          </a:xfrm>
          <a:prstGeom prst="rect">
            <a:avLst/>
          </a:prstGeom>
          <a:noFill/>
          <a:ln w="38100">
            <a:solidFill>
              <a:srgbClr val="424E5C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34975" y="992189"/>
            <a:ext cx="9045576" cy="4082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미니탭을 이용한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Full Factorial Design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941" name="Rectangle 2"/>
          <p:cNvSpPr>
            <a:spLocks noChangeArrowheads="1"/>
          </p:cNvSpPr>
          <p:nvPr/>
        </p:nvSpPr>
        <p:spPr bwMode="gray">
          <a:xfrm>
            <a:off x="425449" y="5229200"/>
            <a:ext cx="9083677" cy="1085875"/>
          </a:xfrm>
          <a:prstGeom prst="rect">
            <a:avLst/>
          </a:prstGeom>
          <a:noFill/>
          <a:ln w="38100">
            <a:solidFill>
              <a:srgbClr val="424E5C"/>
            </a:solidFill>
            <a:miter lim="800000"/>
            <a:headEnd/>
            <a:tailEnd/>
          </a:ln>
        </p:spPr>
        <p:txBody>
          <a:bodyPr wrap="none" lIns="59304" tIns="29651" rIns="59304" bIns="29651" anchor="ctr"/>
          <a:lstStyle/>
          <a:p>
            <a:pPr algn="ctr" eaLnBrk="0" latinLnBrk="0" hangingPunct="0"/>
            <a:endParaRPr lang="ko-KR" altLang="en-US" sz="16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4366" y="5235909"/>
            <a:ext cx="9134760" cy="941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분석결과 요약 및 해석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0" latinLnBrk="0" hangingPunct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모형의 설명력은 위와 같이 충분히 높다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네 가지 변수 모두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 &gt;0.05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유효하다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 크기는 힘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돌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각도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밧줄 순서이다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교호작용은 몇몇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차에서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값이 낮게 보이나 요인 그림을 그려본 결과 큰 효과는 없는 것으로 판단된다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25499" y="216470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완전요인배치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48D59C-5DE3-4F74-AD28-F9398249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1056259"/>
            <a:ext cx="3869953" cy="111519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C4D2550-3F85-4ABF-A525-249671FE1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8" y="2221133"/>
            <a:ext cx="3658111" cy="269595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58C72E-94F9-4DF4-911F-9A29D447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267" y="1489595"/>
            <a:ext cx="2400635" cy="15623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8A5B39-179E-4DC3-97B0-9346D81A2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725" y="3025845"/>
            <a:ext cx="2981741" cy="1962424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AutoShape 10"/>
          <p:cNvSpPr>
            <a:spLocks noChangeArrowheads="1"/>
          </p:cNvSpPr>
          <p:nvPr/>
        </p:nvSpPr>
        <p:spPr bwMode="gray">
          <a:xfrm rot="2584996">
            <a:off x="3454735" y="5088145"/>
            <a:ext cx="1739385" cy="648512"/>
          </a:xfrm>
          <a:prstGeom prst="curvedUpArrow">
            <a:avLst>
              <a:gd name="adj1" fmla="val 89868"/>
              <a:gd name="adj2" fmla="val 128430"/>
              <a:gd name="adj3" fmla="val 33333"/>
            </a:avLst>
          </a:prstGeom>
          <a:solidFill>
            <a:srgbClr val="4F81BD"/>
          </a:solidFill>
          <a:ln w="9525">
            <a:noFill/>
            <a:miter lim="800000"/>
            <a:headEnd/>
            <a:tailEnd/>
          </a:ln>
          <a:scene3d>
            <a:camera prst="isometricOffAxis1Right"/>
            <a:lightRig rig="threePt" dir="t"/>
          </a:scene3d>
        </p:spPr>
        <p:txBody>
          <a:bodyPr lIns="93600" tIns="46800" rIns="93600" bIns="46800" anchor="ctr">
            <a:spAutoFit/>
          </a:bodyPr>
          <a:lstStyle/>
          <a:p>
            <a:pPr algn="ctr" eaLnBrk="0" latinLnBrk="0" hangingPunct="0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34975" y="992188"/>
            <a:ext cx="4340225" cy="35893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반응 최적화  도구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 이용한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최적조건 선정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(270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발사조건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 eaLnBrk="0" latinLnBrk="0" hangingPunct="0">
              <a:defRPr/>
            </a:pPr>
            <a:endParaRPr lang="ko-KR" altLang="en-US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149850" y="2719388"/>
            <a:ext cx="4340225" cy="35893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미니탭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반응 최적화  도구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 이용한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최적조건 선정</a:t>
            </a:r>
            <a:endParaRPr lang="en-US" altLang="ko-KR" sz="12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(315~325) </a:t>
            </a:r>
            <a:r>
              <a: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발사조건</a:t>
            </a:r>
            <a:r>
              <a:rPr lang="en-US" altLang="ko-KR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25499" y="216470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완전요인배치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D10F2C-1141-40BE-ADBD-D2B6094DE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78" y="1580991"/>
            <a:ext cx="4372585" cy="22767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74F34E-8BF6-49D9-917E-652D5DEE0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429000"/>
            <a:ext cx="4667901" cy="247684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619961" y="944563"/>
            <a:ext cx="4790917" cy="21376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59304" tIns="29651" rIns="59304" bIns="29651" anchor="ctr">
            <a:spAutoFit/>
          </a:bodyPr>
          <a:lstStyle/>
          <a:p>
            <a:pPr eaLnBrk="0" hangingPunct="0">
              <a:defRPr/>
            </a:pPr>
            <a:r>
              <a:rPr kumimoji="0" lang="en-US" altLang="ko-KR" sz="1000" dirty="0">
                <a:latin typeface="+mn-ea"/>
              </a:rPr>
              <a:t>Guide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 Vital Few X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에 대한 개선아이디어를 </a:t>
            </a:r>
            <a:r>
              <a:rPr lang="ko-KR" altLang="en-US" sz="1000" dirty="0" err="1">
                <a:solidFill>
                  <a:srgbClr val="000000"/>
                </a:solidFill>
                <a:latin typeface="+mn-ea"/>
                <a:ea typeface="+mn-ea"/>
              </a:rPr>
              <a:t>브레인라이팅을</a:t>
            </a:r>
            <a:r>
              <a:rPr lang="ko-KR" altLang="en-US" sz="1000" dirty="0">
                <a:solidFill>
                  <a:srgbClr val="000000"/>
                </a:solidFill>
                <a:latin typeface="+mn-ea"/>
                <a:ea typeface="+mn-ea"/>
              </a:rPr>
              <a:t> 이용하여 도출한다</a:t>
            </a:r>
            <a:r>
              <a:rPr lang="en-US" altLang="ko-KR" sz="1000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endParaRPr lang="ko-KR" altLang="en-US" sz="1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495557"/>
              </p:ext>
            </p:extLst>
          </p:nvPr>
        </p:nvGraphicFramePr>
        <p:xfrm>
          <a:off x="631824" y="1459580"/>
          <a:ext cx="6464316" cy="4849737"/>
        </p:xfrm>
        <a:graphic>
          <a:graphicData uri="http://schemas.openxmlformats.org/drawingml/2006/table">
            <a:tbl>
              <a:tblPr/>
              <a:tblGrid>
                <a:gridCol w="1811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2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아이디어 도출 담당자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 아이디어 도출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오재윤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가는밧줄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김건호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가는밧줄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177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심현우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굵은밧줄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 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이수지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가는밧줄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이채은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가는밧줄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석정훈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돌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각도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 </a:t>
                      </a:r>
                      <a:r>
                        <a:rPr kumimoji="0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가는밧줄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힘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4350">
                <a:tc>
                  <a:txBody>
                    <a:bodyPr/>
                    <a:lstStyle/>
                    <a:p>
                      <a:pPr marL="190500" marR="0" lvl="0" indent="-19050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그룹 8"/>
          <p:cNvGrpSpPr/>
          <p:nvPr/>
        </p:nvGrpSpPr>
        <p:grpSpPr>
          <a:xfrm>
            <a:off x="7725308" y="1952837"/>
            <a:ext cx="1548172" cy="4356484"/>
            <a:chOff x="4088905" y="2015828"/>
            <a:chExt cx="1548172" cy="413067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" name="직사각형 9"/>
            <p:cNvSpPr/>
            <p:nvPr/>
          </p:nvSpPr>
          <p:spPr bwMode="auto">
            <a:xfrm>
              <a:off x="4088905" y="2015828"/>
              <a:ext cx="1548172" cy="969962"/>
            </a:xfrm>
            <a:prstGeom prst="rect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오재윤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4088905" y="3068340"/>
              <a:ext cx="1548172" cy="969962"/>
            </a:xfrm>
            <a:prstGeom prst="rect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  이수지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	</a:t>
              </a:r>
              <a:r>
                <a:rPr lang="en-US" altLang="ko-KR" sz="1200" b="1" dirty="0">
                  <a:latin typeface="+mn-ea"/>
                </a:rPr>
                <a:t>		</a:t>
              </a: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4088905" y="4124028"/>
              <a:ext cx="1548172" cy="969962"/>
            </a:xfrm>
            <a:prstGeom prst="rect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이채은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직사각형 12"/>
            <p:cNvSpPr/>
            <p:nvPr/>
          </p:nvSpPr>
          <p:spPr bwMode="auto">
            <a:xfrm>
              <a:off x="4088905" y="5176540"/>
              <a:ext cx="1548172" cy="969962"/>
            </a:xfrm>
            <a:prstGeom prst="rect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50000"/>
                </a:spcBef>
                <a:defRPr/>
              </a:pPr>
              <a:endParaRPr lang="en-US" altLang="ko-KR" sz="1200" b="1" dirty="0">
                <a:latin typeface="+mn-ea"/>
              </a:endParaRPr>
            </a:p>
          </p:txBody>
        </p:sp>
      </p:grp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7725308" y="1422203"/>
            <a:ext cx="1548172" cy="39008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/>
                <a:ea typeface="맑은 고딕"/>
              </a:rPr>
              <a:t>Grouping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631825" y="207762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2.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개선 아이디어 도출 및 최적조건 도출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25"/>
          <p:cNvGrpSpPr>
            <a:grpSpLocks/>
          </p:cNvGrpSpPr>
          <p:nvPr/>
        </p:nvGrpSpPr>
        <p:grpSpPr bwMode="auto">
          <a:xfrm>
            <a:off x="279400" y="992188"/>
            <a:ext cx="4076700" cy="5316537"/>
            <a:chOff x="279102" y="992556"/>
            <a:chExt cx="4076700" cy="5168900"/>
          </a:xfrm>
        </p:grpSpPr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425152" y="3891091"/>
              <a:ext cx="3797300" cy="375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latinLnBrk="0" hangingPunct="0">
                <a:defRPr/>
              </a:pPr>
              <a:endParaRPr lang="ko-KR" altLang="en-US" sz="1200">
                <a:solidFill>
                  <a:srgbClr val="000000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1885652" y="1767351"/>
              <a:ext cx="2328863" cy="4830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30</a:t>
              </a:r>
            </a:p>
          </p:txBody>
        </p:sp>
        <p:sp>
          <p:nvSpPr>
            <p:cNvPr id="13" name="Rectangle 6" descr="편지지"/>
            <p:cNvSpPr>
              <a:spLocks noChangeArrowheads="1"/>
            </p:cNvSpPr>
            <p:nvPr/>
          </p:nvSpPr>
          <p:spPr bwMode="auto">
            <a:xfrm>
              <a:off x="425152" y="1767351"/>
              <a:ext cx="1387475" cy="4830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샘플 데이터 수</a:t>
              </a:r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1885652" y="2301373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317.859</a:t>
              </a:r>
            </a:p>
          </p:txBody>
        </p:sp>
        <p:sp>
          <p:nvSpPr>
            <p:cNvPr id="17" name="Rectangle 8" descr="편지지"/>
            <p:cNvSpPr>
              <a:spLocks noChangeArrowheads="1"/>
            </p:cNvSpPr>
            <p:nvPr/>
          </p:nvSpPr>
          <p:spPr bwMode="auto">
            <a:xfrm>
              <a:off x="425152" y="2301373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평균값</a:t>
              </a:r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885652" y="2835395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2.54227</a:t>
              </a:r>
            </a:p>
          </p:txBody>
        </p:sp>
        <p:sp>
          <p:nvSpPr>
            <p:cNvPr id="19" name="Rectangle 10" descr="편지지"/>
            <p:cNvSpPr>
              <a:spLocks noChangeArrowheads="1"/>
            </p:cNvSpPr>
            <p:nvPr/>
          </p:nvSpPr>
          <p:spPr bwMode="auto">
            <a:xfrm>
              <a:off x="425152" y="2835395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표준편차</a:t>
              </a:r>
            </a:p>
          </p:txBody>
        </p:sp>
        <p:sp>
          <p:nvSpPr>
            <p:cNvPr id="21" name="AutoShape 13" descr="재생지"/>
            <p:cNvSpPr>
              <a:spLocks noChangeArrowheads="1"/>
            </p:cNvSpPr>
            <p:nvPr/>
          </p:nvSpPr>
          <p:spPr bwMode="auto">
            <a:xfrm>
              <a:off x="425152" y="5286340"/>
              <a:ext cx="1606550" cy="770164"/>
            </a:xfrm>
            <a:prstGeom prst="bevel">
              <a:avLst>
                <a:gd name="adj" fmla="val 1250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합격률</a:t>
              </a:r>
              <a:endParaRPr lang="en-US" altLang="ko-KR" sz="1200" b="1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endParaRPr>
            </a:p>
            <a:p>
              <a:pPr algn="ctr" eaLnBrk="0" latinLnBrk="0" hangingPunct="0">
                <a:defRPr/>
              </a:pPr>
              <a:r>
                <a:rPr lang="en-US" altLang="ko-KR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(Yield)</a:t>
              </a:r>
            </a:p>
          </p:txBody>
        </p:sp>
        <p:sp>
          <p:nvSpPr>
            <p:cNvPr id="22" name="AutoShape 14"/>
            <p:cNvSpPr>
              <a:spLocks noChangeArrowheads="1"/>
            </p:cNvSpPr>
            <p:nvPr/>
          </p:nvSpPr>
          <p:spPr bwMode="gray">
            <a:xfrm flipV="1">
              <a:off x="699790" y="3449674"/>
              <a:ext cx="3238500" cy="280902"/>
            </a:xfrm>
            <a:prstGeom prst="triangle">
              <a:avLst>
                <a:gd name="adj" fmla="val 50000"/>
              </a:avLst>
            </a:prstGeom>
            <a:solidFill>
              <a:srgbClr val="96969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outerShdw dist="28398" dir="3806097" algn="ctr" rotWithShape="0">
                <a:schemeClr val="tx1"/>
              </a:outerShdw>
            </a:effectLst>
          </p:spPr>
          <p:txBody>
            <a:bodyPr wrap="none" lIns="59304" tIns="29651" rIns="59304" bIns="29651" anchor="ctr"/>
            <a:lstStyle/>
            <a:p>
              <a:pPr algn="ctr" eaLnBrk="0" latinLnBrk="0" hangingPunct="0">
                <a:defRPr/>
              </a:pPr>
              <a:endParaRPr lang="ko-KR" altLang="en-US" sz="1600">
                <a:solidFill>
                  <a:srgbClr val="000000"/>
                </a:solidFill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3" name="AutoShape 15" descr="편지지"/>
            <p:cNvSpPr>
              <a:spLocks noChangeArrowheads="1"/>
            </p:cNvSpPr>
            <p:nvPr/>
          </p:nvSpPr>
          <p:spPr bwMode="auto">
            <a:xfrm>
              <a:off x="425152" y="4384985"/>
              <a:ext cx="1617663" cy="838074"/>
            </a:xfrm>
            <a:prstGeom prst="bevel">
              <a:avLst>
                <a:gd name="adj" fmla="val 8333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공정능력결과</a:t>
              </a:r>
              <a:endParaRPr lang="en-US" altLang="ko-KR" sz="1200" b="1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endParaRPr>
            </a:p>
          </p:txBody>
        </p:sp>
        <p:sp>
          <p:nvSpPr>
            <p:cNvPr id="46100" name="Rectangle 2"/>
            <p:cNvSpPr>
              <a:spLocks noChangeArrowheads="1"/>
            </p:cNvSpPr>
            <p:nvPr/>
          </p:nvSpPr>
          <p:spPr bwMode="gray">
            <a:xfrm>
              <a:off x="279102" y="992556"/>
              <a:ext cx="4076700" cy="5168900"/>
            </a:xfrm>
            <a:prstGeom prst="rect">
              <a:avLst/>
            </a:prstGeom>
            <a:noFill/>
            <a:ln w="38100">
              <a:solidFill>
                <a:srgbClr val="424E5C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/>
            <a:lstStyle/>
            <a:p>
              <a:pPr algn="ctr" eaLnBrk="0" latinLnBrk="0" hangingPunct="0"/>
              <a:endParaRPr lang="ko-KR" altLang="en-US" sz="16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gray">
            <a:xfrm>
              <a:off x="1020465" y="3960545"/>
              <a:ext cx="1311275" cy="2438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59304" tIns="29651" rIns="59304" bIns="29651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굴림" pitchFamily="50" charset="-127"/>
                </a:rPr>
                <a:t>단기데이터	</a:t>
              </a: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gray">
            <a:xfrm>
              <a:off x="2696865" y="3960545"/>
              <a:ext cx="1311275" cy="2438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59304" tIns="29651" rIns="59304" bIns="29651"/>
            <a:lstStyle/>
            <a:p>
              <a:pPr algn="ctr" eaLnBrk="0" latinLnBrk="0" hangingPunct="0">
                <a:defRPr/>
              </a:pPr>
              <a:r>
                <a:rPr lang="ko-KR" altLang="en-US" sz="12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굴림" pitchFamily="50" charset="-127"/>
                </a:rPr>
                <a:t>장기데이터	</a:t>
              </a:r>
            </a:p>
          </p:txBody>
        </p:sp>
        <p:sp>
          <p:nvSpPr>
            <p:cNvPr id="46103" name="Rectangle 39"/>
            <p:cNvSpPr>
              <a:spLocks noChangeArrowheads="1"/>
            </p:cNvSpPr>
            <p:nvPr/>
          </p:nvSpPr>
          <p:spPr bwMode="gray">
            <a:xfrm>
              <a:off x="836315" y="3991343"/>
              <a:ext cx="165100" cy="1651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>
              <a:spAutoFit/>
            </a:bodyPr>
            <a:lstStyle/>
            <a:p>
              <a:pPr algn="ctr" eaLnBrk="0" latinLnBrk="0" hangingPunct="0"/>
              <a:endParaRPr lang="ko-KR" altLang="en-US" sz="16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46104" name="Rectangle 40"/>
            <p:cNvSpPr>
              <a:spLocks noChangeArrowheads="1"/>
            </p:cNvSpPr>
            <p:nvPr/>
          </p:nvSpPr>
          <p:spPr bwMode="gray">
            <a:xfrm>
              <a:off x="2538115" y="3991343"/>
              <a:ext cx="165100" cy="165100"/>
            </a:xfrm>
            <a:prstGeom prst="rect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9304" tIns="29651" rIns="59304" bIns="29651" anchor="ctr">
              <a:spAutoFit/>
            </a:bodyPr>
            <a:lstStyle/>
            <a:p>
              <a:pPr algn="ctr" eaLnBrk="0" latinLnBrk="0" hangingPunct="0"/>
              <a:endParaRPr lang="ko-KR" altLang="en-US" sz="160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1885652" y="1228698"/>
              <a:ext cx="2328863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28398" dir="1593903" algn="ctr" rotWithShape="0">
                <a:srgbClr val="666633"/>
              </a:outerShdw>
            </a:effectLst>
          </p:spPr>
          <p:txBody>
            <a:bodyPr anchor="ctr"/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개선</a:t>
              </a: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체" pitchFamily="49" charset="-127"/>
                </a:rPr>
                <a:t>1</a:t>
              </a:r>
            </a:p>
          </p:txBody>
        </p:sp>
        <p:sp>
          <p:nvSpPr>
            <p:cNvPr id="31" name="Rectangle 6" descr="편지지"/>
            <p:cNvSpPr>
              <a:spLocks noChangeArrowheads="1"/>
            </p:cNvSpPr>
            <p:nvPr/>
          </p:nvSpPr>
          <p:spPr bwMode="auto">
            <a:xfrm>
              <a:off x="425152" y="1228698"/>
              <a:ext cx="1387475" cy="4846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666633"/>
              </a:outerShdw>
            </a:effectLst>
          </p:spPr>
          <p:txBody>
            <a:bodyPr wrap="none" anchor="ctr"/>
            <a:lstStyle/>
            <a:p>
              <a:pPr algn="ctr" eaLnBrk="0" latinLnBrk="0" hangingPunct="0"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Helvetica" pitchFamily="34" charset="0"/>
                  <a:ea typeface="굴림" pitchFamily="50" charset="-127"/>
                </a:rPr>
                <a:t>측정 대상</a:t>
              </a: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4551363" y="993775"/>
            <a:ext cx="5081587" cy="34686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551363" y="4560888"/>
            <a:ext cx="5081587" cy="1747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분석결과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Cp 0.71 cpk0.4 pp0.66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표준편차 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2.54227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평균값 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317.859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임을 확인할 수 있었다</a:t>
            </a:r>
            <a:r>
              <a:rPr lang="en-US" altLang="ko-KR" sz="12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개선효과 및 결과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eaLnBrk="0" latinLnBrk="0" hangingPunct="0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85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퍼센트에서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88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퍼센트로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개선시키는데에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성공하였다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464175" y="2114550"/>
            <a:ext cx="3395663" cy="803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미니탭을 이용한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 eaLnBrk="0" latinLnBrk="0" hangingPunct="0"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연속형 데이터의 시그마 수준 분석결과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 eaLnBrk="0" latinLnBrk="0" hangingPunct="0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공정 능력 분석 </a:t>
            </a:r>
            <a:r>
              <a:rPr lang="en-US" altLang="ko-KR" sz="1200" dirty="0">
                <a:solidFill>
                  <a:schemeClr val="tx1"/>
                </a:solidFill>
              </a:rPr>
              <a:t>_ </a:t>
            </a:r>
            <a:r>
              <a:rPr lang="ko-KR" altLang="en-US" sz="1200" dirty="0">
                <a:solidFill>
                  <a:schemeClr val="tx1"/>
                </a:solidFill>
              </a:rPr>
              <a:t>정규분포 활용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25499" y="216470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3.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검증결과</a:t>
            </a:r>
            <a:endParaRPr kumimoji="0" lang="ko-KR" altLang="en-US" sz="16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gray">
          <a:xfrm>
            <a:off x="2081213" y="4481513"/>
            <a:ext cx="2133600" cy="862012"/>
          </a:xfrm>
          <a:prstGeom prst="rect">
            <a:avLst/>
          </a:prstGeom>
          <a:solidFill>
            <a:schemeClr val="bg1"/>
          </a:solidFill>
          <a:ln w="12700">
            <a:solidFill>
              <a:srgbClr val="969696"/>
            </a:solidFill>
            <a:miter lim="800000"/>
            <a:headEnd/>
            <a:tailEnd/>
          </a:ln>
          <a:effectLst>
            <a:outerShdw dist="35921" dir="2700000" algn="ctr" rotWithShape="0">
              <a:srgbClr val="5F5F5F"/>
            </a:outerShdw>
          </a:effectLst>
        </p:spPr>
        <p:txBody>
          <a:bodyPr lIns="59304" tIns="29651" rIns="309600" bIns="29651" anchor="ctr"/>
          <a:lstStyle/>
          <a:p>
            <a:pPr algn="r" eaLnBrk="0" hangingPunct="0">
              <a:lnSpc>
                <a:spcPct val="110000"/>
              </a:lnSpc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  <a:sym typeface="Symbol" pitchFamily="18" charset="2"/>
              </a:rPr>
              <a:t>Cp 0.71 cpk0.4 pp0.66              </a:t>
            </a:r>
            <a:endParaRPr lang="ko-KR" altLang="ko-KR" sz="1200" dirty="0">
              <a:solidFill>
                <a:srgbClr val="000000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2081213" y="5408613"/>
            <a:ext cx="2133600" cy="792162"/>
          </a:xfrm>
          <a:prstGeom prst="rect">
            <a:avLst/>
          </a:prstGeom>
          <a:solidFill>
            <a:schemeClr val="bg1"/>
          </a:solidFill>
          <a:ln w="12700">
            <a:solidFill>
              <a:srgbClr val="969696"/>
            </a:solidFill>
            <a:miter lim="800000"/>
            <a:headEnd/>
            <a:tailEnd/>
          </a:ln>
          <a:effectLst>
            <a:outerShdw dist="28398" dir="1593903" algn="ctr" rotWithShape="0">
              <a:srgbClr val="666633"/>
            </a:outerShdw>
          </a:effectLst>
        </p:spPr>
        <p:txBody>
          <a:bodyPr anchor="ctr"/>
          <a:lstStyle/>
          <a:p>
            <a:pPr indent="457200" algn="ctr" eaLnBrk="0" hangingPunct="0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</a:rPr>
              <a:t>88%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C77DE8-12A0-41E4-83DE-E3F3A6917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850" y="992188"/>
            <a:ext cx="4489450" cy="3367087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136650" y="1092200"/>
            <a:ext cx="7632700" cy="1152000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hlink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엑스포" pitchFamily="18" charset="-127"/>
                <a:ea typeface="휴먼엑스포" pitchFamily="18" charset="-127"/>
              </a:rPr>
              <a:t>관리</a:t>
            </a:r>
            <a:r>
              <a:rPr lang="en-US" altLang="ko-K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엑스포" pitchFamily="18" charset="-127"/>
                <a:ea typeface="휴먼엑스포" pitchFamily="18" charset="-127"/>
              </a:rPr>
              <a:t>(Control) </a:t>
            </a:r>
            <a:r>
              <a:rPr lang="ko-KR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엑스포" pitchFamily="18" charset="-127"/>
                <a:ea typeface="휴먼엑스포" pitchFamily="18" charset="-127"/>
              </a:rPr>
              <a:t>단계</a:t>
            </a:r>
            <a:endParaRPr lang="ko-KR" altLang="ko-KR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엑스포" pitchFamily="18" charset="-127"/>
              <a:ea typeface="휴먼엑스포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52438" y="2687644"/>
          <a:ext cx="9001124" cy="3456000"/>
        </p:xfrm>
        <a:graphic>
          <a:graphicData uri="http://schemas.openxmlformats.org/drawingml/2006/table">
            <a:tbl>
              <a:tblPr/>
              <a:tblGrid>
                <a:gridCol w="808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425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활동정의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프로젝트 수행 내용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971">
                <a:tc rowSpan="3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Control</a:t>
                      </a:r>
                    </a:p>
                  </a:txBody>
                  <a:tcPr marL="0" marR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12 -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관리계획 수립</a:t>
                      </a:r>
                    </a:p>
                  </a:txBody>
                  <a:tcPr marL="381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개선결과에 대한 위험성 평가를 실시하고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관리계획에 반영한다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81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개선결과에 대한 위험성 평가 및 대책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관리계획 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개정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표준화</a:t>
                      </a:r>
                    </a:p>
                  </a:txBody>
                  <a:tcPr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744">
                <a:tc vMerge="1"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13 –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관리계획 실행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현업 적용 및 유지관리를 통해 관리계획을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실행하고 모니터링 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관리계획 항목에 대한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Monitoring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장기 공정능력 확인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38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 14 –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성과공유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예상효과를 파악하고 프로젝트 결과를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문서화한다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년간 예상성과 파악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현업 이관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차기 추진과제 도출</a:t>
                      </a:r>
                    </a:p>
                    <a:p>
                      <a:pPr marL="185738" marR="0" lvl="0" indent="-1857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 및 완료보고</a:t>
                      </a:r>
                    </a:p>
                  </a:txBody>
                  <a:tcPr marL="76200" marR="381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Group 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72238"/>
              </p:ext>
            </p:extLst>
          </p:nvPr>
        </p:nvGraphicFramePr>
        <p:xfrm>
          <a:off x="631823" y="1304764"/>
          <a:ext cx="8643359" cy="4838881"/>
        </p:xfrm>
        <a:graphic>
          <a:graphicData uri="http://schemas.openxmlformats.org/drawingml/2006/table">
            <a:tbl>
              <a:tblPr/>
              <a:tblGrid>
                <a:gridCol w="116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5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96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402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관리항목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(CTQ)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 기준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방안</a:t>
                      </a: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(vital few x)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기록 및 보고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0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USL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LSL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투석기       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발사거리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275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265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힘을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고정해서 발사한다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돌의 무게 일정하게 관리</a:t>
                      </a: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밧줄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(30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발사이후 교체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기록</a:t>
                      </a: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보고 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김건호</a:t>
                      </a: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9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9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 bwMode="auto">
          <a:xfrm>
            <a:off x="631825" y="944563"/>
            <a:ext cx="6028435" cy="21376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59304" tIns="29651" rIns="59304" bIns="29651" anchor="ctr">
            <a:spAutoFit/>
          </a:bodyPr>
          <a:lstStyle/>
          <a:p>
            <a:pPr>
              <a:defRPr/>
            </a:pPr>
            <a:r>
              <a:rPr lang="ko-KR" altLang="en-US" sz="1000" dirty="0">
                <a:latin typeface="+mn-ea"/>
                <a:ea typeface="+mn-ea"/>
              </a:rPr>
              <a:t>성과를 유지 관리하기 위하여 주기적으로 점검하고 관리해야 할 항목을 선정하고 관리계획을 수립한다</a:t>
            </a:r>
            <a:r>
              <a:rPr lang="en-US" altLang="ko-KR" sz="1000" dirty="0">
                <a:latin typeface="+mn-ea"/>
                <a:ea typeface="+mn-ea"/>
              </a:rPr>
              <a:t>.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1825" y="207762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1.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프로세스 관리 계획 수립 </a:t>
            </a:r>
            <a:r>
              <a:rPr kumimoji="0" lang="en-US" altLang="ko-KR" sz="1600" b="1" dirty="0">
                <a:solidFill>
                  <a:srgbClr val="1F497D"/>
                </a:solidFill>
                <a:latin typeface="휴먼엑스포" pitchFamily="18" charset="-127"/>
                <a:ea typeface="휴먼엑스포" pitchFamily="18" charset="-127"/>
              </a:rPr>
              <a:t>; </a:t>
            </a:r>
            <a:r>
              <a:rPr kumimoji="0" lang="ko-KR" altLang="en-US" sz="1600" b="1" dirty="0">
                <a:solidFill>
                  <a:srgbClr val="1F497D"/>
                </a:solidFill>
                <a:latin typeface="휴먼엑스포" pitchFamily="18" charset="-127"/>
                <a:ea typeface="휴먼엑스포" pitchFamily="18" charset="-127"/>
              </a:rPr>
              <a:t>관리계획서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 </a:t>
            </a:r>
            <a:endParaRPr kumimoji="0" lang="ko-KR" altLang="en-US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5024438" y="1268413"/>
            <a:ext cx="4573587" cy="342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미니탭을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이용한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Xbar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-R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관리도 그래프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024438" y="4868863"/>
            <a:ext cx="4573587" cy="14398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</a:t>
            </a:r>
            <a:r>
              <a:rPr lang="ko-KR" altLang="en-US" sz="1200" b="1" dirty="0">
                <a:solidFill>
                  <a:schemeClr val="tx1"/>
                </a:solidFill>
              </a:rPr>
              <a:t>분석결과 요약 및 해석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안정적인 관리상태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특이사항 없음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73050" y="1268413"/>
            <a:ext cx="4573588" cy="342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미니탭을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이용한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I-MR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관리도 그래프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73050" y="4868863"/>
            <a:ext cx="4573588" cy="14398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■ </a:t>
            </a:r>
            <a:r>
              <a:rPr lang="ko-KR" altLang="en-US" sz="1200" b="1" dirty="0">
                <a:solidFill>
                  <a:schemeClr val="tx1"/>
                </a:solidFill>
              </a:rPr>
              <a:t>분석결과 요약 및 해석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값 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개를 제외하고는 특이점 없음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17-26 </a:t>
            </a:r>
            <a:r>
              <a:rPr lang="ko-KR" altLang="en-US" sz="1200" b="1" dirty="0">
                <a:solidFill>
                  <a:schemeClr val="tx1"/>
                </a:solidFill>
              </a:rPr>
              <a:t>차이 편향 발견 예의주시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31825" y="207762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2. </a:t>
            </a: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관리도 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(I-MR, </a:t>
            </a:r>
            <a:r>
              <a:rPr kumimoji="0" lang="en-US" altLang="ko-KR" sz="2400" b="1" dirty="0" err="1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Xbar</a:t>
            </a:r>
            <a:r>
              <a:rPr kumimoji="0" lang="en-US" altLang="ko-KR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-R)</a:t>
            </a:r>
            <a:endParaRPr kumimoji="0" lang="ko-KR" altLang="en-US" sz="2400" b="1" dirty="0">
              <a:solidFill>
                <a:schemeClr val="tx2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0F4450A-4E5A-4EB4-A666-461C5E43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1" y="1381581"/>
            <a:ext cx="3896059" cy="312753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EFC8F2-F124-4734-A84D-A1B3490C2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31" y="1381581"/>
            <a:ext cx="4327199" cy="2892121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1298"/>
              </p:ext>
            </p:extLst>
          </p:nvPr>
        </p:nvGraphicFramePr>
        <p:xfrm>
          <a:off x="452438" y="1089025"/>
          <a:ext cx="9001124" cy="135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0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과   정  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시그마 프로젝트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교육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2026 02 19-21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교육장소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학생지원센터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201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소         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영남대학교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        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김건호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499036"/>
              </p:ext>
            </p:extLst>
          </p:nvPr>
        </p:nvGraphicFramePr>
        <p:xfrm>
          <a:off x="452438" y="2528886"/>
          <a:ext cx="9001125" cy="390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9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시그마 프로젝트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수강하게 된 동기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직무 중 품질관리에 지원하는데 필요한 사항들을 충족시키기 위해 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 신청이유 공부사항 명확하게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실험계획법 등 하나 골라서 어필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단어의 경우 중심과 산포 분포 이상유무 확인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스킬 이름보다는 목적을 중심으로 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lot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별로 분포 시각화 등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미니탭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이외에도 엑셀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합수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이용가능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open ai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사용가능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향후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시그마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현업적용에 대한 생각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관리에 있어 데이터를 종합하고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정량화하여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분석하는데에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도움이 될 수 있다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또한 프로그램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사용법를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포함하고 있어 실무에 사용하기에도 부족함이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없어보인다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공정데이터를 분석하여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시각화하여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개선필요성을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자각하고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3c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활용하여 진단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실제 측정을 위한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결정하고 데이터 수집 과정에서의 신뢰성확보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gage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r&amp;R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문제점이 측정값에 영향을 주는 인자들을 도출하고 인자와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품질간의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영향도를 분석하여 핵심인자인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vital few x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분석하였다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선정된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vital few x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조건들을 변경해가며 최적의 조건을 변경하고 효율을 극대화하는 방법을 배웠다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관리계획법을 통해 안정적인 상품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15880" y="207762"/>
            <a:ext cx="8786813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400" b="1" dirty="0">
                <a:solidFill>
                  <a:schemeClr val="tx2"/>
                </a:solidFill>
                <a:latin typeface="휴먼엑스포" pitchFamily="18" charset="-127"/>
                <a:ea typeface="휴먼엑스포" pitchFamily="18" charset="-127"/>
              </a:rPr>
              <a:t>교육 참가 후기</a:t>
            </a:r>
          </a:p>
        </p:txBody>
      </p:sp>
    </p:spTree>
    <p:extLst>
      <p:ext uri="{BB962C8B-B14F-4D97-AF65-F5344CB8AC3E}">
        <p14:creationId xmlns:p14="http://schemas.microsoft.com/office/powerpoint/2010/main" val="2666220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균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균형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균형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>
        <a:noFill/>
      </a:spPr>
      <a:bodyPr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24505</TotalTime>
  <Words>2018</Words>
  <Application>Microsoft Office PowerPoint</Application>
  <PresentationFormat>A4 용지(210x297mm)</PresentationFormat>
  <Paragraphs>574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42" baseType="lpstr">
      <vt:lpstr>굴림</vt:lpstr>
      <vt:lpstr>굴림체</vt:lpstr>
      <vt:lpstr>나눔고딕</vt:lpstr>
      <vt:lpstr>돋움</vt:lpstr>
      <vt:lpstr>맑은 고딕</vt:lpstr>
      <vt:lpstr>바탕</vt:lpstr>
      <vt:lpstr>휴먼엑스포</vt:lpstr>
      <vt:lpstr>Arial</vt:lpstr>
      <vt:lpstr>Franklin Gothic Book</vt:lpstr>
      <vt:lpstr>Helvetica</vt:lpstr>
      <vt:lpstr>Perpetua</vt:lpstr>
      <vt:lpstr>Symbol</vt:lpstr>
      <vt:lpstr>Times New Roman</vt:lpstr>
      <vt:lpstr>Wingdings</vt:lpstr>
      <vt:lpstr>Wingdings 2</vt:lpstr>
      <vt:lpstr>균형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snoopy</dc:creator>
  <cp:lastModifiedBy>건호 김</cp:lastModifiedBy>
  <cp:revision>1900</cp:revision>
  <dcterms:created xsi:type="dcterms:W3CDTF">2008-12-15T20:06:52Z</dcterms:created>
  <dcterms:modified xsi:type="dcterms:W3CDTF">2026-02-22T06:36:16Z</dcterms:modified>
</cp:coreProperties>
</file>