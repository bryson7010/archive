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9" r:id="rId4"/>
    <p:sldId id="260" r:id="rId5"/>
    <p:sldId id="261" r:id="rId6"/>
    <p:sldId id="262" r:id="rId7"/>
    <p:sldId id="274" r:id="rId8"/>
    <p:sldId id="275" r:id="rId9"/>
    <p:sldId id="277" r:id="rId10"/>
    <p:sldId id="278" r:id="rId11"/>
    <p:sldId id="280" r:id="rId12"/>
    <p:sldId id="281" r:id="rId13"/>
    <p:sldId id="282" r:id="rId14"/>
    <p:sldId id="284" r:id="rId15"/>
    <p:sldId id="285" r:id="rId16"/>
    <p:sldId id="279" r:id="rId17"/>
    <p:sldId id="286" r:id="rId18"/>
    <p:sldId id="288" r:id="rId19"/>
    <p:sldId id="289" r:id="rId20"/>
    <p:sldId id="263" r:id="rId21"/>
    <p:sldId id="292" r:id="rId22"/>
    <p:sldId id="291" r:id="rId23"/>
    <p:sldId id="266" r:id="rId24"/>
    <p:sldId id="293" r:id="rId25"/>
    <p:sldId id="294" r:id="rId26"/>
    <p:sldId id="295" r:id="rId27"/>
    <p:sldId id="296" r:id="rId28"/>
    <p:sldId id="268" r:id="rId29"/>
  </p:sldIdLst>
  <p:sldSz cx="24384000" cy="13716000"/>
  <p:notesSz cx="6858000" cy="9144000"/>
  <p:embeddedFontLst>
    <p:embeddedFont>
      <p:font typeface="Pretendard JP Bold" panose="020B0600000101010101" charset="-128"/>
      <p:bold r:id="rId31"/>
    </p:embeddedFont>
    <p:embeddedFont>
      <p:font typeface="Pretendard JP ExtraBold" panose="020B0600000101010101" charset="-128"/>
      <p:bold r:id="rId32"/>
    </p:embeddedFont>
    <p:embeddedFont>
      <p:font typeface="Pretendard JP Light" panose="020B0600000101010101" charset="-128"/>
      <p:regular r:id="rId33"/>
    </p:embeddedFont>
    <p:embeddedFont>
      <p:font typeface="맑은 고딕" panose="020B0503020000020004" pitchFamily="50" charset="-127"/>
      <p:regular r:id="rId34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7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28A79-141B-411F-9E47-A74B63A46202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DE1AA-0112-4B4D-9E78-27B8207F9B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061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DE1AA-0112-4B4D-9E78-27B8207F9B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676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0E579-063A-D22B-6CFB-8568513CE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14FCA5-52D5-5BE8-F13C-8CBFF9E1C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985461-774C-0D0F-EE9E-4C45963C4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D83222-6B9C-41E8-91C0-F7AB5C0E7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DE1AA-0112-4B4D-9E78-27B8207F9B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163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9AAF0-09D6-CD68-04B5-30BE6DD39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9FAE78-1246-680F-5539-FFC2064DA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435F57-B6D2-7149-37EA-65A707E4A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0E584F-2A89-E1AE-CF0E-F16FF98C8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DE1AA-0112-4B4D-9E78-27B8207F9B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10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1A043-A5F4-33D7-FE35-2CF690621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8B5664-630D-EB95-F236-4FE30D226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E7FF00-8E15-9615-FD80-160D6C64B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E8E45-35FB-50C9-EC73-022D734C9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DE1AA-0112-4B4D-9E78-27B8207F9B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994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FA663-7696-835D-AC94-E35E86BE3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9E1F75-E345-9FE5-F5F3-0061B9631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E0AA1C-2BE9-518E-AD89-B30737C07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942F8C-174B-01E6-61FC-78C04657D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DE1AA-0112-4B4D-9E78-27B8207F9B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465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85F87-6309-F429-3B32-FB83B840C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D23C02-855F-0900-792E-4611C2160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61C826-47D8-F2AD-F2F5-966CC9067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6B8378-B27A-7282-CA89-28ED42FA2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DE1AA-0112-4B4D-9E78-27B8207F9B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254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59443-96DB-2462-340A-0CA497DF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AB8502-4017-6700-6BB8-4ED569C99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AD43CF-431F-A5AC-DE9E-A643497BB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112D77-2CB9-3695-ECD5-35531B5D9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DE1AA-0112-4B4D-9E78-27B8207F9B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640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F9B8A-8845-16CF-8871-4A9D39180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1B71AF-F73A-3585-867D-1B8D9E06C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CF4A55-53DA-7E61-37E4-F88044635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41857F-3D36-8B1E-BDF3-0FDC727FA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DE1AA-0112-4B4D-9E78-27B8207F9B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956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6B445-12AD-D7E7-7A00-B06ACAAD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AB9831-27E0-6197-3AB1-A3D95E825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DFC20A-AE6C-3C1E-B76A-CCBEC4CA4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A93A14-1476-11A4-5369-98F2FA964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DE1AA-0112-4B4D-9E78-27B8207F9B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473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96B30-4E7F-6A4D-6400-C441D4F6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2057E2-8497-77C0-B1E6-E6C2E7C8F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BC93E8-3C00-0648-BE1C-1CA8037867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8B463-10FC-40BA-73C5-231F809D1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DE1AA-0112-4B4D-9E78-27B8207F9B5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219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7F118-8215-C140-2323-09102C9B7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E45EAA-0B6E-FB76-4F21-323D2487F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7E3F91-251E-5E34-0DC3-7DC35F7AB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118847-7777-4197-4FC9-A4A4797AC8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DE1AA-0112-4B4D-9E78-27B8207F9B5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796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A9E05-8241-555C-C830-F598363EC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E52EF8-476E-7EDE-836A-138170360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0CE5915-9FAB-857E-63DB-54402A697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FE3DE8-9FE4-F5E6-D293-077260849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DE1AA-0112-4B4D-9E78-27B8207F9B5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3122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2A4EC-528C-E095-A4C3-A24D08F3E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91A536-823A-9ECB-0F0C-C4F3F89AC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5F0CE2-B620-CC82-A512-FF1C3BBB1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A87B6C-8B3A-86D3-D232-B7EC69CF1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DE1AA-0112-4B4D-9E78-27B8207F9B5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7020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5E006-CE9C-4453-8772-8E7F8EBA1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193C53-B3AD-2876-B8A6-19B11FA2B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F280A-DDB6-B286-4957-B912943EA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3EAEEF-5D08-C063-51AD-301B00833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DE1AA-0112-4B4D-9E78-27B8207F9B5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954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905000" y="2171700"/>
            <a:ext cx="22479000" cy="2374900"/>
          </a:xfrm>
          <a:prstGeom prst="rect">
            <a:avLst/>
          </a:prstGeom>
        </p:spPr>
        <p:txBody>
          <a:bodyPr lIns="0" tIns="516465" rIns="0" bIns="0" rtlCol="0" anchor="t"/>
          <a:lstStyle/>
          <a:p>
            <a:pPr lvl="0">
              <a:lnSpc>
                <a:spcPct val="65570"/>
              </a:lnSpc>
            </a:pPr>
            <a:r>
              <a:rPr lang="ko-KR" altLang="en-US" sz="9600" b="1" spc="-300" dirty="0"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플라이백 컨버터 기반 절연형 고효율 SMPS 설계 및 최적화</a:t>
            </a:r>
            <a:endParaRPr lang="en-US" sz="13333" b="0" i="0" u="none" strike="noStrike" spc="-200" dirty="0">
              <a:solidFill>
                <a:srgbClr val="071740"/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905000" y="8255000"/>
            <a:ext cx="11163300" cy="328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45250"/>
              </a:lnSpc>
            </a:pPr>
            <a:r>
              <a:rPr lang="en-US" sz="4000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 17</a:t>
            </a:r>
            <a:r>
              <a:rPr lang="ko-KR" altLang="en-US" sz="4000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조</a:t>
            </a:r>
            <a:endParaRPr lang="en-US" sz="4000" b="0" i="0" u="none" strike="noStrike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pPr lvl="0" algn="l">
              <a:lnSpc>
                <a:spcPct val="99600"/>
              </a:lnSpc>
            </a:pPr>
            <a:r>
              <a:rPr lang="en-US" sz="4000" b="0" i="0" u="none" strike="noStrike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전기공학과</a:t>
            </a:r>
            <a:r>
              <a:rPr lang="en-US" sz="4000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   김건호 (</a:t>
            </a:r>
            <a:r>
              <a:rPr lang="en-US" sz="4000" b="0" i="0" u="none" strike="noStrike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팀장</a:t>
            </a:r>
            <a:r>
              <a:rPr lang="en-US" sz="4000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)</a:t>
            </a:r>
          </a:p>
          <a:p>
            <a:pPr lvl="0" algn="l">
              <a:lnSpc>
                <a:spcPct val="99600"/>
              </a:lnSpc>
            </a:pPr>
            <a:r>
              <a:rPr lang="en-US" sz="4000" b="0" i="0" u="none" strike="noStrike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전기공학과</a:t>
            </a:r>
            <a:r>
              <a:rPr lang="en-US" sz="4000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   </a:t>
            </a:r>
            <a:r>
              <a:rPr lang="ko-KR" altLang="en-US" sz="40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김도연</a:t>
            </a:r>
            <a:endParaRPr lang="en-US" sz="4000" b="0" i="0" u="none" strike="noStrike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pPr lvl="0" algn="l">
              <a:lnSpc>
                <a:spcPct val="99600"/>
              </a:lnSpc>
            </a:pPr>
            <a:r>
              <a:rPr lang="en-US" sz="4000" b="0" i="0" u="none" strike="noStrike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전기공학과</a:t>
            </a:r>
            <a:r>
              <a:rPr lang="en-US" sz="4000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   </a:t>
            </a:r>
            <a:r>
              <a:rPr lang="ko-KR" altLang="en-US" sz="4000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권영재</a:t>
            </a:r>
            <a:endParaRPr lang="en-US" sz="4000" b="0" i="0" u="none" strike="noStrike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40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전기공학과   </a:t>
            </a:r>
            <a:r>
              <a:rPr lang="ko-KR" altLang="en-US" sz="4000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김건후</a:t>
            </a:r>
            <a:endParaRPr lang="en-US" sz="4000" b="0" i="0" u="none" strike="noStrike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05000" y="5346700"/>
            <a:ext cx="14211300" cy="1968500"/>
          </a:xfrm>
          <a:prstGeom prst="rect">
            <a:avLst/>
          </a:prstGeom>
        </p:spPr>
        <p:txBody>
          <a:bodyPr lIns="0" tIns="71646" rIns="0" bIns="0" rtlCol="0" anchor="t"/>
          <a:lstStyle/>
          <a:p>
            <a:pPr lvl="0" algn="l">
              <a:lnSpc>
                <a:spcPct val="100429"/>
              </a:lnSpc>
            </a:pPr>
            <a:r>
              <a:rPr lang="ko-KR" altLang="en-US" sz="5938" b="0" i="0" u="none" strike="noStrike" spc="-100" dirty="0">
                <a:solidFill>
                  <a:srgbClr val="3C6FEB"/>
                </a:solidFill>
                <a:latin typeface="Pretendard JP Bold"/>
                <a:ea typeface="Pretendard JP Bold"/>
                <a:cs typeface="Pretendard JP Bold"/>
              </a:rPr>
              <a:t>플라이백 컨버터 토폴로지 및</a:t>
            </a:r>
            <a:br>
              <a:rPr lang="en-US" altLang="ko-KR" sz="5938" b="0" i="0" u="none" strike="noStrike" spc="-100" dirty="0">
                <a:solidFill>
                  <a:srgbClr val="3C6FEB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ko-KR" altLang="en-US" sz="5938" b="0" i="0" u="none" strike="noStrike" spc="-100" dirty="0">
                <a:solidFill>
                  <a:srgbClr val="3C6FEB"/>
                </a:solidFill>
                <a:latin typeface="Pretendard JP Bold"/>
                <a:ea typeface="Pretendard JP Bold"/>
                <a:cs typeface="Pretendard JP Bold"/>
              </a:rPr>
              <a:t>대기 전력 개선 기반</a:t>
            </a:r>
            <a:endParaRPr lang="en-US" sz="5938" b="0" i="0" u="none" strike="noStrike" spc="-100" dirty="0">
              <a:solidFill>
                <a:srgbClr val="3C6FEB"/>
              </a:solidFill>
              <a:latin typeface="Pretendard JP Bold"/>
              <a:ea typeface="Pretendard JP Bold"/>
              <a:cs typeface="Pretendard JP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05000" y="1128806"/>
            <a:ext cx="17703800" cy="7112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000" spc="-100" dirty="0">
                <a:solidFill>
                  <a:srgbClr val="3C6FEB"/>
                </a:solidFill>
                <a:latin typeface="Pretendard JP Bold"/>
                <a:ea typeface="Pretendard JP Bold"/>
                <a:cs typeface="Pretendard JP Bold"/>
              </a:rPr>
              <a:t>종합 설계 과제 및 운용</a:t>
            </a:r>
            <a:br>
              <a:rPr lang="en-US" sz="4000" b="1" i="0" u="none" strike="noStrike" spc="-100" dirty="0">
                <a:solidFill>
                  <a:srgbClr val="3C6FEB"/>
                </a:solidFill>
                <a:latin typeface="Pretendard JP Bold"/>
                <a:ea typeface="Pretendard JP Bold"/>
                <a:cs typeface="Pretendard JP Bold"/>
              </a:rPr>
            </a:br>
            <a:endParaRPr lang="en-US" sz="4000" b="1" i="0" u="none" strike="noStrike" spc="-100" dirty="0">
              <a:solidFill>
                <a:srgbClr val="3C6FEB"/>
              </a:solidFill>
              <a:latin typeface="Pretendard JP Bold"/>
              <a:ea typeface="Pretendard JP Bold"/>
              <a:cs typeface="Pretendard JP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1765300" y="3454400"/>
            <a:ext cx="1244600" cy="1397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765300" y="5283200"/>
            <a:ext cx="1244600" cy="1397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1765300" y="7099300"/>
            <a:ext cx="1244600" cy="1397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1816100" y="8928100"/>
            <a:ext cx="1244600" cy="1397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5400000">
            <a:off x="1765300" y="10744200"/>
            <a:ext cx="1244600" cy="1397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5000" y="5702300"/>
            <a:ext cx="800100" cy="59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5000" y="3771900"/>
            <a:ext cx="800100" cy="711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17700" y="7442200"/>
            <a:ext cx="800100" cy="711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3900" y="9321800"/>
            <a:ext cx="800100" cy="59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17700" y="11087100"/>
            <a:ext cx="800100" cy="711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66400" y="3644900"/>
            <a:ext cx="1016000" cy="1016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66400" y="5359400"/>
            <a:ext cx="1016000" cy="1016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66400" y="7175500"/>
            <a:ext cx="1016000" cy="1016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66400" y="9067800"/>
            <a:ext cx="1016000" cy="1016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566400" y="10934700"/>
            <a:ext cx="1016000" cy="1016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524000" y="1358900"/>
            <a:ext cx="11404600" cy="1778000"/>
          </a:xfrm>
          <a:prstGeom prst="rect">
            <a:avLst/>
          </a:prstGeom>
        </p:spPr>
        <p:txBody>
          <a:bodyPr lIns="0" tIns="12700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0000" b="0" i="0" u="none" strike="noStrike" spc="-10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Table of Contents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5800" y="12814300"/>
            <a:ext cx="3429000" cy="330200"/>
          </a:xfrm>
          <a:prstGeom prst="rect">
            <a:avLst/>
          </a:prstGeom>
        </p:spPr>
        <p:txBody>
          <a:bodyPr lIns="0" tIns="2370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866" b="0" i="0" u="none" strike="noStrike" spc="-100">
                <a:solidFill>
                  <a:srgbClr val="071740"/>
                </a:solidFill>
                <a:latin typeface="Pretendard JP Light"/>
                <a:ea typeface="Pretendard JP Light"/>
                <a:cs typeface="Pretendard JP Light"/>
              </a:rPr>
              <a:t>FOR INTERNAL USE ONLY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294600" y="12814300"/>
            <a:ext cx="3429000" cy="330200"/>
          </a:xfrm>
          <a:prstGeom prst="rect">
            <a:avLst/>
          </a:prstGeom>
        </p:spPr>
        <p:txBody>
          <a:bodyPr lIns="0" tIns="23707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866" b="0" i="0" u="none" strike="noStrike" spc="-100">
                <a:solidFill>
                  <a:srgbClr val="071740"/>
                </a:solidFill>
                <a:latin typeface="Pretendard JP Light"/>
                <a:ea typeface="Pretendard JP Light"/>
                <a:cs typeface="Pretendard JP Light"/>
              </a:rPr>
              <a:t>TABLE OF CONTENTS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530600" y="3594100"/>
            <a:ext cx="7162800" cy="723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333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개요</a:t>
            </a:r>
            <a:endParaRPr lang="en-US" sz="3333" b="0" i="0" u="none" strike="noStrike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3530600" y="5422900"/>
            <a:ext cx="6629400" cy="723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333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과제 목표 및 요구사항</a:t>
            </a:r>
            <a:endParaRPr lang="en-US" sz="3333" b="0" i="0" u="none" strike="noStrike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3530600" y="7239000"/>
            <a:ext cx="6692900" cy="723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333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관련 이론</a:t>
            </a:r>
            <a:endParaRPr lang="en-US" sz="3333" b="0" i="0" u="none" strike="noStrike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581400" y="9067800"/>
            <a:ext cx="6654800" cy="723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333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시스템 </a:t>
            </a:r>
            <a:r>
              <a:rPr lang="ko-KR" altLang="en-US" sz="3333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설계</a:t>
            </a:r>
            <a:endParaRPr lang="en-US" sz="3333" b="0" i="0" u="none" strike="noStrike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530600" y="10883900"/>
            <a:ext cx="6654800" cy="7493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333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PCB </a:t>
            </a:r>
            <a:r>
              <a:rPr lang="ko-KR" altLang="en-US" sz="3333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설계 및 제작</a:t>
            </a:r>
            <a:endParaRPr lang="en-US" sz="3333" b="0" i="0" u="none" strike="noStrike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604500" y="3797300"/>
            <a:ext cx="952500" cy="7112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10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01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04500" y="5511800"/>
            <a:ext cx="952500" cy="7112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10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604500" y="7327900"/>
            <a:ext cx="952500" cy="7112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10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604500" y="9220200"/>
            <a:ext cx="952500" cy="7112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10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604500" y="11087100"/>
            <a:ext cx="952500" cy="7112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10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05</a:t>
            </a:r>
          </a:p>
        </p:txBody>
      </p:sp>
      <p:pic>
        <p:nvPicPr>
          <p:cNvPr id="35" name="Picture 6">
            <a:extLst>
              <a:ext uri="{FF2B5EF4-FFF2-40B4-BE49-F238E27FC236}">
                <a16:creationId xmlns:a16="http://schemas.microsoft.com/office/drawing/2014/main" id="{EE938C90-8942-B879-5C5C-68EE9D37B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13017500" y="3390900"/>
            <a:ext cx="1244600" cy="1397000"/>
          </a:xfrm>
          <a:prstGeom prst="rect">
            <a:avLst/>
          </a:prstGeom>
        </p:spPr>
      </p:pic>
      <p:pic>
        <p:nvPicPr>
          <p:cNvPr id="37" name="Picture 7">
            <a:extLst>
              <a:ext uri="{FF2B5EF4-FFF2-40B4-BE49-F238E27FC236}">
                <a16:creationId xmlns:a16="http://schemas.microsoft.com/office/drawing/2014/main" id="{DD48401A-A4A3-24F7-C978-1FEF444E6E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3017500" y="5219700"/>
            <a:ext cx="1244600" cy="1397000"/>
          </a:xfrm>
          <a:prstGeom prst="rect">
            <a:avLst/>
          </a:prstGeom>
        </p:spPr>
      </p:pic>
      <p:pic>
        <p:nvPicPr>
          <p:cNvPr id="39" name="Picture 8">
            <a:extLst>
              <a:ext uri="{FF2B5EF4-FFF2-40B4-BE49-F238E27FC236}">
                <a16:creationId xmlns:a16="http://schemas.microsoft.com/office/drawing/2014/main" id="{7CE037E1-2E96-A431-0A8A-A4581ECC4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-5400000">
            <a:off x="13017500" y="7035800"/>
            <a:ext cx="1244600" cy="1397000"/>
          </a:xfrm>
          <a:prstGeom prst="rect">
            <a:avLst/>
          </a:prstGeom>
        </p:spPr>
      </p:pic>
      <p:pic>
        <p:nvPicPr>
          <p:cNvPr id="41" name="Picture 9">
            <a:extLst>
              <a:ext uri="{FF2B5EF4-FFF2-40B4-BE49-F238E27FC236}">
                <a16:creationId xmlns:a16="http://schemas.microsoft.com/office/drawing/2014/main" id="{DD35FDD2-067F-ACD3-1871-78BE381AA6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5400000">
            <a:off x="13068300" y="8864600"/>
            <a:ext cx="1244600" cy="1397000"/>
          </a:xfrm>
          <a:prstGeom prst="rect">
            <a:avLst/>
          </a:prstGeom>
        </p:spPr>
      </p:pic>
      <p:pic>
        <p:nvPicPr>
          <p:cNvPr id="45" name="Picture 11">
            <a:extLst>
              <a:ext uri="{FF2B5EF4-FFF2-40B4-BE49-F238E27FC236}">
                <a16:creationId xmlns:a16="http://schemas.microsoft.com/office/drawing/2014/main" id="{894BDF18-10F3-2CA0-93CB-D38FD23DC1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57200" y="5638800"/>
            <a:ext cx="800100" cy="596900"/>
          </a:xfrm>
          <a:prstGeom prst="rect">
            <a:avLst/>
          </a:prstGeom>
        </p:spPr>
      </p:pic>
      <p:pic>
        <p:nvPicPr>
          <p:cNvPr id="47" name="Picture 12">
            <a:extLst>
              <a:ext uri="{FF2B5EF4-FFF2-40B4-BE49-F238E27FC236}">
                <a16:creationId xmlns:a16="http://schemas.microsoft.com/office/drawing/2014/main" id="{E02BF955-F9B7-B81B-5704-BB2B37CA658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57200" y="3708400"/>
            <a:ext cx="800100" cy="711200"/>
          </a:xfrm>
          <a:prstGeom prst="rect">
            <a:avLst/>
          </a:prstGeom>
        </p:spPr>
      </p:pic>
      <p:pic>
        <p:nvPicPr>
          <p:cNvPr id="49" name="Picture 13">
            <a:extLst>
              <a:ext uri="{FF2B5EF4-FFF2-40B4-BE49-F238E27FC236}">
                <a16:creationId xmlns:a16="http://schemas.microsoft.com/office/drawing/2014/main" id="{1C593D61-181A-3FC1-4724-1BF2D4743A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69900" y="7378700"/>
            <a:ext cx="800100" cy="711200"/>
          </a:xfrm>
          <a:prstGeom prst="rect">
            <a:avLst/>
          </a:prstGeom>
        </p:spPr>
      </p:pic>
      <p:pic>
        <p:nvPicPr>
          <p:cNvPr id="51" name="Picture 14">
            <a:extLst>
              <a:ext uri="{FF2B5EF4-FFF2-40B4-BE49-F238E27FC236}">
                <a16:creationId xmlns:a16="http://schemas.microsoft.com/office/drawing/2014/main" id="{5FB728F3-9C4D-E690-AF6D-B8981C6686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46100" y="9258300"/>
            <a:ext cx="800100" cy="596900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00DEF1A8-D56B-AA4D-7228-F2865EC2B8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818600" y="3581400"/>
            <a:ext cx="1016000" cy="1016000"/>
          </a:xfrm>
          <a:prstGeom prst="rect">
            <a:avLst/>
          </a:prstGeom>
        </p:spPr>
      </p:pic>
      <p:pic>
        <p:nvPicPr>
          <p:cNvPr id="57" name="Picture 17">
            <a:extLst>
              <a:ext uri="{FF2B5EF4-FFF2-40B4-BE49-F238E27FC236}">
                <a16:creationId xmlns:a16="http://schemas.microsoft.com/office/drawing/2014/main" id="{984805B8-C6D9-E511-035D-F78EC43690D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818600" y="5295900"/>
            <a:ext cx="1016000" cy="1016000"/>
          </a:xfrm>
          <a:prstGeom prst="rect">
            <a:avLst/>
          </a:prstGeom>
        </p:spPr>
      </p:pic>
      <p:pic>
        <p:nvPicPr>
          <p:cNvPr id="59" name="Picture 18">
            <a:extLst>
              <a:ext uri="{FF2B5EF4-FFF2-40B4-BE49-F238E27FC236}">
                <a16:creationId xmlns:a16="http://schemas.microsoft.com/office/drawing/2014/main" id="{1424C0C4-11E8-A587-6907-0ABA419EACE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818600" y="7112000"/>
            <a:ext cx="1016000" cy="1016000"/>
          </a:xfrm>
          <a:prstGeom prst="rect">
            <a:avLst/>
          </a:prstGeom>
        </p:spPr>
      </p:pic>
      <p:pic>
        <p:nvPicPr>
          <p:cNvPr id="61" name="Picture 19">
            <a:extLst>
              <a:ext uri="{FF2B5EF4-FFF2-40B4-BE49-F238E27FC236}">
                <a16:creationId xmlns:a16="http://schemas.microsoft.com/office/drawing/2014/main" id="{EB065435-1AD0-A6DD-64AE-5A7531063E9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818600" y="9004300"/>
            <a:ext cx="1016000" cy="1016000"/>
          </a:xfrm>
          <a:prstGeom prst="rect">
            <a:avLst/>
          </a:prstGeom>
        </p:spPr>
      </p:pic>
      <p:sp>
        <p:nvSpPr>
          <p:cNvPr id="65" name="TextBox 24">
            <a:extLst>
              <a:ext uri="{FF2B5EF4-FFF2-40B4-BE49-F238E27FC236}">
                <a16:creationId xmlns:a16="http://schemas.microsoft.com/office/drawing/2014/main" id="{96331865-4F45-34E2-B7AB-8E196D1127EB}"/>
              </a:ext>
            </a:extLst>
          </p:cNvPr>
          <p:cNvSpPr txBox="1"/>
          <p:nvPr/>
        </p:nvSpPr>
        <p:spPr>
          <a:xfrm>
            <a:off x="14782800" y="3530600"/>
            <a:ext cx="7162800" cy="723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333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성능 검증</a:t>
            </a:r>
            <a:endParaRPr lang="en-US" sz="3333" b="0" i="0" u="none" strike="noStrike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</p:txBody>
      </p:sp>
      <p:sp>
        <p:nvSpPr>
          <p:cNvPr id="67" name="TextBox 25">
            <a:extLst>
              <a:ext uri="{FF2B5EF4-FFF2-40B4-BE49-F238E27FC236}">
                <a16:creationId xmlns:a16="http://schemas.microsoft.com/office/drawing/2014/main" id="{2CDA8131-7B85-780A-D3F9-2A27C65F4689}"/>
              </a:ext>
            </a:extLst>
          </p:cNvPr>
          <p:cNvSpPr txBox="1"/>
          <p:nvPr/>
        </p:nvSpPr>
        <p:spPr>
          <a:xfrm>
            <a:off x="14782800" y="5359400"/>
            <a:ext cx="6629400" cy="723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333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결과 분석</a:t>
            </a:r>
            <a:endParaRPr lang="en-US" sz="3333" b="0" i="0" u="none" strike="noStrike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</p:txBody>
      </p:sp>
      <p:sp>
        <p:nvSpPr>
          <p:cNvPr id="69" name="TextBox 26">
            <a:extLst>
              <a:ext uri="{FF2B5EF4-FFF2-40B4-BE49-F238E27FC236}">
                <a16:creationId xmlns:a16="http://schemas.microsoft.com/office/drawing/2014/main" id="{DB236EAE-34B3-F5E5-647F-0E6BA1A82365}"/>
              </a:ext>
            </a:extLst>
          </p:cNvPr>
          <p:cNvSpPr txBox="1"/>
          <p:nvPr/>
        </p:nvSpPr>
        <p:spPr>
          <a:xfrm>
            <a:off x="14782800" y="7175500"/>
            <a:ext cx="6692900" cy="723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333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기대 효과</a:t>
            </a:r>
            <a:endParaRPr lang="en-US" sz="3333" b="0" i="0" u="none" strike="noStrike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</p:txBody>
      </p:sp>
      <p:sp>
        <p:nvSpPr>
          <p:cNvPr id="71" name="TextBox 27">
            <a:extLst>
              <a:ext uri="{FF2B5EF4-FFF2-40B4-BE49-F238E27FC236}">
                <a16:creationId xmlns:a16="http://schemas.microsoft.com/office/drawing/2014/main" id="{5D0B92D6-6DA9-0D87-4A1F-C0B66E63030C}"/>
              </a:ext>
            </a:extLst>
          </p:cNvPr>
          <p:cNvSpPr txBox="1"/>
          <p:nvPr/>
        </p:nvSpPr>
        <p:spPr>
          <a:xfrm>
            <a:off x="14833600" y="9004300"/>
            <a:ext cx="6654800" cy="723900"/>
          </a:xfrm>
          <a:prstGeom prst="rect">
            <a:avLst/>
          </a:prstGeom>
        </p:spPr>
        <p:txBody>
          <a:bodyPr lIns="0" tIns="4233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333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결론</a:t>
            </a:r>
            <a:endParaRPr lang="en-US" sz="3333" b="0" i="0" u="none" strike="noStrike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</p:txBody>
      </p:sp>
      <p:sp>
        <p:nvSpPr>
          <p:cNvPr id="75" name="TextBox 29">
            <a:extLst>
              <a:ext uri="{FF2B5EF4-FFF2-40B4-BE49-F238E27FC236}">
                <a16:creationId xmlns:a16="http://schemas.microsoft.com/office/drawing/2014/main" id="{43DD6838-D2C7-4C8F-3916-793DEDB646AB}"/>
              </a:ext>
            </a:extLst>
          </p:cNvPr>
          <p:cNvSpPr txBox="1"/>
          <p:nvPr/>
        </p:nvSpPr>
        <p:spPr>
          <a:xfrm>
            <a:off x="21856700" y="3733800"/>
            <a:ext cx="952500" cy="7112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06</a:t>
            </a:r>
          </a:p>
        </p:txBody>
      </p:sp>
      <p:sp>
        <p:nvSpPr>
          <p:cNvPr id="77" name="TextBox 30">
            <a:extLst>
              <a:ext uri="{FF2B5EF4-FFF2-40B4-BE49-F238E27FC236}">
                <a16:creationId xmlns:a16="http://schemas.microsoft.com/office/drawing/2014/main" id="{AD185F5C-D139-3D13-2F23-DD0F5F7ED499}"/>
              </a:ext>
            </a:extLst>
          </p:cNvPr>
          <p:cNvSpPr txBox="1"/>
          <p:nvPr/>
        </p:nvSpPr>
        <p:spPr>
          <a:xfrm>
            <a:off x="21856700" y="5448300"/>
            <a:ext cx="952500" cy="7112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07</a:t>
            </a:r>
          </a:p>
        </p:txBody>
      </p:sp>
      <p:sp>
        <p:nvSpPr>
          <p:cNvPr id="79" name="TextBox 31">
            <a:extLst>
              <a:ext uri="{FF2B5EF4-FFF2-40B4-BE49-F238E27FC236}">
                <a16:creationId xmlns:a16="http://schemas.microsoft.com/office/drawing/2014/main" id="{63848809-DADC-4C97-88B3-0E1EC4A3062B}"/>
              </a:ext>
            </a:extLst>
          </p:cNvPr>
          <p:cNvSpPr txBox="1"/>
          <p:nvPr/>
        </p:nvSpPr>
        <p:spPr>
          <a:xfrm>
            <a:off x="21856700" y="7264400"/>
            <a:ext cx="952500" cy="7112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08</a:t>
            </a:r>
          </a:p>
        </p:txBody>
      </p:sp>
      <p:sp>
        <p:nvSpPr>
          <p:cNvPr id="81" name="TextBox 32">
            <a:extLst>
              <a:ext uri="{FF2B5EF4-FFF2-40B4-BE49-F238E27FC236}">
                <a16:creationId xmlns:a16="http://schemas.microsoft.com/office/drawing/2014/main" id="{CC497DF1-00B7-40A1-9433-6209DFDEFC34}"/>
              </a:ext>
            </a:extLst>
          </p:cNvPr>
          <p:cNvSpPr txBox="1"/>
          <p:nvPr/>
        </p:nvSpPr>
        <p:spPr>
          <a:xfrm>
            <a:off x="21856700" y="9156700"/>
            <a:ext cx="952500" cy="7112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09</a:t>
            </a:r>
          </a:p>
        </p:txBody>
      </p:sp>
      <p:sp>
        <p:nvSpPr>
          <p:cNvPr id="83" name="TextBox 33">
            <a:extLst>
              <a:ext uri="{FF2B5EF4-FFF2-40B4-BE49-F238E27FC236}">
                <a16:creationId xmlns:a16="http://schemas.microsoft.com/office/drawing/2014/main" id="{3B646458-FDF9-CB6F-6D4E-63C469F9A6BD}"/>
              </a:ext>
            </a:extLst>
          </p:cNvPr>
          <p:cNvSpPr txBox="1"/>
          <p:nvPr/>
        </p:nvSpPr>
        <p:spPr>
          <a:xfrm>
            <a:off x="21856700" y="11023600"/>
            <a:ext cx="952500" cy="7112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ctr">
              <a:lnSpc>
                <a:spcPct val="99600"/>
              </a:lnSpc>
            </a:pPr>
            <a:endParaRPr lang="en-US" sz="4000" b="0" i="0" u="none" strike="noStrike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24000" y="12700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7733" b="0" i="0" u="none" strike="noStrike" spc="-10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작품 개발 배경 및 필요성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670300"/>
            <a:ext cx="10375900" cy="3911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3670300"/>
            <a:ext cx="10375900" cy="3911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5689600" y="4000500"/>
            <a:ext cx="8039100" cy="762000"/>
          </a:xfrm>
          <a:prstGeom prst="rect">
            <a:avLst/>
          </a:prstGeom>
        </p:spPr>
        <p:txBody>
          <a:bodyPr lIns="0" tIns="5418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 spc="-100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NEEDS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6400" y="5080000"/>
            <a:ext cx="9791700" cy="185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3324" b="1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스마트 팩토리</a:t>
            </a:r>
            <a:r>
              <a:rPr lang="en-US" altLang="ko-KR" sz="3324" b="1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, IoT, </a:t>
            </a:r>
            <a:r>
              <a:rPr lang="ko-KR" altLang="en-US" sz="3324" b="1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임베디드 시스템 보급 확대에 따라 상시 구동 전자기기 </a:t>
            </a:r>
            <a:r>
              <a:rPr lang="ko-KR" altLang="en-US" sz="3324" b="1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증가</a:t>
            </a:r>
            <a:br>
              <a:rPr lang="en-US" altLang="ko-KR" sz="3324" b="1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</a:br>
            <a:r>
              <a:rPr lang="en-US" altLang="ko-KR" sz="3324" b="1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-&gt; </a:t>
            </a:r>
            <a:r>
              <a:rPr lang="ko-KR" altLang="en-US" sz="3324" b="1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안정적인 </a:t>
            </a:r>
            <a:r>
              <a:rPr lang="en-US" altLang="ko-KR" sz="3324" b="1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DC </a:t>
            </a:r>
            <a:r>
              <a:rPr lang="ko-KR" altLang="en-US" sz="3324" b="1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전원 공급 중요성 및 필요성 증가</a:t>
            </a:r>
            <a:endParaRPr lang="en-US" sz="3324" b="1" i="0" u="none" strike="noStrike" spc="-100" dirty="0">
              <a:solidFill>
                <a:srgbClr val="FFFFFF"/>
              </a:solidFill>
              <a:latin typeface="Pretendard JP Light"/>
              <a:ea typeface="Pretendard JP Light"/>
              <a:cs typeface="Pretendard JP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728700" y="4907643"/>
            <a:ext cx="74930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2666" b="0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기존 전원 공급 장치는 대기 상태에서도 전력 소모가 지속적으로 발생</a:t>
            </a:r>
            <a:r>
              <a:rPr lang="en-US" altLang="ko-KR" sz="2666" b="0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.</a:t>
            </a:r>
            <a:br>
              <a:rPr lang="en-US" altLang="ko-KR" sz="2666" b="0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</a:br>
            <a:r>
              <a:rPr lang="ko-KR" altLang="en-US" sz="2666" b="0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스위칭 손실에 따른 발열 증가</a:t>
            </a:r>
            <a:br>
              <a:rPr lang="en-US" altLang="ko-KR" sz="2666" b="0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</a:br>
            <a:r>
              <a:rPr lang="en-US" altLang="ko-KR" sz="2666" b="0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EMI </a:t>
            </a:r>
            <a:r>
              <a:rPr lang="ko-KR" altLang="en-US" sz="2666" b="0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및 고주파 노이즈 </a:t>
            </a:r>
            <a:br>
              <a:rPr lang="en-US" altLang="ko-KR" sz="2666" b="0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</a:br>
            <a:r>
              <a:rPr lang="ko-KR" altLang="en-US" sz="2666" b="0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장시간 운용 시 부품 수명 저하</a:t>
            </a:r>
            <a:endParaRPr lang="en-US" sz="2666" b="0" i="0" u="none" strike="noStrike" spc="-100" dirty="0">
              <a:solidFill>
                <a:srgbClr val="FFFFFF"/>
              </a:solidFill>
              <a:latin typeface="Pretendard JP Light"/>
              <a:ea typeface="Pretendard JP Light"/>
              <a:cs typeface="Pretendard JP Ligh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116300" y="4000500"/>
            <a:ext cx="8039100" cy="762000"/>
          </a:xfrm>
          <a:prstGeom prst="rect">
            <a:avLst/>
          </a:prstGeom>
        </p:spPr>
        <p:txBody>
          <a:bodyPr lIns="0" tIns="5418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 spc="-100" dirty="0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PROBLEM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34000" y="8496300"/>
            <a:ext cx="8039100" cy="762000"/>
          </a:xfrm>
          <a:prstGeom prst="rect">
            <a:avLst/>
          </a:prstGeom>
        </p:spPr>
        <p:txBody>
          <a:bodyPr lIns="0" tIns="5418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 spc="-100" dirty="0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PROBLEM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8138886"/>
            <a:ext cx="10375900" cy="39116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5216071" y="8543472"/>
            <a:ext cx="8039100" cy="762000"/>
          </a:xfrm>
          <a:prstGeom prst="rect">
            <a:avLst/>
          </a:prstGeom>
        </p:spPr>
        <p:txBody>
          <a:bodyPr lIns="0" tIns="5418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 spc="-100" dirty="0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SOLUTION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66900" y="9436100"/>
            <a:ext cx="9791700" cy="1219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3324" b="1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저전력 대기모드 </a:t>
            </a:r>
            <a:r>
              <a:rPr lang="ko-KR" altLang="en-US" sz="3324" b="1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구현</a:t>
            </a:r>
            <a:br>
              <a:rPr lang="en-US" altLang="ko-KR" sz="3324" b="1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</a:br>
            <a:r>
              <a:rPr lang="ko-KR" altLang="en-US" sz="3324" b="1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저전력 전원임을 고려한 공학적 실익 설계</a:t>
            </a:r>
            <a:br>
              <a:rPr lang="en-US" altLang="ko-KR" sz="3324" b="1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</a:br>
            <a:r>
              <a:rPr lang="ko-KR" altLang="en-US" sz="3324" b="1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절연 구조를 통한 안정성 확보</a:t>
            </a:r>
            <a:br>
              <a:rPr lang="en-US" altLang="ko-KR" sz="3324" b="1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</a:br>
            <a:r>
              <a:rPr lang="ko-KR" altLang="en-US" sz="3324" b="1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노이즈 및 발열 저감 설계</a:t>
            </a:r>
            <a:endParaRPr lang="en-US" sz="3324" b="1" i="0" u="none" strike="noStrike" spc="-100" dirty="0">
              <a:solidFill>
                <a:srgbClr val="FFFFFF"/>
              </a:solidFill>
              <a:latin typeface="Pretendard JP Light"/>
              <a:ea typeface="Pretendard JP Light"/>
              <a:cs typeface="Pretendard JP Light"/>
            </a:endParaRPr>
          </a:p>
        </p:txBody>
      </p:sp>
      <p:pic>
        <p:nvPicPr>
          <p:cNvPr id="22" name="Picture 8">
            <a:extLst>
              <a:ext uri="{FF2B5EF4-FFF2-40B4-BE49-F238E27FC236}">
                <a16:creationId xmlns:a16="http://schemas.microsoft.com/office/drawing/2014/main" id="{8BFCD06B-E144-0B9D-B497-83C8282BA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8050" y="8138886"/>
            <a:ext cx="10375900" cy="3911600"/>
          </a:xfrm>
          <a:prstGeom prst="rect">
            <a:avLst/>
          </a:prstGeom>
        </p:spPr>
      </p:pic>
      <p:sp>
        <p:nvSpPr>
          <p:cNvPr id="24" name="TextBox 14">
            <a:extLst>
              <a:ext uri="{FF2B5EF4-FFF2-40B4-BE49-F238E27FC236}">
                <a16:creationId xmlns:a16="http://schemas.microsoft.com/office/drawing/2014/main" id="{E300F571-F362-31EE-9B55-C660F4E1A6F7}"/>
              </a:ext>
            </a:extLst>
          </p:cNvPr>
          <p:cNvSpPr txBox="1"/>
          <p:nvPr/>
        </p:nvSpPr>
        <p:spPr>
          <a:xfrm>
            <a:off x="16257814" y="8438243"/>
            <a:ext cx="8039100" cy="762000"/>
          </a:xfrm>
          <a:prstGeom prst="rect">
            <a:avLst/>
          </a:prstGeom>
        </p:spPr>
        <p:txBody>
          <a:bodyPr lIns="0" tIns="54186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266" b="0" i="0" u="none" strike="noStrike" spc="-100" dirty="0">
                <a:solidFill>
                  <a:srgbClr val="FFFFFF"/>
                </a:solidFill>
                <a:latin typeface="Pretendard JP Bold"/>
                <a:ea typeface="Pretendard JP Bold"/>
                <a:cs typeface="Pretendard JP Bold"/>
              </a:rPr>
              <a:t>PERPOSE</a:t>
            </a:r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BD40D099-1D90-9C1E-4EB0-0BB74E278E47}"/>
              </a:ext>
            </a:extLst>
          </p:cNvPr>
          <p:cNvSpPr txBox="1"/>
          <p:nvPr/>
        </p:nvSpPr>
        <p:spPr>
          <a:xfrm>
            <a:off x="13728700" y="9241971"/>
            <a:ext cx="74930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3200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절연형 </a:t>
            </a:r>
            <a:r>
              <a:rPr lang="en-US" altLang="ko-KR" sz="3200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AC-DC-SMPS </a:t>
            </a:r>
            <a:r>
              <a:rPr lang="ko-KR" altLang="en-US" sz="3200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설계 과정 이해</a:t>
            </a:r>
            <a:endParaRPr lang="en-US" altLang="ko-KR" sz="3200" spc="-100" dirty="0">
              <a:solidFill>
                <a:srgbClr val="FFFFFF"/>
              </a:solidFill>
              <a:latin typeface="Pretendard JP Light"/>
              <a:ea typeface="Pretendard JP Light"/>
              <a:cs typeface="Pretendard JP Light"/>
            </a:endParaRPr>
          </a:p>
          <a:p>
            <a:pPr lvl="0" algn="ctr">
              <a:lnSpc>
                <a:spcPct val="124499"/>
              </a:lnSpc>
            </a:pPr>
            <a:r>
              <a:rPr lang="ko-KR" altLang="en-US" sz="3200" b="0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플라이백 컨버터 동작 원리 분석</a:t>
            </a:r>
            <a:endParaRPr lang="en-US" altLang="ko-KR" sz="3200" b="0" i="0" u="none" strike="noStrike" spc="-100" dirty="0">
              <a:solidFill>
                <a:srgbClr val="FFFFFF"/>
              </a:solidFill>
              <a:latin typeface="Pretendard JP Light"/>
              <a:ea typeface="Pretendard JP Light"/>
              <a:cs typeface="Pretendard JP Light"/>
            </a:endParaRPr>
          </a:p>
          <a:p>
            <a:pPr lvl="0" algn="ctr">
              <a:lnSpc>
                <a:spcPct val="124499"/>
              </a:lnSpc>
            </a:pPr>
            <a:r>
              <a:rPr lang="ko-KR" altLang="en-US" sz="3200" b="0" i="0" u="none" strike="noStrike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전원공급장치의 안정성 및 효율 개선</a:t>
            </a:r>
            <a:endParaRPr lang="en-US" altLang="ko-KR" sz="3200" b="0" i="0" u="none" strike="noStrike" spc="-100" dirty="0">
              <a:solidFill>
                <a:srgbClr val="FFFFFF"/>
              </a:solidFill>
              <a:latin typeface="Pretendard JP Light"/>
              <a:ea typeface="Pretendard JP Light"/>
              <a:cs typeface="Pretendard JP Light"/>
            </a:endParaRPr>
          </a:p>
          <a:p>
            <a:pPr lvl="0" algn="ctr">
              <a:lnSpc>
                <a:spcPct val="124499"/>
              </a:lnSpc>
            </a:pPr>
            <a:r>
              <a:rPr lang="en-US" sz="3200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KICAD </a:t>
            </a:r>
            <a:r>
              <a:rPr lang="ko-KR" altLang="en-US" sz="3200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기반 회로도 및 </a:t>
            </a:r>
            <a:r>
              <a:rPr lang="en-US" altLang="ko-KR" sz="3200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PCB </a:t>
            </a:r>
            <a:r>
              <a:rPr lang="ko-KR" altLang="en-US" sz="3200" spc="-100" dirty="0">
                <a:solidFill>
                  <a:srgbClr val="FFFFFF"/>
                </a:solidFill>
                <a:latin typeface="Pretendard JP Light"/>
                <a:ea typeface="Pretendard JP Light"/>
                <a:cs typeface="Pretendard JP Light"/>
              </a:rPr>
              <a:t>설계 경험 확보</a:t>
            </a:r>
            <a:endParaRPr lang="en-US" sz="3200" b="0" i="0" u="none" strike="noStrike" spc="-100" dirty="0">
              <a:solidFill>
                <a:srgbClr val="FFFFFF"/>
              </a:solidFill>
              <a:latin typeface="Pretendard JP Light"/>
              <a:ea typeface="Pretendard JP Light"/>
              <a:cs typeface="Pretendard JP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주요 설계 내용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58471" y="3657600"/>
            <a:ext cx="15840531" cy="5080000"/>
          </a:xfrm>
          <a:prstGeom prst="rect">
            <a:avLst/>
          </a:prstGeom>
        </p:spPr>
        <p:txBody>
          <a:bodyPr lIns="0" tIns="474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1.  </a:t>
            </a:r>
            <a:r>
              <a:rPr lang="ko-KR" altLang="en-US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플라이백 토폴로지 적용</a:t>
            </a:r>
            <a:br>
              <a:rPr lang="en-US" altLang="ko-KR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br>
              <a:rPr lang="en-US" altLang="ko-KR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r>
              <a:rPr lang="en-US" altLang="ko-KR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2. </a:t>
            </a:r>
            <a:r>
              <a:rPr lang="ko-KR" altLang="en-US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제어 회로 설계</a:t>
            </a:r>
            <a:br>
              <a:rPr lang="en-US" altLang="ko-KR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br>
              <a:rPr lang="en-US" altLang="ko-KR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r>
              <a:rPr lang="en-US" altLang="ko-KR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3. Active </a:t>
            </a:r>
            <a:r>
              <a:rPr lang="en-US" altLang="ko-KR" sz="4400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B</a:t>
            </a:r>
            <a:r>
              <a:rPr lang="en-US" altLang="ko-KR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urst Mode </a:t>
            </a:r>
            <a:r>
              <a:rPr lang="ko-KR" altLang="en-US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동작 확인</a:t>
            </a:r>
            <a:br>
              <a:rPr lang="en-US" altLang="ko-KR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br>
              <a:rPr lang="en-US" altLang="ko-KR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r>
              <a:rPr lang="en-US" altLang="ko-KR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4. RCD </a:t>
            </a:r>
            <a:r>
              <a:rPr lang="ko-KR" altLang="en-US" sz="4400" b="0" i="0" u="none" strike="noStrike" spc="-100" dirty="0" err="1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스너버</a:t>
            </a:r>
            <a:r>
              <a:rPr lang="ko-KR" altLang="en-US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 설계</a:t>
            </a:r>
            <a:br>
              <a:rPr lang="en-US" altLang="ko-KR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br>
              <a:rPr lang="en-US" altLang="ko-KR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r>
              <a:rPr lang="en-US" altLang="ko-KR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5. </a:t>
            </a:r>
            <a:r>
              <a:rPr lang="ko-KR" altLang="en-US" sz="44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출력 정류 및 필터 설계</a:t>
            </a:r>
            <a:endParaRPr lang="en-US" altLang="ko-KR" sz="4400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  <a:p>
            <a:pPr lvl="0" algn="l">
              <a:lnSpc>
                <a:spcPct val="99600"/>
              </a:lnSpc>
            </a:pPr>
            <a:endParaRPr lang="en-US" sz="4400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  <a:p>
            <a:pPr lvl="0" algn="l">
              <a:lnSpc>
                <a:spcPct val="99600"/>
              </a:lnSpc>
            </a:pPr>
            <a:r>
              <a:rPr lang="en-US" sz="4400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6. </a:t>
            </a:r>
            <a:r>
              <a:rPr lang="en-US" sz="4400" spc="-100" dirty="0" err="1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Kicad</a:t>
            </a:r>
            <a:r>
              <a:rPr lang="en-US" sz="4400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 </a:t>
            </a:r>
            <a:r>
              <a:rPr lang="ko-KR" altLang="en-US" sz="4400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기반 </a:t>
            </a:r>
            <a:r>
              <a:rPr lang="en-US" altLang="ko-KR" sz="4400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PCB Layout </a:t>
            </a:r>
            <a:r>
              <a:rPr lang="ko-KR" altLang="en-US" sz="4400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설계 및 제작</a:t>
            </a:r>
            <a:endParaRPr lang="en-US" sz="4400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886" y="2878364"/>
            <a:ext cx="139319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0909300" y="-6756400"/>
            <a:ext cx="13639800" cy="13614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설계 요구 사항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44650" y="3467100"/>
            <a:ext cx="18091150" cy="91694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marL="342900" lvl="0" indent="-342900" latinLnBrk="1">
              <a:spcBef>
                <a:spcPct val="20000"/>
              </a:spcBef>
              <a:buFont typeface="Arial"/>
              <a:buChar char="•"/>
              <a:defRPr/>
            </a:pP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입력부와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출력부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간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전기적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절연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확보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342900" lvl="0" indent="-342900" latinLnBrk="1">
              <a:spcBef>
                <a:spcPct val="20000"/>
              </a:spcBef>
              <a:buFont typeface="Arial"/>
              <a:buChar char="•"/>
              <a:defRPr/>
            </a:pP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342900" lvl="0" indent="-342900" latinLnBrk="1">
              <a:spcBef>
                <a:spcPct val="20000"/>
              </a:spcBef>
              <a:buFont typeface="Arial"/>
              <a:buChar char="•"/>
              <a:defRPr/>
            </a:pP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스위칭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소자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보호를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위한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스너버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회로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적용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342900" lvl="0" indent="-342900" latinLnBrk="1">
              <a:spcBef>
                <a:spcPct val="20000"/>
              </a:spcBef>
              <a:buFont typeface="Arial"/>
              <a:buChar char="•"/>
              <a:defRPr/>
            </a:pP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342900" lvl="0" indent="-342900" latinLnBrk="1">
              <a:spcBef>
                <a:spcPct val="20000"/>
              </a:spcBef>
              <a:buFont typeface="Arial"/>
              <a:buChar char="•"/>
              <a:defRPr/>
            </a:pP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출력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정류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및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필터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회로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구성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342900" lvl="0" indent="-342900" latinLnBrk="1">
              <a:spcBef>
                <a:spcPct val="20000"/>
              </a:spcBef>
              <a:buFont typeface="Arial"/>
              <a:buChar char="•"/>
              <a:defRPr/>
            </a:pP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342900" lvl="0" indent="-342900" latinLnBrk="1">
              <a:spcBef>
                <a:spcPct val="20000"/>
              </a:spcBef>
              <a:buFont typeface="Arial"/>
              <a:buChar char="•"/>
              <a:defRPr/>
            </a:pP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무부하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및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부하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조건에서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안정적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동작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확인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342900" lvl="0" indent="-342900" latinLnBrk="1">
              <a:spcBef>
                <a:spcPct val="20000"/>
              </a:spcBef>
              <a:buFont typeface="Arial"/>
              <a:buChar char="•"/>
              <a:defRPr/>
            </a:pP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342900" lvl="0" indent="-342900" latinLnBrk="1">
              <a:spcBef>
                <a:spcPct val="20000"/>
              </a:spcBef>
              <a:buFont typeface="Arial"/>
              <a:buChar char="•"/>
              <a:defRPr/>
            </a:pP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PCB 상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고전압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/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저전압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영역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분리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342900" lvl="0" indent="-342900" latinLnBrk="1">
              <a:spcBef>
                <a:spcPct val="20000"/>
              </a:spcBef>
              <a:buFont typeface="Arial"/>
              <a:buChar char="•"/>
              <a:defRPr/>
            </a:pP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342900" lvl="0" indent="-342900" latinLnBrk="1">
              <a:spcBef>
                <a:spcPct val="20000"/>
              </a:spcBef>
              <a:buFont typeface="Arial"/>
              <a:buChar char="•"/>
              <a:defRPr/>
            </a:pP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발열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및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노이즈를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고려한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Layout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설계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4650" y="2787650"/>
            <a:ext cx="91948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FLYBACK-CONVERTER </a:t>
            </a: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기용 </a:t>
            </a:r>
            <a:r>
              <a:rPr lang="ko-KR" altLang="en-US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이유</a:t>
            </a:r>
            <a:r>
              <a:rPr lang="en-US" altLang="ko-KR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-1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572340" y="3441699"/>
            <a:ext cx="13246100" cy="76708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
- </a:t>
            </a:r>
            <a:r>
              <a:rPr lang="ko-KR" altLang="en-US" sz="3466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구조의 단순성</a:t>
            </a:r>
            <a:endParaRPr lang="en-US" altLang="ko-KR" sz="3466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  <a:p>
            <a:pPr lvl="0">
              <a:lnSpc>
                <a:spcPct val="99600"/>
              </a:lnSpc>
            </a:pP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플라이백 구조는 다른 격리형 토폴로지(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Forward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, 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Half-bridge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등)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에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비해 회로가 매우 단순합니다.</a:t>
            </a:r>
            <a:endParaRPr lang="en-US" sz="3200" i="0" u="none" strike="noStrike" spc="-1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l">
              <a:lnSpc>
                <a:spcPct val="99600"/>
              </a:lnSpc>
            </a:pPr>
            <a:endParaRPr lang="en-US" sz="3200" i="0" u="none" strike="noStrike" spc="-1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lnSpc>
                <a:spcPct val="99600"/>
              </a:lnSpc>
            </a:pP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최소한의 스위치: 1차 측에 단 1개의 메인 스위칭 소자(MOSFET)만 있으면 구동이 가능합니다. 하프 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브릿지나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풀 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브릿지처럼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상측(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High-side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 드라이버나 복잡한 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데드타임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제어가 필요 없습니다.</a:t>
            </a:r>
            <a:r>
              <a:rPr lang="en-US" sz="3466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
- </a:t>
            </a:r>
            <a:r>
              <a:rPr lang="ko-KR" altLang="en-US" sz="3466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집적도</a:t>
            </a:r>
            <a:endParaRPr lang="en-US" sz="3466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  <a:p>
            <a:r>
              <a:rPr lang="ko-KR" altLang="ko-KR" sz="32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Controller</a:t>
            </a:r>
            <a:r>
              <a:rPr lang="ko-KR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+ MOSFET </a:t>
            </a:r>
            <a:r>
              <a:rPr lang="ko-KR" altLang="ko-KR" sz="32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원칩화</a:t>
            </a:r>
            <a:r>
              <a:rPr lang="ko-KR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: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최근의 저전력 플라이백 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IC는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제어부와 고전압 내압을 가진 내장 스위치(고전압 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Si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MOSFET 또는 최근의 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GaN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를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하나의 패키지에 통합한 제품(예: Power 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Integrations의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InnoSwitch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, 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TI의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UCC 시리즈 등)이 많습니다.</a:t>
            </a:r>
          </a:p>
          <a:p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이 덕분에 PCB 면적을 극도로 줄일 수 있어, 스마트폰 충전기나 소형 어댑터 같은 고밀도 공간에 최적입니다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l">
              <a:lnSpc>
                <a:spcPct val="99600"/>
              </a:lnSpc>
            </a:pPr>
            <a:br>
              <a:rPr lang="en-US" sz="28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endParaRPr lang="en-US" sz="2800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516102" y="7981950"/>
            <a:ext cx="9194800" cy="1143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AB4B268-3C07-E8AC-0A01-4537ED5C62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5188" y="4748088"/>
            <a:ext cx="8474612" cy="48912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85B51-C037-C8FE-86EB-646DD961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F7DBCC7-95B7-8AD0-AF78-F440D4814C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15A1990-1EDC-9E0F-4960-1801038CA6C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ED4894E-F0DF-A5D3-88C9-FB7B9855A10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6C0D142-3683-4FF2-BD09-2B542137377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A31E5856-3F8D-99ED-385A-DA576BE87082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FLYBACK-CONVERTER </a:t>
            </a: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기용 </a:t>
            </a:r>
            <a:r>
              <a:rPr lang="ko-KR" altLang="en-US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이유</a:t>
            </a:r>
            <a:r>
              <a:rPr lang="en-US" altLang="ko-KR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-2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4585906-6B86-745C-7A89-9755B289C791}"/>
              </a:ext>
            </a:extLst>
          </p:cNvPr>
          <p:cNvSpPr txBox="1"/>
          <p:nvPr/>
        </p:nvSpPr>
        <p:spPr>
          <a:xfrm>
            <a:off x="10598150" y="3566242"/>
            <a:ext cx="13246100" cy="76708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466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
- </a:t>
            </a:r>
            <a:r>
              <a:rPr lang="ko-KR" altLang="en-US" sz="3466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절연</a:t>
            </a:r>
            <a:br>
              <a:rPr lang="en-US" altLang="ko-KR" sz="3466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r>
              <a:rPr lang="ko-KR" altLang="en-US" sz="3466" spc="-100" dirty="0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변압기를 이용하여 </a:t>
            </a:r>
            <a:r>
              <a:rPr lang="en-US" altLang="ko-KR" sz="3466" spc="-100" dirty="0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1</a:t>
            </a:r>
            <a:r>
              <a:rPr lang="ko-KR" altLang="en-US" sz="3466" spc="-100" dirty="0" err="1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차측과</a:t>
            </a:r>
            <a:r>
              <a:rPr lang="ko-KR" altLang="en-US" sz="3466" spc="-100" dirty="0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 </a:t>
            </a:r>
            <a:r>
              <a:rPr lang="en-US" altLang="ko-KR" sz="3466" spc="-100" dirty="0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2</a:t>
            </a:r>
            <a:r>
              <a:rPr lang="ko-KR" altLang="en-US" sz="3466" spc="-100" dirty="0" err="1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차측을</a:t>
            </a:r>
            <a:r>
              <a:rPr lang="ko-KR" altLang="en-US" sz="3466" spc="-100" dirty="0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 전기적으로 </a:t>
            </a:r>
            <a:r>
              <a:rPr lang="ko-KR" altLang="en-US" sz="3466" spc="-100" dirty="0" err="1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절연시키기에</a:t>
            </a:r>
            <a:r>
              <a:rPr lang="en-US" altLang="ko-KR" sz="3466" spc="-100" dirty="0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, </a:t>
            </a:r>
            <a:r>
              <a:rPr lang="ko-KR" altLang="en-US" sz="3466" spc="-100" dirty="0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고전압 입력으로부터 출력부가 보호됩니다</a:t>
            </a:r>
            <a:r>
              <a:rPr lang="en-US" sz="3466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
- </a:t>
            </a:r>
            <a:r>
              <a:rPr lang="ko-KR" altLang="en-US" sz="3466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출력 전압 용이성</a:t>
            </a:r>
            <a:endParaRPr lang="en-US" altLang="ko-KR" sz="3466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  <a:p>
            <a:pPr lvl="0" algn="l">
              <a:lnSpc>
                <a:spcPct val="99600"/>
              </a:lnSpc>
            </a:pPr>
            <a:r>
              <a:rPr lang="ko-KR" altLang="en-US" sz="3466" spc="-100" dirty="0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플라이백 컨버터는 </a:t>
            </a:r>
            <a:r>
              <a:rPr lang="ko-KR" altLang="en-US" sz="3466" spc="-100" dirty="0" err="1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듀티</a:t>
            </a:r>
            <a:r>
              <a:rPr lang="ko-KR" altLang="en-US" sz="3466" spc="-100" dirty="0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 사이클 조절을 통해 입력 전압 변동에 유연하게 대처할 수 있으며 변압기의 </a:t>
            </a:r>
            <a:r>
              <a:rPr lang="en-US" altLang="ko-KR" sz="3466" spc="-100" dirty="0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2</a:t>
            </a:r>
            <a:r>
              <a:rPr lang="ko-KR" altLang="en-US" sz="3466" spc="-100" dirty="0" err="1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차측에</a:t>
            </a:r>
            <a:r>
              <a:rPr lang="ko-KR" altLang="en-US" sz="3466" spc="-100" dirty="0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 </a:t>
            </a:r>
            <a:r>
              <a:rPr lang="ko-KR" altLang="en-US" sz="3466" spc="-100" dirty="0" err="1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보조권선을</a:t>
            </a:r>
            <a:r>
              <a:rPr lang="ko-KR" altLang="en-US" sz="3466" spc="-100" dirty="0">
                <a:solidFill>
                  <a:schemeClr val="tx2">
                    <a:lumMod val="75000"/>
                  </a:schemeClr>
                </a:solidFill>
                <a:latin typeface="Pretendard JP ExtraBold"/>
                <a:ea typeface="Pretendard JP ExtraBold"/>
                <a:cs typeface="Pretendard JP ExtraBold"/>
              </a:rPr>
              <a:t> 추가한다면 여러 개의 격리된 출력전압을 동시에 얻을 수 있습니다</a:t>
            </a:r>
            <a:endParaRPr lang="en-US" sz="3466" b="0" i="0" u="none" strike="noStrike" spc="-100" dirty="0">
              <a:solidFill>
                <a:schemeClr val="tx2">
                  <a:lumMod val="75000"/>
                </a:schemeClr>
              </a:solidFill>
              <a:latin typeface="Pretendard JP ExtraBold"/>
              <a:ea typeface="Pretendard JP ExtraBold"/>
              <a:cs typeface="Pretendard JP ExtraBold"/>
            </a:endParaRPr>
          </a:p>
          <a:p>
            <a:pPr lvl="0" algn="l">
              <a:lnSpc>
                <a:spcPct val="99600"/>
              </a:lnSpc>
            </a:pPr>
            <a:endParaRPr lang="en-US" sz="2800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  <a:p>
            <a:r>
              <a:rPr lang="en-US" altLang="ko-KR" sz="3600" dirty="0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ko-KR" altLang="en-US" sz="3200" dirty="0" err="1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경부하</a:t>
            </a:r>
            <a:r>
              <a:rPr lang="ko-KR" altLang="en-US" sz="3200" dirty="0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효율 극대화</a:t>
            </a:r>
            <a:endParaRPr lang="en-US" altLang="ko-KR" sz="3200" dirty="0">
              <a:solidFill>
                <a:schemeClr val="tx2">
                  <a:lumMod val="50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저전력 전원장치는 대기 전력(</a:t>
            </a:r>
            <a:r>
              <a:rPr lang="ko-KR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Standby</a:t>
            </a:r>
            <a:r>
              <a:rPr lang="ko-KR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Power) 규제를 만족하는 것이 핵심입니다. 플라이백 컨트롤러는 부하가 줄어들 때 효율을 방어하는 다양한 제어 기법이 내장되어 있습니다</a:t>
            </a:r>
          </a:p>
          <a:p>
            <a:pPr lvl="0" algn="l">
              <a:lnSpc>
                <a:spcPct val="99600"/>
              </a:lnSpc>
            </a:pPr>
            <a:br>
              <a:rPr lang="en-US" sz="28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endParaRPr lang="en-US" sz="2800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2E01A69F-8EC3-1363-EFEC-C829ACC34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516102" y="7981950"/>
            <a:ext cx="9194800" cy="1143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1F371F2-EA8F-242B-E4E5-DABB06BE5F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5188" y="4748088"/>
            <a:ext cx="8474612" cy="489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95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2A0A-C290-77DC-978D-5E960F6BA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F109553-A206-6F7B-5DC4-24EDE9DE94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419F17C-73A2-D40F-186B-A05581C5A31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BA0D421-AD1E-222A-E03E-078E09B73CB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D282ECF-0BAE-3D1C-A3F4-B229E3E2579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99CE1A6B-9BE9-A6DB-132E-5E22183CED5E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FLYBACK-CONVERTER </a:t>
            </a: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원리</a:t>
            </a:r>
            <a:r>
              <a:rPr lang="en-US" altLang="ko-KR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-1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E28775B-000C-20A0-1FF8-6322D9C4684C}"/>
              </a:ext>
            </a:extLst>
          </p:cNvPr>
          <p:cNvSpPr txBox="1"/>
          <p:nvPr/>
        </p:nvSpPr>
        <p:spPr>
          <a:xfrm>
            <a:off x="12909550" y="4867786"/>
            <a:ext cx="13246100" cy="76708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lvl="0">
              <a:defRPr/>
            </a:pPr>
            <a:r>
              <a:rPr lang="en-US" sz="3466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
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MOSFET ON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구간</a:t>
            </a:r>
            <a:endParaRPr lang="en-US" altLang="ko-KR" sz="4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-1차측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권선에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에너지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저장</a:t>
            </a:r>
            <a:endParaRPr lang="en-US" altLang="ko-KR" sz="4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-2차측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정류부는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차단</a:t>
            </a:r>
            <a:endParaRPr lang="en-US" altLang="ko-KR" sz="4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자화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인덕턴스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전류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증가</a:t>
            </a:r>
            <a:endParaRPr lang="en-US" altLang="ko-KR" sz="4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l">
              <a:lnSpc>
                <a:spcPct val="99600"/>
              </a:lnSpc>
            </a:pPr>
            <a:br>
              <a:rPr lang="en-US" sz="28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endParaRPr lang="en-US" sz="2800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A29C8B8D-EFCD-ECC5-6339-C4DE02ADFC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211552" y="7884036"/>
            <a:ext cx="9194800" cy="1143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D420444-0CE3-8E05-98D6-E80254A9B01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72551" y="3962400"/>
            <a:ext cx="10859664" cy="713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2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CE36A-6C90-3A1D-D346-324F2073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99D708A-E891-4C50-4BDC-3D530EE44A6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EE7525D-1931-8790-A327-8D0D1D21B3E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8A59C856-B2DC-BA52-2CFE-6E4DF30D376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BE57232-C4B6-CB68-8900-1FE3FDCF8E1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78CC059-D881-4C14-AB7B-66C024AD7BC0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FLYBACK-CONVERTER </a:t>
            </a: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원리</a:t>
            </a:r>
            <a:r>
              <a:rPr lang="en-US" altLang="ko-KR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-2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B81CB7B-F275-DDCC-7FAA-C3664C86661C}"/>
              </a:ext>
            </a:extLst>
          </p:cNvPr>
          <p:cNvSpPr txBox="1"/>
          <p:nvPr/>
        </p:nvSpPr>
        <p:spPr>
          <a:xfrm>
            <a:off x="12909550" y="4867786"/>
            <a:ext cx="13246100" cy="76708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lvl="0">
              <a:defRPr/>
            </a:pPr>
            <a:r>
              <a:rPr lang="en-US" sz="3466" b="0" i="0" u="none" strike="noStrike" spc="-1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
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MOSFET OFF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구간</a:t>
            </a:r>
            <a:endParaRPr lang="en-US" altLang="ko-KR" sz="4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저장된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에너지가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2차측으로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전달</a:t>
            </a:r>
            <a:endParaRPr lang="en-US" altLang="ko-KR" sz="4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출력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정류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및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평활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수행</a:t>
            </a:r>
            <a:endParaRPr lang="en-US" altLang="ko-KR" sz="4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부하에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DC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전원</a:t>
            </a:r>
            <a:r>
              <a:rPr lang="en-US" altLang="ko-KR" sz="4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공급</a:t>
            </a:r>
            <a:endParaRPr lang="en-US" altLang="ko-KR" sz="4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l">
              <a:lnSpc>
                <a:spcPct val="99600"/>
              </a:lnSpc>
            </a:pPr>
            <a:br>
              <a:rPr lang="en-US" sz="28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endParaRPr lang="en-US" sz="2800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4EEBC821-4502-3E60-9D7C-78394C967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211552" y="7884036"/>
            <a:ext cx="9194800" cy="1143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1364625-AED3-0BBB-C8EE-ADD459CD385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55450" y="4145892"/>
            <a:ext cx="11157100" cy="688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43D59-52DA-F0DC-971E-4F4432A34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FDEDCB5-7F69-7839-E12D-373484D1E3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88A8659-CDE3-6057-8286-4464D399A8A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91CEEFE-5A4F-00EB-478F-ABB7FF97403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8F6C1D0-CC8E-0828-AD79-25EE4C1F71D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75B5DE74-019F-61FC-049C-024FFBEBAFD5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ACTIVE</a:t>
            </a: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 </a:t>
            </a:r>
            <a:r>
              <a:rPr lang="en-US" altLang="ko-KR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BURST MODE</a:t>
            </a:r>
            <a:r>
              <a:rPr lang="en-US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 </a:t>
            </a: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원리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3B43952-5223-7860-3156-356D7D8E1F86}"/>
              </a:ext>
            </a:extLst>
          </p:cNvPr>
          <p:cNvSpPr txBox="1"/>
          <p:nvPr/>
        </p:nvSpPr>
        <p:spPr>
          <a:xfrm>
            <a:off x="12405442" y="2057809"/>
            <a:ext cx="13246100" cy="76708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lvl="0">
              <a:defRPr/>
            </a:pPr>
            <a:r>
              <a:rPr lang="en-US" sz="3466" b="0" i="0" u="none" strike="noStrike" spc="-1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
-</a:t>
            </a:r>
            <a:r>
              <a:rPr lang="en-US" altLang="ko-KR" sz="4400" dirty="0" err="1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적용</a:t>
            </a:r>
            <a:r>
              <a:rPr lang="en-US" altLang="ko-KR" sz="4400" dirty="0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목적</a:t>
            </a:r>
            <a:endParaRPr lang="en-US" altLang="ko-KR" sz="4400" dirty="0">
              <a:solidFill>
                <a:schemeClr val="tx2">
                  <a:lumMod val="50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경부하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및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무부하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상태에서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대기전력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저감</a:t>
            </a:r>
            <a:endParaRPr lang="en-US" altLang="ko-KR" sz="44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불필요한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스위칭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동작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감소</a:t>
            </a:r>
            <a:endParaRPr lang="en-US" altLang="ko-KR" sz="44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발열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및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소자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스트레스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완화</a:t>
            </a:r>
            <a:endParaRPr lang="en-US" altLang="ko-KR" sz="44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endParaRPr lang="en-US" altLang="ko-KR" sz="44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400" dirty="0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en-US" altLang="ko-KR" sz="4400" dirty="0" err="1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동작</a:t>
            </a:r>
            <a:r>
              <a:rPr lang="en-US" altLang="ko-KR" sz="4400" dirty="0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개념</a:t>
            </a:r>
            <a:endParaRPr lang="en-US" altLang="ko-KR" sz="4400" dirty="0">
              <a:solidFill>
                <a:schemeClr val="tx2">
                  <a:lumMod val="50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부하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감소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시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피드백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전압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변화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감지</a:t>
            </a:r>
            <a:endParaRPr lang="en-US" altLang="ko-KR" sz="44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일정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조건에서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스위칭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동작을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간헐적으로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수행</a:t>
            </a:r>
            <a:endParaRPr lang="en-US" altLang="ko-KR" sz="44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출력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전압을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유지하면서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IC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소비전류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감소</a:t>
            </a:r>
            <a:endParaRPr lang="en-US" altLang="ko-KR" sz="44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endParaRPr lang="en-US" altLang="ko-KR" sz="44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400" dirty="0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en-US" altLang="ko-KR" sz="4400" dirty="0" err="1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기대</a:t>
            </a:r>
            <a:r>
              <a:rPr lang="en-US" altLang="ko-KR" sz="4400" dirty="0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효과</a:t>
            </a:r>
            <a:endParaRPr lang="en-US" altLang="ko-KR" sz="4400" dirty="0">
              <a:solidFill>
                <a:schemeClr val="tx2">
                  <a:lumMod val="50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대기전력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감소</a:t>
            </a:r>
            <a:endParaRPr lang="en-US" altLang="ko-KR" sz="44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발열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저감</a:t>
            </a:r>
            <a:endParaRPr lang="en-US" altLang="ko-KR" sz="44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가청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노이즈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억제</a:t>
            </a:r>
            <a:endParaRPr lang="en-US" altLang="ko-KR" sz="44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상시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구동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시스템에</a:t>
            </a:r>
            <a:r>
              <a:rPr lang="en-US" altLang="ko-KR" sz="44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4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적합</a:t>
            </a:r>
            <a:endParaRPr lang="en-US" altLang="ko-KR" sz="44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l">
              <a:lnSpc>
                <a:spcPct val="99600"/>
              </a:lnSpc>
            </a:pPr>
            <a:br>
              <a:rPr lang="en-US" sz="28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endParaRPr lang="en-US" sz="2800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B2FD303E-51D8-1302-065C-C0F56C1C4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211552" y="7884036"/>
            <a:ext cx="9194800" cy="1143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A9FCCA2-23C1-A884-8818-38E2E6A026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4838" y="4867786"/>
            <a:ext cx="9333735" cy="522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132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0CB35-7473-5399-AC09-100490A53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DBA59E5-F5B5-70BF-8D17-F4B46D7B86B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27BEC52-83D1-1EE3-14A5-EE35E94226F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9FCB225-5017-C388-7335-1295E5CCD69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4908EF6-3881-8D23-53A2-131A1F57927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14ABAAF2-3A27-1CCF-489A-FB72582883A4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시스템 설계 </a:t>
            </a:r>
            <a:r>
              <a:rPr lang="en-US" altLang="ko-KR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- 1 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222660C-BE4B-77D6-3B17-DEFBCAFD1962}"/>
              </a:ext>
            </a:extLst>
          </p:cNvPr>
          <p:cNvSpPr txBox="1"/>
          <p:nvPr/>
        </p:nvSpPr>
        <p:spPr>
          <a:xfrm>
            <a:off x="12182168" y="270385"/>
            <a:ext cx="12098272" cy="76708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466" b="0" i="0" u="none" strike="noStrike" spc="-1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
</a:t>
            </a:r>
            <a:r>
              <a:rPr lang="en-US" altLang="ko-KR" sz="4000" dirty="0">
                <a:solidFill>
                  <a:srgbClr val="000000"/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ICE3B0365J </a:t>
            </a:r>
            <a:r>
              <a:rPr lang="ko-KR" altLang="en-US" sz="4000" dirty="0">
                <a:solidFill>
                  <a:srgbClr val="000000"/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선정</a:t>
            </a:r>
            <a:endParaRPr lang="en-US" altLang="ko-KR" sz="4000" dirty="0">
              <a:solidFill>
                <a:srgbClr val="000000"/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en-US" altLang="ko-KR" sz="40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내장</a:t>
            </a:r>
            <a:r>
              <a:rPr lang="en-US" altLang="ko-KR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MOSFET </a:t>
            </a:r>
            <a:r>
              <a:rPr lang="en-US" altLang="ko-KR" sz="40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기반</a:t>
            </a:r>
            <a:r>
              <a:rPr lang="en-US" altLang="ko-KR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0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스위칭</a:t>
            </a:r>
            <a:r>
              <a:rPr lang="en-US" altLang="ko-KR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0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제어</a:t>
            </a:r>
            <a:endParaRPr lang="en-US" altLang="ko-KR" sz="40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-Active Burst Mode </a:t>
            </a:r>
            <a:r>
              <a:rPr lang="en-US" altLang="ko-KR" sz="40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기능</a:t>
            </a:r>
            <a:r>
              <a:rPr lang="en-US" altLang="ko-KR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40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활용</a:t>
            </a:r>
            <a:endParaRPr lang="en-US" altLang="ko-KR" sz="40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-FREQUENCY JITTERING</a:t>
            </a: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4000" dirty="0">
              <a:solidFill>
                <a:srgbClr val="000000"/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dirty="0">
                <a:solidFill>
                  <a:srgbClr val="000000"/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공학적 실익</a:t>
            </a:r>
            <a:endParaRPr lang="en-US" altLang="ko-KR" sz="4000" dirty="0">
              <a:solidFill>
                <a:srgbClr val="000000"/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dirty="0">
                <a:solidFill>
                  <a:srgbClr val="000000"/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ko-KR" altLang="en-US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설계하고자 하는 전원공급장치의 정격은 </a:t>
            </a:r>
            <a:r>
              <a:rPr lang="en-US" altLang="ko-KR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12W(5V/2.35A)</a:t>
            </a:r>
          </a:p>
          <a:p>
            <a:pPr lv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입니다</a:t>
            </a:r>
            <a:r>
              <a:rPr lang="en-US" altLang="ko-KR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. QR VALLY(</a:t>
            </a:r>
            <a:r>
              <a:rPr lang="ko-KR" altLang="en-US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부하 상태에 따른 가변주파수</a:t>
            </a:r>
            <a:r>
              <a:rPr lang="en-US" altLang="ko-KR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 </a:t>
            </a:r>
            <a:r>
              <a:rPr lang="ko-KR" altLang="en-US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방식을 사용해서 효율을 </a:t>
            </a:r>
            <a:r>
              <a:rPr lang="en-US" altLang="ko-KR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5</a:t>
            </a:r>
            <a:r>
              <a:rPr lang="ko-KR" altLang="en-US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프로 올려도 실제전력은 </a:t>
            </a:r>
            <a:r>
              <a:rPr lang="en-US" altLang="ko-KR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0.88W</a:t>
            </a:r>
            <a:r>
              <a:rPr lang="ko-KR" altLang="en-US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를 절감합니다</a:t>
            </a:r>
            <a:r>
              <a:rPr lang="en-US" altLang="ko-KR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. </a:t>
            </a:r>
            <a:r>
              <a:rPr lang="ko-KR" altLang="en-US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하지만 이를 위해 추가되는 부품 원가와 회로 면적</a:t>
            </a:r>
            <a:r>
              <a:rPr lang="en-US" altLang="ko-KR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, </a:t>
            </a:r>
            <a:r>
              <a:rPr lang="ko-KR" altLang="en-US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설계 리스크의 증가분을 </a:t>
            </a:r>
            <a:r>
              <a:rPr lang="ko-KR" altLang="en-US" sz="40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고려했을때</a:t>
            </a:r>
            <a:r>
              <a:rPr lang="ko-KR" altLang="en-US" sz="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상시 사용하는 전력공급장치에 기용하기에는 부적합하다고 판단하였습니다</a:t>
            </a:r>
            <a:endParaRPr lang="en-US" altLang="ko-KR" sz="40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4000" dirty="0">
              <a:solidFill>
                <a:srgbClr val="000000"/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dirty="0">
                <a:solidFill>
                  <a:srgbClr val="000000"/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</a:p>
          <a:p>
            <a:pPr lvl="0" algn="l">
              <a:lnSpc>
                <a:spcPct val="99600"/>
              </a:lnSpc>
            </a:pPr>
            <a:br>
              <a:rPr lang="en-US" sz="28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endParaRPr lang="en-US" sz="2800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42E82DE1-EA97-C5E6-1FE8-AFDC4FD2B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211552" y="7884036"/>
            <a:ext cx="9194800" cy="1143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0AA255F-24AA-4AD2-2A32-C112A2929C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492" y="3225476"/>
            <a:ext cx="10628408" cy="513524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00CCA48-1E62-46C0-1CBE-C48F01B2328F}"/>
              </a:ext>
            </a:extLst>
          </p:cNvPr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6969720" y="8625261"/>
            <a:ext cx="4136225" cy="373052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69858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C79E0-DBC2-4B25-14B6-55015D2D4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148B054-B3DC-BEA3-01F2-91D2D86B80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BE1FB9E-FCBF-8272-F7C0-7EA796DD894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1CF039E-BA19-D4AF-C097-0A5624556F5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0CA6F23-1BC1-CCF3-FAB1-F0CBCFC45E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B70D5DFF-09E8-2637-7A04-5CA585FE534F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시스템 설계 </a:t>
            </a:r>
            <a:r>
              <a:rPr lang="en-US" altLang="ko-KR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- 2  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A182AC7-0DEC-88E6-7B08-262E1F8E2172}"/>
              </a:ext>
            </a:extLst>
          </p:cNvPr>
          <p:cNvSpPr txBox="1"/>
          <p:nvPr/>
        </p:nvSpPr>
        <p:spPr>
          <a:xfrm>
            <a:off x="12182168" y="-184150"/>
            <a:ext cx="12098272" cy="76708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lvl="0">
              <a:defRPr/>
            </a:pPr>
            <a:r>
              <a:rPr lang="en-US" sz="3466" b="0" i="0" u="none" strike="noStrike" spc="-1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
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1.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진입 단계 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(Entering Active Burst Mode)</a:t>
            </a:r>
          </a:p>
          <a:p>
            <a:pPr lvl="0">
              <a:defRPr/>
            </a:pPr>
            <a:endParaRPr lang="en-US" altLang="ko-KR" sz="3200" b="1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171360" lvl="0" indent="-171360">
              <a:buFont typeface="Arial"/>
              <a:buChar char="•"/>
              <a:defRPr/>
            </a:pP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진입 조건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: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V</a:t>
            </a:r>
            <a:r>
              <a:rPr lang="en-US" altLang="ko-KR" sz="3200" b="1" i="1" baseline="-2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FB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&lt; 1.35V (C5 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비교기 감시선 돌파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</a:t>
            </a:r>
          </a:p>
          <a:p>
            <a:pPr lvl="0">
              <a:defRPr/>
            </a:pP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214200" lvl="0" indent="-214200">
              <a:buFont typeface="Arial"/>
              <a:buChar char="•"/>
              <a:defRPr/>
            </a:pP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동작 메커니즘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:</a:t>
            </a:r>
          </a:p>
          <a:p>
            <a:pPr lvl="0">
              <a:defRPr/>
            </a:pP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출력 부하 급감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→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출력 전압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V</a:t>
            </a:r>
            <a:r>
              <a:rPr lang="en-US" altLang="ko-KR" sz="3200" b="1" i="1" baseline="-2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OUT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상승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→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피드백 회로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(TL431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&amp;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en-US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포토커플러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작동</a:t>
            </a:r>
          </a:p>
          <a:p>
            <a:pPr lvl="0">
              <a:defRPr/>
            </a:pPr>
            <a:endParaRPr lang="ko-KR" altLang="en-US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V</a:t>
            </a:r>
            <a:r>
              <a:rPr lang="en-US" altLang="ko-KR" sz="3200" b="1" i="1" baseline="-2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FB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전압이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1.35V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미만으로 하락 후 일정 시간 유지 시 </a:t>
            </a:r>
            <a:r>
              <a:rPr lang="ko-KR" altLang="en-US" sz="32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무부하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상태로 확정 및 진입</a:t>
            </a:r>
            <a:endParaRPr lang="ko-KR" altLang="en-US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40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2.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en-US" sz="32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버스트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대기 동작 단계</a:t>
            </a:r>
            <a:endParaRPr lang="en-US" altLang="ko-KR" sz="3200" b="1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  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(Working in Active Burst Mode)</a:t>
            </a:r>
          </a:p>
          <a:p>
            <a:pPr lvl="0">
              <a:defRPr/>
            </a:pPr>
            <a:endParaRPr lang="en-US" altLang="ko-KR" sz="3200" b="1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214200" lvl="0" indent="-214200">
              <a:buFont typeface="Arial"/>
              <a:buChar char="•"/>
              <a:defRPr/>
            </a:pP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제어 범위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: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3.00V ≤ 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V</a:t>
            </a:r>
            <a:r>
              <a:rPr lang="en-US" altLang="ko-KR" sz="3200" b="1" i="1" baseline="-2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FB</a:t>
            </a:r>
            <a:r>
              <a:rPr lang="en-US" altLang="ko-KR" sz="3200" b="1" baseline="-2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≤ 3.61V (C6a, C6b 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비교기 윈도우 제어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</a:t>
            </a:r>
          </a:p>
          <a:p>
            <a:pPr lvl="0">
              <a:defRPr/>
            </a:pP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214200" lvl="0" indent="-214200">
              <a:buFont typeface="Arial"/>
              <a:buChar char="•"/>
              <a:defRPr/>
            </a:pPr>
            <a:r>
              <a:rPr lang="ko-KR" altLang="en-US" sz="32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톱니파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(Sawtooth Wave) 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주기적 왕복 메커니즘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:</a:t>
            </a:r>
          </a:p>
          <a:p>
            <a:pPr lvl="0">
              <a:defRPr/>
            </a:pPr>
            <a:endParaRPr lang="en-US" altLang="ko-KR" sz="3200" b="1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상한 </a:t>
            </a:r>
            <a:r>
              <a:rPr lang="ko-KR" altLang="en-US" sz="32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임계값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V</a:t>
            </a:r>
            <a:r>
              <a:rPr lang="en-US" altLang="ko-KR" sz="3200" b="1" i="1" baseline="-2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FBBON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= 3.61V): 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스위칭 멈춤으로 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V</a:t>
            </a:r>
            <a:r>
              <a:rPr lang="en-US" altLang="ko-KR" sz="3200" b="1" i="1" baseline="-2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OUT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하락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→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   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V</a:t>
            </a:r>
            <a:r>
              <a:rPr lang="en-US" altLang="ko-KR" sz="3200" b="1" i="1" baseline="-2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FB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상한 도달 시 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간헐적 스위칭 재개 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에너지 공급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</a:t>
            </a:r>
          </a:p>
          <a:p>
            <a:pPr lvl="0">
              <a:defRPr/>
            </a:pPr>
            <a:endParaRPr lang="en-US" altLang="ko-KR" sz="3200" b="1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하한 </a:t>
            </a:r>
            <a:r>
              <a:rPr lang="ko-KR" altLang="en-US" sz="32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임계값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V</a:t>
            </a:r>
            <a:r>
              <a:rPr lang="en-US" altLang="ko-KR" sz="3200" b="1" i="1" baseline="-2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FBBOFF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= 3.00V): 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에너지 공급으로 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V</a:t>
            </a:r>
            <a:r>
              <a:rPr lang="en-US" altLang="ko-KR" sz="3200" b="1" i="1" baseline="-2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OUT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상승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→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   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V</a:t>
            </a:r>
            <a:r>
              <a:rPr lang="en-US" altLang="ko-KR" sz="3200" b="1" i="1" baseline="-2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FB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하한 도달 시 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스위칭 즉시 중단</a:t>
            </a:r>
          </a:p>
          <a:p>
            <a:pPr lvl="0">
              <a:defRPr/>
            </a:pPr>
            <a:endParaRPr lang="ko-KR" altLang="en-US" sz="3200" b="1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- 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기대 효과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: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대기 상태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IC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내부 소모 전류 최소화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(500μA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이하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 → </a:t>
            </a:r>
            <a:endParaRPr lang="en-US" altLang="ko-KR" sz="3200" b="1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   </a:t>
            </a:r>
            <a:r>
              <a:rPr lang="en-US" altLang="ko-KR" sz="32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대기전력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절감</a:t>
            </a:r>
            <a:endParaRPr lang="en-US" altLang="ko-KR" sz="40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l">
              <a:lnSpc>
                <a:spcPct val="99600"/>
              </a:lnSpc>
            </a:pPr>
            <a:br>
              <a:rPr lang="en-US" sz="28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endParaRPr lang="en-US" sz="2800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D6143154-82F4-0368-8E51-372D99BF9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520192" y="6725681"/>
            <a:ext cx="11434504" cy="142142"/>
          </a:xfrm>
          <a:prstGeom prst="rect">
            <a:avLst/>
          </a:prstGeom>
        </p:spPr>
      </p:pic>
      <p:pic>
        <p:nvPicPr>
          <p:cNvPr id="12" name="내용 개체 틀 4">
            <a:extLst>
              <a:ext uri="{FF2B5EF4-FFF2-40B4-BE49-F238E27FC236}">
                <a16:creationId xmlns:a16="http://schemas.microsoft.com/office/drawing/2014/main" id="{330416A3-D692-8A81-7618-375E7DE818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2235" y="2541951"/>
            <a:ext cx="7581901" cy="10798467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DF3ED6DB-64B7-8187-261C-3A373951E3B6}"/>
              </a:ext>
            </a:extLst>
          </p:cNvPr>
          <p:cNvSpPr/>
          <p:nvPr/>
        </p:nvSpPr>
        <p:spPr>
          <a:xfrm>
            <a:off x="2624454" y="11174049"/>
            <a:ext cx="887608" cy="800331"/>
          </a:xfrm>
          <a:prstGeom prst="ellipse">
            <a:avLst/>
          </a:prstGeom>
          <a:noFill/>
          <a:ln w="38100">
            <a:solidFill>
              <a:schemeClr val="accent2">
                <a:shade val="95000"/>
                <a:satMod val="105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14" name="화살표 10">
            <a:extLst>
              <a:ext uri="{FF2B5EF4-FFF2-40B4-BE49-F238E27FC236}">
                <a16:creationId xmlns:a16="http://schemas.microsoft.com/office/drawing/2014/main" id="{89D67552-5F19-38DA-0BD5-1FFF682EFD0C}"/>
              </a:ext>
            </a:extLst>
          </p:cNvPr>
          <p:cNvCxnSpPr>
            <a:cxnSpLocks/>
          </p:cNvCxnSpPr>
          <p:nvPr/>
        </p:nvCxnSpPr>
        <p:spPr>
          <a:xfrm flipV="1">
            <a:off x="3560697" y="7941184"/>
            <a:ext cx="7875039" cy="3494820"/>
          </a:xfrm>
          <a:prstGeom prst="straightConnector1">
            <a:avLst/>
          </a:prstGeom>
          <a:ln w="19050">
            <a:solidFill>
              <a:schemeClr val="accent2">
                <a:shade val="95000"/>
                <a:satMod val="105000"/>
              </a:schemeClr>
            </a:solidFill>
            <a:headEnd w="med" len="med"/>
            <a:tailEnd type="arrow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AA7F3620-17B1-D665-6FF5-0C7F1F7EA599}"/>
              </a:ext>
            </a:extLst>
          </p:cNvPr>
          <p:cNvSpPr/>
          <p:nvPr/>
        </p:nvSpPr>
        <p:spPr>
          <a:xfrm>
            <a:off x="2559702" y="10533561"/>
            <a:ext cx="887608" cy="400165"/>
          </a:xfrm>
          <a:prstGeom prst="ellipse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16" name="화살표 15">
            <a:extLst>
              <a:ext uri="{FF2B5EF4-FFF2-40B4-BE49-F238E27FC236}">
                <a16:creationId xmlns:a16="http://schemas.microsoft.com/office/drawing/2014/main" id="{6F561F0C-30C1-B8B6-28F4-DE90E9A7841B}"/>
              </a:ext>
            </a:extLst>
          </p:cNvPr>
          <p:cNvCxnSpPr>
            <a:cxnSpLocks/>
            <a:endCxn id="15" idx="7"/>
          </p:cNvCxnSpPr>
          <p:nvPr/>
        </p:nvCxnSpPr>
        <p:spPr>
          <a:xfrm flipH="1">
            <a:off x="3317323" y="3343785"/>
            <a:ext cx="8219714" cy="7248379"/>
          </a:xfrm>
          <a:prstGeom prst="straightConnector1">
            <a:avLst/>
          </a:prstGeom>
          <a:ln w="1905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130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E6B51-AD17-19C2-658D-2BD6394E2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7E38FB6-434B-DBAA-C726-B174E90A80B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1DA7E16-B9E4-9E41-515A-CC6142CF27E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2B136BD-E1AF-E0EC-804F-60480C49152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B1B3D40-C825-A979-9C65-474C59EF14E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790501C-8558-BCF9-4C57-72D4DDD70141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시스템 설계 </a:t>
            </a:r>
            <a:r>
              <a:rPr lang="en-US" altLang="ko-KR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- 3  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0F236D-0167-3830-BC38-EB6DE592C71C}"/>
              </a:ext>
            </a:extLst>
          </p:cNvPr>
          <p:cNvSpPr txBox="1"/>
          <p:nvPr/>
        </p:nvSpPr>
        <p:spPr>
          <a:xfrm>
            <a:off x="12343770" y="3160328"/>
            <a:ext cx="12098272" cy="76708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lvl="0">
              <a:defRPr/>
            </a:pPr>
            <a:r>
              <a:rPr lang="en-US" sz="3466" b="0" i="0" u="none" strike="noStrike" spc="-1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
</a:t>
            </a:r>
            <a:r>
              <a:rPr lang="en-US" altLang="ko-KR" sz="36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3. </a:t>
            </a:r>
            <a:r>
              <a:rPr lang="en-US" altLang="ko-KR" sz="36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정상</a:t>
            </a:r>
            <a:r>
              <a:rPr lang="en-US" altLang="ko-KR" sz="36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모드</a:t>
            </a:r>
            <a:r>
              <a:rPr lang="en-US" altLang="ko-KR" sz="36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탈출</a:t>
            </a:r>
            <a:r>
              <a:rPr lang="en-US" altLang="ko-KR" sz="36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단계</a:t>
            </a:r>
            <a:r>
              <a:rPr lang="en-US" altLang="ko-KR" sz="36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(Leaving Active Burst Mode)</a:t>
            </a:r>
          </a:p>
          <a:p>
            <a:pPr lvl="0">
              <a:defRPr/>
            </a:pPr>
            <a:endParaRPr lang="en-US" altLang="ko-KR" sz="3600" b="1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171360" lvl="0" indent="-171360">
              <a:buFont typeface="Arial"/>
              <a:buChar char="•"/>
              <a:defRPr/>
            </a:pPr>
            <a:r>
              <a:rPr lang="en-US" altLang="ko-KR" sz="32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탈출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조건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: V</a:t>
            </a:r>
            <a:r>
              <a:rPr lang="en-US" altLang="ko-KR" sz="3200" b="1" i="1" baseline="-2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FB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&gt; 4.50V (C4 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비교기 감시선 돌파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</a:t>
            </a:r>
          </a:p>
          <a:p>
            <a:pPr lvl="0">
              <a:defRPr/>
            </a:pP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marL="171360" lvl="0" indent="-171360">
              <a:buFont typeface="Arial"/>
              <a:buChar char="•"/>
              <a:defRPr/>
            </a:pP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동작 메커니즘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:</a:t>
            </a:r>
          </a:p>
          <a:p>
            <a:pPr lvl="0">
              <a:defRPr/>
            </a:pPr>
            <a:endParaRPr lang="en-US" altLang="ko-KR" sz="3200" b="1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부하 급증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→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전류 제한 </a:t>
            </a:r>
            <a:r>
              <a:rPr lang="ko-KR" altLang="en-US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클램핑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V</a:t>
            </a:r>
            <a:r>
              <a:rPr lang="en-US" altLang="ko-KR" sz="3200" b="1" i="1" baseline="-2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CS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= 0.32V)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으로 인한 출력 전력 부족</a:t>
            </a:r>
          </a:p>
          <a:p>
            <a:pPr lvl="0">
              <a:defRPr/>
            </a:pPr>
            <a:endParaRPr lang="ko-KR" altLang="en-US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V</a:t>
            </a:r>
            <a:r>
              <a:rPr lang="en-US" altLang="ko-KR" sz="3200" b="1" i="1" baseline="-240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FB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전압이 탈출 </a:t>
            </a:r>
            <a:r>
              <a:rPr lang="ko-KR" altLang="en-US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임계값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4.50V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를 돌파하는 즉시 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대기 모드 해제</a:t>
            </a:r>
          </a:p>
          <a:p>
            <a:pPr lvl="0">
              <a:defRPr/>
            </a:pPr>
            <a:endParaRPr lang="ko-KR" altLang="en-US" sz="3200" b="1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정상 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PWM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모드</a:t>
            </a:r>
            <a:r>
              <a:rPr lang="en-US" altLang="ko-KR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(Normal Mode)</a:t>
            </a:r>
            <a:r>
              <a:rPr lang="ko-KR" altLang="en-US" sz="32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로 즉각 복귀</a:t>
            </a: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하여 정격 전력 공급</a:t>
            </a:r>
            <a:endParaRPr lang="ko-KR" altLang="en-US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l">
              <a:lnSpc>
                <a:spcPct val="99600"/>
              </a:lnSpc>
            </a:pPr>
            <a:br>
              <a:rPr lang="en-US" sz="2800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</a:br>
            <a:endParaRPr lang="en-US" sz="2800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94A2CA76-30BB-D9C5-19DF-8BC0AD3250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948972" y="7884034"/>
            <a:ext cx="9194800" cy="114300"/>
          </a:xfrm>
          <a:prstGeom prst="rect">
            <a:avLst/>
          </a:prstGeom>
        </p:spPr>
      </p:pic>
      <p:pic>
        <p:nvPicPr>
          <p:cNvPr id="12" name="내용 개체 틀 4">
            <a:extLst>
              <a:ext uri="{FF2B5EF4-FFF2-40B4-BE49-F238E27FC236}">
                <a16:creationId xmlns:a16="http://schemas.microsoft.com/office/drawing/2014/main" id="{C9EAA62E-E1B9-4C9F-73CB-1E05AA015B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2235" y="2541951"/>
            <a:ext cx="7581901" cy="10798467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7727D95C-9E68-0B85-23A4-0BFE1C75F900}"/>
              </a:ext>
            </a:extLst>
          </p:cNvPr>
          <p:cNvSpPr/>
          <p:nvPr/>
        </p:nvSpPr>
        <p:spPr>
          <a:xfrm>
            <a:off x="2578862" y="9901583"/>
            <a:ext cx="887608" cy="400165"/>
          </a:xfrm>
          <a:prstGeom prst="ellipse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16" name="화살표 15">
            <a:extLst>
              <a:ext uri="{FF2B5EF4-FFF2-40B4-BE49-F238E27FC236}">
                <a16:creationId xmlns:a16="http://schemas.microsoft.com/office/drawing/2014/main" id="{5CB5DC98-761F-CD68-9CFC-7068F1D22B1A}"/>
              </a:ext>
            </a:extLst>
          </p:cNvPr>
          <p:cNvCxnSpPr>
            <a:cxnSpLocks/>
          </p:cNvCxnSpPr>
          <p:nvPr/>
        </p:nvCxnSpPr>
        <p:spPr>
          <a:xfrm flipH="1">
            <a:off x="3466470" y="2711807"/>
            <a:ext cx="8089727" cy="7189776"/>
          </a:xfrm>
          <a:prstGeom prst="straightConnector1">
            <a:avLst/>
          </a:prstGeom>
          <a:ln w="19050">
            <a:solidFill>
              <a:schemeClr val="accent1">
                <a:shade val="95000"/>
                <a:satMod val="10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561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EB85B-67F4-342F-453C-D5F8FEC51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7C8AE82-7BB0-88E5-7005-AF6B98BF3BC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EAA6667-E6C6-8AC6-C0DA-2FBA71CC181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1C3885F-2F8D-4CD1-4816-A2AEBE9F05F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4F418DB-D622-F645-9D09-86826086C80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FB4D6C02-A1C9-7C89-7F89-B115CAFC26CB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시스템 설계 </a:t>
            </a:r>
            <a:r>
              <a:rPr lang="en-US" altLang="ko-KR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- 4 – </a:t>
            </a: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블록 다이어그램</a:t>
            </a:r>
            <a:r>
              <a:rPr lang="en-US" altLang="ko-KR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 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0C811D7-9777-AE79-D65E-95CE34B6F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7539" y="3632200"/>
            <a:ext cx="19933322" cy="789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363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663C4-FC3A-DC7D-C035-A5F1A1BD7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FD252CC-AB45-613F-D6FA-125EC584BCF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952FE11-A82C-27D2-A2F4-B85CE4907CF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EE16EEC-E40E-E6C7-3FD3-AB3C0D2EE0E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F3FB99AD-79DF-A435-1231-FCF0B0CA1D5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14AAAF3B-291C-0CCF-2698-0F976E389294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시스템 설계 </a:t>
            </a:r>
            <a:r>
              <a:rPr lang="en-US" altLang="ko-KR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- 5 – KICAD </a:t>
            </a: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를 이용한 회로도 설계</a:t>
            </a:r>
            <a:r>
              <a:rPr lang="en-US" altLang="ko-KR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 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F2B064-24CC-EA13-43DB-66C88B87A721}"/>
              </a:ext>
            </a:extLst>
          </p:cNvPr>
          <p:cNvPicPr/>
          <p:nvPr/>
        </p:nvPicPr>
        <p:blipFill rotWithShape="1">
          <a:blip r:embed="rId5"/>
          <a:stretch>
            <a:fillRect/>
          </a:stretch>
        </p:blipFill>
        <p:spPr>
          <a:xfrm>
            <a:off x="4140749" y="3059637"/>
            <a:ext cx="15086502" cy="9958926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96543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43858-4820-4781-1386-60A478EF5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8FAA904-6A71-9DC6-3107-9D0802CFCD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2A38C55-0893-F930-0EA8-DBD4AB8A21E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DA0A9D9-13F7-46E2-3A65-773F0354261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5269499-9010-7BC7-B0A9-257E50A1B85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1B94381B-8761-6A80-1733-242DAB97C886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시스템 설계 </a:t>
            </a:r>
            <a:r>
              <a:rPr lang="en-US" altLang="ko-KR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-6 - LAYOUT 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8F023C5-D8E7-F224-B0BE-583CFA90F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2784" y="3574685"/>
            <a:ext cx="9961066" cy="783844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745FA66-708B-5550-3230-1E76E0AEB2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68400" y="2881677"/>
            <a:ext cx="7844971" cy="922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132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33134-EA15-D96C-2AF3-044F21FFB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01FA0F5-1FBE-BF84-97CE-731C1E4053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A56EE14-B07E-CCC8-8E4E-AFD493F4EBB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3CBA7C0-5C03-5E5D-312F-D287E8310D0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9A9D0F4B-D247-ACB7-705C-7D500C9BE35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8550173" y="-6535891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5987A3BD-3310-CDC4-5D57-3EE57CD8B9C2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성능 검증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6393A49-FA15-7788-9148-D79F77227CD8}"/>
              </a:ext>
            </a:extLst>
          </p:cNvPr>
          <p:cNvSpPr txBox="1"/>
          <p:nvPr/>
        </p:nvSpPr>
        <p:spPr>
          <a:xfrm>
            <a:off x="9320937" y="3137586"/>
            <a:ext cx="12098272" cy="76708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1차 PCB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출력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전압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: 약 5.027~5.028V</a:t>
            </a: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defRPr/>
            </a:pP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동작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검증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무부하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및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부하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조건에서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출력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전압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유지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FB 핀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전압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측정을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통해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IC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동작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상태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확인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Active Burst Mode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동작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확인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ko-KR" altLang="en-US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하지만 여러 번의 기동 과정에서 보드 뒷면에서의 단락으로 인해 절연파괴 및 퓨즈 작동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7C89C254-6D2B-0D27-26A1-77E8BE65C4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304729" y="7405674"/>
            <a:ext cx="9194800" cy="1143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388BD7F-BCA1-03EF-AFB5-B7731F7C2C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9418" y="3137586"/>
            <a:ext cx="4972123" cy="865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51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E30FB-8DDD-9FC3-B975-09CE9E076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4E21C70-1CF7-A7D0-C2E3-A3D6261C0D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F75A3DD-5808-6A94-CA74-C753A487E0A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BD820617-E37E-2595-7AE7-40BDED7E3D2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34138B9-C7E6-6AEB-D9DC-C141C023258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8550173" y="-6535891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607387E-8283-E431-6507-B3EA77EFE839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개선 및 재설계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7A2876C-0CA5-1A89-B147-B65971C2E8AD}"/>
              </a:ext>
            </a:extLst>
          </p:cNvPr>
          <p:cNvSpPr txBox="1"/>
          <p:nvPr/>
        </p:nvSpPr>
        <p:spPr>
          <a:xfrm>
            <a:off x="14160874" y="3457372"/>
            <a:ext cx="12098272" cy="76708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lvl="0">
              <a:defRPr/>
            </a:pP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PCB </a:t>
            </a:r>
            <a:r>
              <a:rPr lang="ko-KR" altLang="en-US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재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설</a:t>
            </a:r>
            <a:r>
              <a:rPr lang="ko-KR" altLang="en-US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계 시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고려사항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고전압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영역과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저전압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영역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분리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절연거리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확보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고전류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경로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패턴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폭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확대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발열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소자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주변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동박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면적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확보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-Bypass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Capacitor를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IC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근처에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배치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>
              <a:defRPr/>
            </a:pP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노이즈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루프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면적</a:t>
            </a:r>
            <a:r>
              <a:rPr lang="en-US" altLang="ko-KR" sz="36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6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최소화</a:t>
            </a:r>
            <a:endParaRPr lang="en-US" altLang="ko-KR" sz="36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E8355F7D-B53D-5EB1-A5CF-45C0E7EFD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785100" y="6521450"/>
            <a:ext cx="9194800" cy="1143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DD29267-CEF8-072B-FDC6-DF8B1362CF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2955207"/>
            <a:ext cx="8832096" cy="352010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8B7C999-7D99-7939-78C7-2B4BC9CA4FA0}"/>
              </a:ext>
            </a:extLst>
          </p:cNvPr>
          <p:cNvPicPr/>
          <p:nvPr/>
        </p:nvPicPr>
        <p:blipFill rotWithShape="1">
          <a:blip r:embed="rId7"/>
          <a:stretch>
            <a:fillRect/>
          </a:stretch>
        </p:blipFill>
        <p:spPr>
          <a:xfrm rot="10800000">
            <a:off x="1410078" y="9738708"/>
            <a:ext cx="9063342" cy="33401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DD37120-949E-D730-9A23-B16AF52B6F6E}"/>
              </a:ext>
            </a:extLst>
          </p:cNvPr>
          <p:cNvPicPr/>
          <p:nvPr/>
        </p:nvPicPr>
        <p:blipFill rotWithShape="1">
          <a:blip r:embed="rId8"/>
          <a:stretch>
            <a:fillRect/>
          </a:stretch>
        </p:blipFill>
        <p:spPr>
          <a:xfrm>
            <a:off x="2740201" y="6656653"/>
            <a:ext cx="6127948" cy="273556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39941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B8E87-B89F-A195-8A92-4FD5AD088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9B66AB3-8CA4-D8F0-851F-C9D0181606A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5AF972A-E74D-81CF-317E-C5C3DACC23D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3B0F91B-EB9A-0F50-32A3-D4070071086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AA83348-66D8-E6AA-5497-9F201D49DEA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9886072" y="-6954462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0B1B00B6-9A4F-C0DB-B7BE-9CB706C53099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성능 검증 </a:t>
            </a:r>
            <a:r>
              <a:rPr lang="en-US" altLang="ko-KR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- 2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CDECF0A-F752-5817-BC67-AFC076F04370}"/>
              </a:ext>
            </a:extLst>
          </p:cNvPr>
          <p:cNvSpPr txBox="1"/>
          <p:nvPr/>
        </p:nvSpPr>
        <p:spPr>
          <a:xfrm>
            <a:off x="11743564" y="462429"/>
            <a:ext cx="12098272" cy="7670800"/>
          </a:xfrm>
          <a:prstGeom prst="rect">
            <a:avLst/>
          </a:prstGeom>
        </p:spPr>
        <p:txBody>
          <a:bodyPr lIns="0" tIns="44027" rIns="0" bIns="0" rtlCol="0" anchor="t"/>
          <a:lstStyle/>
          <a:p>
            <a:pPr lvl="0" algn="just">
              <a:lnSpc>
                <a:spcPct val="160000"/>
              </a:lnSpc>
              <a:defRPr/>
            </a:pPr>
            <a:r>
              <a:rPr lang="EN-US" altLang="ko-KR" sz="3200" b="1" dirty="0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-1차 PCB </a:t>
            </a:r>
            <a:r>
              <a:rPr lang="EN-US" altLang="ko-KR" sz="3200" b="1" dirty="0" err="1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분석</a:t>
            </a:r>
            <a:endParaRPr lang="EN-US" altLang="ko-KR" sz="3200" b="1" dirty="0">
              <a:solidFill>
                <a:schemeClr val="tx2">
                  <a:lumMod val="50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출력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전압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형성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성공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일부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리플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및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노이즈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영향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확인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PCB Layout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개선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필요성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도출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절연 보강 필요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3200" dirty="0">
              <a:solidFill>
                <a:srgbClr val="000000"/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defRPr/>
            </a:pPr>
            <a:r>
              <a:rPr lang="en-US" altLang="ko-KR" sz="3200" b="1" dirty="0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-2차 PCB </a:t>
            </a:r>
            <a:r>
              <a:rPr lang="en-US" altLang="ko-KR" sz="3200" b="1" dirty="0" err="1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개선</a:t>
            </a:r>
            <a:r>
              <a:rPr lang="en-US" altLang="ko-KR" sz="3200" b="1" dirty="0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b="1" dirty="0" err="1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효과</a:t>
            </a:r>
            <a:endParaRPr lang="en-US" altLang="ko-KR" sz="3200" b="1" dirty="0">
              <a:solidFill>
                <a:schemeClr val="tx2">
                  <a:lumMod val="50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고주파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대전류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루프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면적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감소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출력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필터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및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배치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구조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보완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출력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전압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변동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감소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회로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안정성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향상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3200" dirty="0">
              <a:solidFill>
                <a:srgbClr val="000000"/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defRPr/>
            </a:pPr>
            <a:r>
              <a:rPr lang="en-US" altLang="ko-KR" sz="3200" dirty="0">
                <a:solidFill>
                  <a:srgbClr val="000000"/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en-US" altLang="ko-KR" sz="3200" b="1" dirty="0" err="1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종합</a:t>
            </a:r>
            <a:r>
              <a:rPr lang="en-US" altLang="ko-KR" sz="3200" b="1" dirty="0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b="1" dirty="0" err="1">
                <a:solidFill>
                  <a:schemeClr val="tx2">
                    <a:lumMod val="50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분석</a:t>
            </a:r>
            <a:endParaRPr lang="en-US" altLang="ko-KR" sz="3200" b="1" dirty="0">
              <a:solidFill>
                <a:schemeClr val="tx2">
                  <a:lumMod val="50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부품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선정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및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회로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구성에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따라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최종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출력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사양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형성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설계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변경을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통해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출력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안정성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개선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pPr lv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플라이백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SMPS의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설계·제작·검증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과정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수행</a:t>
            </a:r>
            <a:r>
              <a:rPr lang="en-US" altLang="ko-KR" sz="32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32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완료</a:t>
            </a:r>
            <a:endParaRPr lang="en-US" altLang="ko-KR" sz="32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77C3A86-6ADD-D708-CFB8-DD867BF3D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378136" y="7170819"/>
            <a:ext cx="9194800" cy="1143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D651525-A121-E39B-0E12-D320A56ACC66}"/>
              </a:ext>
            </a:extLst>
          </p:cNvPr>
          <p:cNvPicPr/>
          <p:nvPr/>
        </p:nvPicPr>
        <p:blipFill rotWithShape="1">
          <a:blip r:embed="rId6"/>
          <a:stretch>
            <a:fillRect/>
          </a:stretch>
        </p:blipFill>
        <p:spPr>
          <a:xfrm>
            <a:off x="542164" y="3219733"/>
            <a:ext cx="10105908" cy="747479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7CEF54D-6A1E-0F78-168A-746106F938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21200" y="4905443"/>
            <a:ext cx="3220254" cy="474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661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동작 시연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0EB09C3-D15F-9B8F-5EF7-2E164B58CD11}"/>
              </a:ext>
            </a:extLst>
          </p:cNvPr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3594649" y="2695503"/>
            <a:ext cx="15086502" cy="9958926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DC28D-CC6F-800D-D1E3-285E63D1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A9CC802-94B2-B258-6711-977B1B0CDF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7681F25-00B4-6D3A-6D18-4AABCF76EE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3A5FF7BC-CB24-B59C-580F-1DB77E0609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1F5C4784-A1C5-B78F-CF91-F781FFCC11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2014200" y="-6756400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58CE730B-02D1-227E-74B5-11F2B352FFA7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부하 검증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76B64F8-1EB0-C4E0-99CE-096E7FD40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253" y="5257800"/>
            <a:ext cx="8931660" cy="32004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B0035B1-2151-BB4B-ADE8-E0E64F27B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5863" y="1614922"/>
            <a:ext cx="6604114" cy="11006855"/>
          </a:xfrm>
          <a:prstGeom prst="rect">
            <a:avLst/>
          </a:prstGeom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91F989C8-2827-5184-08F4-D8F06D5B50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976813" y="7512050"/>
            <a:ext cx="91948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35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75AA-2079-8DE2-3FAE-08EEABE76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82EA9AF-A925-4F7F-8F2F-9C610191E0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CE550D6-F308-23BD-315F-19A5092220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7C1466E-DE20-2608-4C55-476CAFA33C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067E62D7-E74D-D390-78FA-B64CCECB01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2192000" y="-6756400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7142274-18E6-26AD-56F9-25F535533EC0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ACTIVE</a:t>
            </a:r>
            <a:r>
              <a:rPr lang="ko-KR" altLang="en-US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 </a:t>
            </a:r>
            <a:r>
              <a:rPr lang="en-US" altLang="ko-KR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BURST MODE </a:t>
            </a:r>
            <a:r>
              <a:rPr lang="ko-KR" altLang="en-US" sz="7733" b="0" i="0" u="none" strike="noStrike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우회 검증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89B115-51CD-DBCE-B8CD-1B46166211CD}"/>
              </a:ext>
            </a:extLst>
          </p:cNvPr>
          <p:cNvSpPr txBox="1"/>
          <p:nvPr/>
        </p:nvSpPr>
        <p:spPr>
          <a:xfrm>
            <a:off x="5638800" y="3773686"/>
            <a:ext cx="18467707" cy="769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① </a:t>
            </a:r>
            <a:r>
              <a:rPr lang="ko-KR" altLang="ko-KR" sz="28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무부하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상태에서 3.29</a:t>
            </a:r>
            <a:r>
              <a:rPr lang="en-US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V 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: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제어 IC(ICE3B0365J)는 대기 모드(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Active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Burst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Mode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 중에 피드백 전압을 </a:t>
            </a:r>
            <a:r>
              <a:rPr lang="en-US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3.00 ~3.61V 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사이로 빠르게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진동시키는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톱니파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Sawtooth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Wave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)를 만듭니다.</a:t>
            </a:r>
          </a:p>
          <a:p>
            <a:r>
              <a:rPr lang="ko-KR" altLang="ko-KR" sz="28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멀티미터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(DMM)의 한계와 실측: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우리가 쓰는 일반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멀티미터는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이 초고속 진동 파형을 실시간으로 다 보여주지 못하고, 그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중간값인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평균값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을 계산해서 화면에 보여줍니다.</a:t>
            </a:r>
          </a:p>
          <a:p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이론적 평균</a:t>
            </a:r>
            <a:r>
              <a:rPr lang="ko-KR" altLang="en-US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값</a:t>
            </a:r>
            <a:r>
              <a:rPr lang="en-US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= 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en-US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3.00</a:t>
            </a:r>
            <a:r>
              <a:rPr lang="en-US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+ 3.61 </a:t>
            </a:r>
            <a:r>
              <a:rPr lang="en-US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 /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{2} = 3.305</a:t>
            </a:r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r>
              <a:rPr lang="ko-KR" altLang="ko-KR" sz="28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결론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무부하에서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측정</a:t>
            </a:r>
            <a:r>
              <a:rPr lang="ko-KR" altLang="en-US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한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3.29V는 오차범위  0.0</a:t>
            </a:r>
            <a:r>
              <a:rPr lang="en-US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1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V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미만으로 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이론적 평균값인 3.30V와 완벽하게 일치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합니다</a:t>
            </a:r>
            <a:r>
              <a:rPr lang="en-US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.</a:t>
            </a:r>
          </a:p>
          <a:p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즉, 무부하일 때 대기 모드로 들어가 있었다는 뜻입니다.</a:t>
            </a:r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endParaRPr lang="ko-KR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② 팬을 연결했을 때 3.39V로 전압이 상승하며 팬이 도는 이유</a:t>
            </a:r>
          </a:p>
          <a:p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이론적 배경: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대기 모드를 탈출한 정상 구동 모드(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Normal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PWM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Mode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)에서는 피드백(FB) 전압이 더 이상 진동하지 않고, </a:t>
            </a:r>
            <a:r>
              <a:rPr lang="ko-KR" altLang="ko-KR" sz="28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출력단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부하 크기에 비례하는 고정된 직류(DC) 전압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이 됩니다.</a:t>
            </a:r>
          </a:p>
          <a:p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전류 요구량에 따른 피드백 조정: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아무것도 안 꽂았을 때는 전력이 필요 없지만, 0.45A짜리 팬을 돌리려면 전원장치가 변압기를 통해 더 많은 에너지를 밀어주어야 합니다. 이를 위해 피드백 회로는 V_FB 전압을 기존보다 높여서 스위칭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듀티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Duty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)를 늘립니다.</a:t>
            </a:r>
          </a:p>
          <a:p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결론: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진동하던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톱니파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평균값</a:t>
            </a:r>
            <a:r>
              <a:rPr lang="en-US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3.29V을 깨뜨리고, 0.45A라는 실물 부하를 안정적으로 돌리기 위해 피드백 루프가 제어 전압을 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안정적인 직류 3.39V로 정밀하게 끌어올려 고정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시킨 것입니다.</a:t>
            </a:r>
          </a:p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5DB61C5-8958-949F-75D7-FA9A106FE438}"/>
              </a:ext>
            </a:extLst>
          </p:cNvPr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558282" y="3877668"/>
            <a:ext cx="4136225" cy="373052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88276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0379177" y="-3053326"/>
            <a:ext cx="13639800" cy="13614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7733" b="0" i="0" u="none" strike="noStrike" spc="-10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실험 결과 및 검증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783FDE5-708B-4005-DC51-D68BADB2E807}"/>
              </a:ext>
            </a:extLst>
          </p:cNvPr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895350" y="3831342"/>
            <a:ext cx="8153401" cy="550516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32775D-6634-3295-F1D7-3883E114EDBC}"/>
              </a:ext>
            </a:extLst>
          </p:cNvPr>
          <p:cNvSpPr txBox="1"/>
          <p:nvPr/>
        </p:nvSpPr>
        <p:spPr>
          <a:xfrm>
            <a:off x="10763251" y="3125894"/>
            <a:ext cx="11963400" cy="8125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1차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PCB가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목표치인 5V보다 다소 높은 전압에 치우쳐 있었다면, 2차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PCB는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오차율 단 0.03% 수준으로 5V </a:t>
            </a:r>
            <a:r>
              <a:rPr lang="ko-KR" altLang="ko-KR" sz="28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목표값에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극도로 정밀하게 근사하는 전압 특성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을 보여주었습니다. 결과적으로 저희가 목표했던 </a:t>
            </a:r>
            <a:r>
              <a:rPr lang="ko-KR" altLang="en-US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출력 리플 감소를 통한 효율 개선</a:t>
            </a:r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endParaRPr lang="ko-KR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여기서 1차에 비해 2차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PCB의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전압이 다소 낮아지며 5V 타깃에 더 정확히 안착하게 된 공학적 요인을 유추해 보았습니다. </a:t>
            </a:r>
            <a:r>
              <a:rPr lang="ko-KR" altLang="en-US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저희는 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피드백 루프(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Feedback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Loop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)의 노이즈 차단과 기생 성분 감소에 </a:t>
            </a:r>
            <a:r>
              <a:rPr lang="ko-KR" altLang="en-US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주목했습니다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.</a:t>
            </a:r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endParaRPr lang="ko-KR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1차 레이아웃에서는 고전압 스위칭 노이즈가 출력 피드백 선로(TL431 및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포토커플러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주변)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에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커플링되면서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, 피드백 전압 신호가 미세하게 왜곡되었을 가능성이 큽니다.</a:t>
            </a:r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이로 인해 제어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IC가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출력 전압이 낮다고 오판하여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듀티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Duty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)를 불필요하게 늘렸고, 결과적으로 5V보다 다소 높은 5.027V가 출력되었던 것입니다.</a:t>
            </a:r>
          </a:p>
          <a:p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반면, 2차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PCB에서는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바이패스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커패시터를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IC 근처에 전면 배치하고 노이즈 루프 면적을 최소화함으로써, 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피드백 회로가 노이즈의 간섭 없이 순수한 출력 전압을 정확하게 계측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할 수 있게 되었습니다. 결과적으로 제어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IC가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정밀한 피드백을 받아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듀티를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최적 제어했고, 목표 전압인 5V에 완벽히 근사하는 안정적인 출력을 형성할 수 있었</a:t>
            </a:r>
            <a:r>
              <a:rPr lang="ko-KR" altLang="en-US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다고 생각합니다</a:t>
            </a:r>
            <a:endParaRPr lang="ko-KR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endParaRPr lang="ko-KR" altLang="en-US" dirty="0"/>
          </a:p>
        </p:txBody>
      </p:sp>
      <p:pic>
        <p:nvPicPr>
          <p:cNvPr id="15" name="Picture 8">
            <a:extLst>
              <a:ext uri="{FF2B5EF4-FFF2-40B4-BE49-F238E27FC236}">
                <a16:creationId xmlns:a16="http://schemas.microsoft.com/office/drawing/2014/main" id="{A06BB9A0-E506-0A6D-428F-2DEC4688EE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116564" y="6800850"/>
            <a:ext cx="91948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0E865-5C43-880C-0E02-90B68C5D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496D816-6BF9-39E3-19B3-9AD25EACF7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703275C-7833-DCDB-6181-D437630BDF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30B1590-FDCC-1BE4-0207-2F4DE2D61D6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4F5D002D-4F75-A335-1B69-E1D0521139D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0379177" y="-3053326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9030C384-7762-270D-E827-92DE73C30696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7733" b="0" i="0" u="none" strike="noStrike" spc="-10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실험 결과 및 검증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6E090E-C3D9-FD98-411F-C84D8E4E9E81}"/>
              </a:ext>
            </a:extLst>
          </p:cNvPr>
          <p:cNvSpPr txBox="1"/>
          <p:nvPr/>
        </p:nvSpPr>
        <p:spPr>
          <a:xfrm>
            <a:off x="10692882" y="3632200"/>
            <a:ext cx="11342136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-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물론 차기 과제로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동기정류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(SR)나 액티브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클램프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플라이백(ACF),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GaN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소자 적용을 통해 효율을 수 % 더 끌어올리는 방향도 존재합니다. 하지만 여기서 저희 조가 얻은 가장 중요한 공학적 인사이트는 "저전력 전원장치에서는 맹목적으로 최고 효율만 쫓기보다, 공학적 실익과 경제성을 엄격히 따져야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한다"는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점입니다.</a:t>
            </a:r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endParaRPr lang="ko-KR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저전력(5V, 수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W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급) 소형 시스템에서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GaN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소자를 도입하면 효율은 미미하게 상승하지만, 제어 회로가 극도로 복잡해지고 부품 단가(BOM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Cost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)가 수 배 이상 뛰어오르게 됩니다. 즉, 얻을 수 있는 에너지 절감 실익에 비해 회로 복잡도와 생산 비용의 손해가 훨씬 커지는 트레이드오프가 발생합니다.</a:t>
            </a:r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endParaRPr lang="ko-KR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따라서 이번 설계에서 채택한 'MOSFET 통합형 플라이백 컨트롤러와 RCD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스너버'의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조합은 최소한의 부품과 최저의 비용으로 타깃 성능(안정적인 5V 출력,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Active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Burst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Mode를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통한 대기전력 저감)을 구현할 수 있는 가장 공학적 실익이 높은 최적의 선택이었음을 증빙할 수 있었습니다.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29B3C1B5-1EDE-ECC7-8C1D-7B17E16C5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769" y="2895600"/>
            <a:ext cx="4266163" cy="704215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BFBD7CD5-130F-9D15-8FDD-6DB50C7B8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882" y="9787888"/>
            <a:ext cx="9375341" cy="3218782"/>
          </a:xfrm>
          <a:prstGeom prst="rect">
            <a:avLst/>
          </a:prstGeom>
        </p:spPr>
      </p:pic>
      <p:pic>
        <p:nvPicPr>
          <p:cNvPr id="15" name="Picture 8">
            <a:extLst>
              <a:ext uri="{FF2B5EF4-FFF2-40B4-BE49-F238E27FC236}">
                <a16:creationId xmlns:a16="http://schemas.microsoft.com/office/drawing/2014/main" id="{21EEC67D-0095-E063-F623-A9C4F152B3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5162032" y="6100444"/>
            <a:ext cx="91948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8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FCD12-AAC9-A373-AEFA-B3E4AECB0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CFA6A27-52A3-2F39-46B7-1AC1CFA1A6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8B025B-456B-BD97-85CE-9BA9269935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B84247F-67CE-E49C-65A6-3B8EA1FE71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B296FB5-E221-A2D6-4FD6-1937EB7775D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0379177" y="-3053326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653DB4CA-5D90-9106-36EC-8658E05DCB65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기대효과 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899FAC-7B67-3EB1-9B00-FC0D019277ED}"/>
              </a:ext>
            </a:extLst>
          </p:cNvPr>
          <p:cNvSpPr txBox="1"/>
          <p:nvPr/>
        </p:nvSpPr>
        <p:spPr>
          <a:xfrm>
            <a:off x="11239500" y="3352800"/>
            <a:ext cx="11963400" cy="769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첫째, 극대화된 경제성과 에너지 절감입니다.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고비용의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준공진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(QR) 기술을 배제하고도, '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Active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Burst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Mode'를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통해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경부하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및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무부하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상태에서의 대기전력을 효과적으로 저감했습니다. 이는 상시 구동되는 저전력 시스템에서 불필요한 소비 전력과 탄소 배출을 줄이는 가장 가성비 높은 해법입니다.</a:t>
            </a:r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endParaRPr lang="ko-KR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둘째, 시스템 신뢰성 및 부품 수명 향상입니다.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RCD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스너버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회로 최적화와 더불어, 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2차 </a:t>
            </a:r>
            <a:r>
              <a:rPr lang="ko-KR" altLang="ko-KR" sz="28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PCB에서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노이즈 루프를 전면 개선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함으로써 전원 품질의 핵심인 정적 전압 정확도를 극대화했습니다. 출력 전압을 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5V </a:t>
            </a:r>
            <a:r>
              <a:rPr lang="ko-KR" altLang="ko-KR" sz="28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목표값에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오차율 0.03% 수준(4.986~4.987V)으로 정밀하게 </a:t>
            </a:r>
            <a:r>
              <a:rPr lang="ko-KR" altLang="ko-KR" sz="28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근사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시킴으로써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, 후단에 연결될 소자들의 전기적 스트레스와 발열을 최소화하고 장시간 안정적인 운용이 가능하도록 유도했습니다.</a:t>
            </a:r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endParaRPr lang="ko-KR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셋째, 산업적 활용방안의 다각화입니다.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본 시스템은 고신뢰성과 경제성을 동시에 확보했기 때문에, 최근 주목받는 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스마트 팩토리(</a:t>
            </a:r>
            <a:r>
              <a:rPr lang="ko-KR" altLang="ko-KR" sz="28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Smart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b="1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Factory</a:t>
            </a:r>
            <a:r>
              <a:rPr lang="ko-KR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분야의 수많은 센서 노드 전원공급장치나 산업용 제어기의 보조전원으로 즉시 활용이 가능합니다. 또한 상시 모니터링 시스템이나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IoT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게이트웨이, 소형 임베디드 장치 등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저전력·격리형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전원이 필수적인 다양한 인프라에 최적의 전원 솔루션으로 적용될 수 있습니다</a:t>
            </a:r>
          </a:p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F99C679-C362-6BEF-C975-1C966C094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3352800"/>
            <a:ext cx="7848377" cy="7450271"/>
          </a:xfrm>
          <a:prstGeom prst="rect">
            <a:avLst/>
          </a:prstGeom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7D0F2597-DCEC-4611-6662-86EF5D65A5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6024400" y="7194550"/>
            <a:ext cx="91948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45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66F80-F82D-2A8F-7337-36DE206CD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789A503-363A-61A2-B354-9820AA7002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56CDAB6-A706-C36D-EDA9-4FAD2706E8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C457E7B-3585-27EA-66E5-42146974A8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E9DDEFE-9B59-D6D1-5C2C-EAD25FB7AF6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0379177" y="-3053326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B0C21943-327F-817B-7902-8DD2181DC7B9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개선점 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B75472-A65E-189A-B882-4895982A2D49}"/>
              </a:ext>
            </a:extLst>
          </p:cNvPr>
          <p:cNvSpPr txBox="1"/>
          <p:nvPr/>
        </p:nvSpPr>
        <p:spPr>
          <a:xfrm>
            <a:off x="11239500" y="3352800"/>
            <a:ext cx="119634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저희 조의 당초 핵심 목표 중 하나는 시스템의 실제 변환 효율을 정밀하게 측정하는 것이었습니다. 그러나 정밀 전력 분석기</a:t>
            </a:r>
            <a:r>
              <a:rPr lang="ko-KR" altLang="en-US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나 오실로스코프를 구하지 못해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멀티미터만으로</a:t>
            </a:r>
            <a:r>
              <a:rPr lang="en-US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en-US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값을 측정하여</a:t>
            </a:r>
            <a:r>
              <a:rPr lang="en-US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,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입력 전력 대비 출력 전력의 정량적 효율을 직접 도출하지 못한 점은 이번 과제의 가장 큰 아쉬움으로 남습니다.</a:t>
            </a:r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r>
              <a:rPr lang="en-US" altLang="ko-KR" sz="2800" b="1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차기 연구에서는 전력 분석기 및 전자 부하(Electronic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Load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)를 활용하여, 경부하부터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전부하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Full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Load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 영역까지의 정밀 효율 곡선을 측정하고, 본 대기전력 저감 기술이 실제로 몇 %의 효율 상승을 견인했는지 정량적 데이터로 보완</a:t>
            </a:r>
            <a:r>
              <a:rPr lang="ko-KR" altLang="en-US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하고자 합니다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.</a:t>
            </a:r>
            <a:endParaRPr lang="en-US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endParaRPr lang="ko-KR" altLang="ko-KR" sz="2800" dirty="0">
              <a:solidFill>
                <a:schemeClr val="tx2">
                  <a:lumMod val="75000"/>
                </a:schemeClr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  <a:p>
            <a:r>
              <a:rPr lang="en-US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en-US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또한 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레이아웃 개선으로 노이즈를 줄인 것이 실제 소자(MOSFET, 변압기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core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)의 온도 하강에 얼마나 기여했는지 열화상 계측을 진행하고, 장시간 구동 시의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Thermal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 </a:t>
            </a:r>
            <a:r>
              <a:rPr lang="ko-KR" altLang="ko-KR" sz="2800" dirty="0" err="1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Drift</a:t>
            </a:r>
            <a:r>
              <a:rPr lang="ko-KR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(온도 상승에 따른 전압 변동)까지 방어할 수 있도록 </a:t>
            </a:r>
            <a:r>
              <a:rPr lang="ko-KR" altLang="en-US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개선하는 것이 좋다고 판단하였습니다</a:t>
            </a:r>
            <a:r>
              <a:rPr lang="en-US" altLang="ko-KR" sz="2800" dirty="0">
                <a:solidFill>
                  <a:schemeClr val="tx2">
                    <a:lumMod val="75000"/>
                  </a:schemeClr>
                </a:solidFill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.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4409CF-F8BE-4A56-C8CD-6D218279A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4395224"/>
            <a:ext cx="7909890" cy="4628126"/>
          </a:xfrm>
          <a:prstGeom prst="rect">
            <a:avLst/>
          </a:prstGeom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62CAE303-E547-3719-1CE5-FBC41140F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689600" y="6800850"/>
            <a:ext cx="9194800" cy="1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02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10302-17BF-4FD8-0559-4B5B8F9F2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8CD835B-80AA-9719-7A10-BD1A8747FF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-6286500" y="-5511800"/>
            <a:ext cx="13639800" cy="13614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CBCA475-4C80-9FE9-2A4A-2BD37E0544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6344900" y="5041900"/>
            <a:ext cx="13639800" cy="13614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76539F6C-ADAB-AD4C-C3DC-D21D48D844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8097500" y="2260600"/>
            <a:ext cx="13639800" cy="136144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C68A744E-9C94-25BD-9D4A-DA996C58079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10379177" y="-3053326"/>
            <a:ext cx="13639800" cy="136144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B4F3EE1B-2002-D1A1-8364-AFF3AA23D3F2}"/>
              </a:ext>
            </a:extLst>
          </p:cNvPr>
          <p:cNvSpPr txBox="1"/>
          <p:nvPr/>
        </p:nvSpPr>
        <p:spPr>
          <a:xfrm>
            <a:off x="1524000" y="1079500"/>
            <a:ext cx="22771100" cy="1371600"/>
          </a:xfrm>
          <a:prstGeom prst="rect">
            <a:avLst/>
          </a:prstGeom>
        </p:spPr>
        <p:txBody>
          <a:bodyPr lIns="0" tIns="98213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7733" spc="-100" dirty="0">
                <a:solidFill>
                  <a:srgbClr val="071740"/>
                </a:solidFill>
                <a:latin typeface="Pretendard JP ExtraBold"/>
                <a:ea typeface="Pretendard JP ExtraBold"/>
                <a:cs typeface="Pretendard JP ExtraBold"/>
              </a:rPr>
              <a:t>조원 간 역할 </a:t>
            </a:r>
            <a:endParaRPr lang="en-US" sz="7733" b="0" i="0" u="none" strike="noStrike" spc="-100" dirty="0">
              <a:solidFill>
                <a:srgbClr val="071740"/>
              </a:solidFill>
              <a:latin typeface="Pretendard JP ExtraBold"/>
              <a:ea typeface="Pretendard JP ExtraBold"/>
              <a:cs typeface="Pretendard JP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F8033A-D1E3-7887-6C5B-7D8057EEE1A8}"/>
              </a:ext>
            </a:extLst>
          </p:cNvPr>
          <p:cNvSpPr txBox="1"/>
          <p:nvPr/>
        </p:nvSpPr>
        <p:spPr>
          <a:xfrm>
            <a:off x="3810000" y="3753874"/>
            <a:ext cx="153162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9600"/>
              </a:lnSpc>
            </a:pP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-</a:t>
            </a:r>
            <a:r>
              <a:rPr lang="en-US" altLang="ko-KR" sz="2800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전기공학과</a:t>
            </a: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   김건호 (</a:t>
            </a:r>
            <a:r>
              <a:rPr lang="en-US" altLang="ko-KR" sz="2800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팀장</a:t>
            </a: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)</a:t>
            </a:r>
          </a:p>
          <a:p>
            <a:pPr lvl="0">
              <a:lnSpc>
                <a:spcPct val="99600"/>
              </a:lnSpc>
            </a:pP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설계 목표 및 주제선정</a:t>
            </a:r>
          </a:p>
          <a:p>
            <a:pPr lvl="0">
              <a:lnSpc>
                <a:spcPct val="99600"/>
              </a:lnSpc>
            </a:pP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플라이백 컨트롤러 선정</a:t>
            </a:r>
          </a:p>
          <a:p>
            <a:pPr lvl="0">
              <a:lnSpc>
                <a:spcPct val="99600"/>
              </a:lnSpc>
            </a:pP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ACTIVE BUST MODE 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동작원리 및 검증방법 고안</a:t>
            </a:r>
          </a:p>
          <a:p>
            <a:pPr lvl="0">
              <a:lnSpc>
                <a:spcPct val="99600"/>
              </a:lnSpc>
            </a:pP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회로도 및 </a:t>
            </a: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LAYOUT 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설계</a:t>
            </a: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, PCB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완성</a:t>
            </a:r>
          </a:p>
          <a:p>
            <a:pPr lvl="0">
              <a:lnSpc>
                <a:spcPct val="99600"/>
              </a:lnSpc>
            </a:pP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동작검증 및 결과 정리</a:t>
            </a:r>
            <a:b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결과보고서 작성</a:t>
            </a:r>
          </a:p>
          <a:p>
            <a:pPr lvl="0">
              <a:lnSpc>
                <a:spcPct val="99600"/>
              </a:lnSpc>
            </a:pP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최종 </a:t>
            </a: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PPT 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제작 및 발표</a:t>
            </a:r>
            <a:endParaRPr lang="en-US" altLang="ko-KR" sz="2800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pPr lvl="0">
              <a:lnSpc>
                <a:spcPct val="99600"/>
              </a:lnSpc>
            </a:pPr>
            <a:endParaRPr lang="en-US" altLang="ko-KR" sz="2800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pPr lvl="0">
              <a:lnSpc>
                <a:spcPct val="99600"/>
              </a:lnSpc>
            </a:pP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-</a:t>
            </a:r>
            <a:r>
              <a:rPr lang="en-US" altLang="ko-KR" sz="2800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전기공학과</a:t>
            </a: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   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김도연</a:t>
            </a:r>
            <a:b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2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차측 회로 설계 시 </a:t>
            </a: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RCD </a:t>
            </a:r>
            <a:r>
              <a:rPr lang="ko-KR" altLang="en-US" sz="2800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스너버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 회로 구성 소자 선정</a:t>
            </a:r>
            <a:b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EMI 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필터 인덕턴스 선정</a:t>
            </a:r>
            <a:b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Active Burst Mode 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동작의 우회검증 고안</a:t>
            </a:r>
            <a:b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주문 간 청구서 및 </a:t>
            </a:r>
            <a:r>
              <a:rPr lang="ko-KR" altLang="en-US" sz="2800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견적서등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 사용 증빙서류 작성</a:t>
            </a:r>
            <a:b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발표를 위한 </a:t>
            </a: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PPT 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초안 작성</a:t>
            </a:r>
            <a:b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</a:br>
            <a:endParaRPr lang="en-US" altLang="ko-KR" sz="2800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pPr lvl="0">
              <a:lnSpc>
                <a:spcPct val="99600"/>
              </a:lnSpc>
            </a:pPr>
            <a:endParaRPr lang="en-US" altLang="ko-KR" sz="2800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pPr lvl="0">
              <a:lnSpc>
                <a:spcPct val="99600"/>
              </a:lnSpc>
            </a:pPr>
            <a:endParaRPr lang="en-US" altLang="ko-KR" sz="2800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1E0F4-CAA2-CC78-2FFC-3253B4688CB0}"/>
              </a:ext>
            </a:extLst>
          </p:cNvPr>
          <p:cNvSpPr txBox="1"/>
          <p:nvPr/>
        </p:nvSpPr>
        <p:spPr>
          <a:xfrm>
            <a:off x="12915900" y="3352800"/>
            <a:ext cx="84201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9600"/>
              </a:lnSpc>
            </a:pPr>
            <a:endParaRPr lang="en-US" altLang="ko-KR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pPr lvl="0">
              <a:lnSpc>
                <a:spcPct val="99600"/>
              </a:lnSpc>
            </a:pP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-</a:t>
            </a:r>
            <a:r>
              <a:rPr lang="en-US" altLang="ko-KR" sz="2800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전기공학과</a:t>
            </a: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   </a:t>
            </a:r>
            <a:r>
              <a:rPr lang="ko-KR" altLang="en-US" sz="2800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권영재</a:t>
            </a:r>
            <a:b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효율 향상을 위한</a:t>
            </a: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 LAYOUT 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설계 조사</a:t>
            </a:r>
            <a:endParaRPr lang="en-US" altLang="ko-KR" sz="2800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pPr lvl="0">
              <a:lnSpc>
                <a:spcPct val="99600"/>
              </a:lnSpc>
            </a:pP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바이패스 </a:t>
            </a:r>
            <a:r>
              <a:rPr lang="ko-KR" altLang="en-US" sz="2800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커패시터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 배치에 따른 영향 조사</a:t>
            </a:r>
            <a:b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발표 간 동작 시연</a:t>
            </a:r>
            <a:b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주문 간 청구서 및 </a:t>
            </a:r>
            <a:r>
              <a:rPr lang="ko-KR" altLang="en-US" sz="2800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견적서등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 사용 증빙서류 작성</a:t>
            </a:r>
            <a:b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발표를 위한 </a:t>
            </a: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PPT 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초안 작성</a:t>
            </a:r>
            <a:endParaRPr lang="en-US" altLang="ko-KR" sz="2800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pPr lvl="0">
              <a:lnSpc>
                <a:spcPct val="99600"/>
              </a:lnSpc>
            </a:pPr>
            <a:endParaRPr lang="en-US" altLang="ko-KR" sz="2800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pPr lvl="0">
              <a:lnSpc>
                <a:spcPct val="99600"/>
              </a:lnSpc>
            </a:pPr>
            <a:endParaRPr lang="en-US" altLang="ko-KR" sz="2800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pPr lvl="0">
              <a:lnSpc>
                <a:spcPct val="99600"/>
              </a:lnSpc>
            </a:pPr>
            <a:endParaRPr lang="en-US" altLang="ko-KR" sz="2800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pPr lvl="0">
              <a:lnSpc>
                <a:spcPct val="99600"/>
              </a:lnSpc>
            </a:pP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-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전기공학과   </a:t>
            </a:r>
            <a:r>
              <a:rPr lang="ko-KR" altLang="en-US" sz="2800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김건후</a:t>
            </a:r>
            <a:endParaRPr lang="en-US" altLang="ko-KR" sz="2800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pPr lvl="0">
              <a:lnSpc>
                <a:spcPct val="99600"/>
              </a:lnSpc>
            </a:pP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플라이백 소자에 대한 조사</a:t>
            </a:r>
            <a:b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2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차측 회로의 손실 저감 방안 조사</a:t>
            </a:r>
            <a:b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주문 간 청구서 및 </a:t>
            </a:r>
            <a:r>
              <a:rPr lang="ko-KR" altLang="en-US" sz="2800" spc="-100" dirty="0" err="1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견적서등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 사용 증빙서류 작성</a:t>
            </a:r>
            <a:b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발표를 위한 </a:t>
            </a:r>
            <a:r>
              <a:rPr lang="en-US" altLang="ko-KR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PPT </a:t>
            </a:r>
            <a:r>
              <a:rPr lang="ko-KR" altLang="en-US" sz="2800" spc="-100" dirty="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초안 작성</a:t>
            </a:r>
            <a:endParaRPr lang="en-US" altLang="ko-KR" sz="2800" spc="-100" dirty="0">
              <a:solidFill>
                <a:srgbClr val="071740"/>
              </a:solidFill>
              <a:latin typeface="Pretendard JP Bold"/>
              <a:ea typeface="Pretendard JP Bold"/>
              <a:cs typeface="Pretendard JP Bold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64510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85000" y="-4838700"/>
            <a:ext cx="13639800" cy="13614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905000" y="3263900"/>
            <a:ext cx="21793200" cy="2374900"/>
          </a:xfrm>
          <a:prstGeom prst="rect">
            <a:avLst/>
          </a:prstGeom>
        </p:spPr>
        <p:txBody>
          <a:bodyPr lIns="0" tIns="516465" rIns="0" bIns="0" rtlCol="0" anchor="t"/>
          <a:lstStyle/>
          <a:p>
            <a:pPr lvl="0">
              <a:lnSpc>
                <a:spcPct val="65570"/>
              </a:lnSpc>
            </a:pPr>
            <a:r>
              <a:rPr lang="ko-KR" altLang="en-US" sz="4800" b="1" spc="-300" dirty="0">
                <a:latin typeface="Pretendard JP Bold" panose="020B0600000101010101" charset="-128"/>
                <a:ea typeface="Pretendard JP Bold" panose="020B0600000101010101" charset="-128"/>
                <a:cs typeface="Pretendard JP Bold" panose="020B0600000101010101" charset="-128"/>
              </a:rPr>
              <a:t>플라이백 컨버터 기반 절연형 고효율 SMPS 설계 및 최적화</a:t>
            </a:r>
            <a:endParaRPr lang="en-US" altLang="ko-KR" sz="4800" spc="-200" dirty="0">
              <a:solidFill>
                <a:srgbClr val="071740"/>
              </a:solidFill>
              <a:latin typeface="Pretendard JP Bold" panose="020B0600000101010101" charset="-128"/>
              <a:ea typeface="Pretendard JP Bold" panose="020B0600000101010101" charset="-128"/>
              <a:cs typeface="Pretendard JP Bold" panose="020B0600000101010101" charset="-128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905000" y="5346700"/>
            <a:ext cx="14211300" cy="1968500"/>
          </a:xfrm>
          <a:prstGeom prst="rect">
            <a:avLst/>
          </a:prstGeom>
        </p:spPr>
        <p:txBody>
          <a:bodyPr lIns="0" tIns="71646" rIns="0" bIns="0" rtlCol="0" anchor="t"/>
          <a:lstStyle/>
          <a:p>
            <a:pPr lvl="0">
              <a:lnSpc>
                <a:spcPct val="100429"/>
              </a:lnSpc>
            </a:pPr>
            <a:r>
              <a:rPr lang="ko-KR" altLang="en-US" sz="5938" spc="-100" dirty="0">
                <a:solidFill>
                  <a:srgbClr val="3C6FEB"/>
                </a:solidFill>
                <a:latin typeface="Pretendard JP Bold"/>
                <a:ea typeface="Pretendard JP Bold"/>
                <a:cs typeface="Pretendard JP Bold"/>
              </a:rPr>
              <a:t>플라이백 컨버터 토폴로지 및</a:t>
            </a:r>
            <a:br>
              <a:rPr lang="en-US" altLang="ko-KR" sz="5938" spc="-100" dirty="0">
                <a:solidFill>
                  <a:srgbClr val="3C6FEB"/>
                </a:solidFill>
                <a:latin typeface="Pretendard JP Bold"/>
                <a:ea typeface="Pretendard JP Bold"/>
                <a:cs typeface="Pretendard JP Bold"/>
              </a:rPr>
            </a:br>
            <a:r>
              <a:rPr lang="ko-KR" altLang="en-US" sz="5938" spc="-100" dirty="0">
                <a:solidFill>
                  <a:srgbClr val="3C6FEB"/>
                </a:solidFill>
                <a:latin typeface="Pretendard JP Bold"/>
                <a:ea typeface="Pretendard JP Bold"/>
                <a:cs typeface="Pretendard JP Bold"/>
              </a:rPr>
              <a:t>대기 전력 개선 기반</a:t>
            </a:r>
            <a:endParaRPr lang="en-US" altLang="ko-KR" sz="5938" spc="-100" dirty="0">
              <a:solidFill>
                <a:srgbClr val="3C6FEB"/>
              </a:solidFill>
              <a:latin typeface="Pretendard JP Bold"/>
              <a:ea typeface="Pretendard JP Bold"/>
              <a:cs typeface="Pretendard JP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905000" y="2832100"/>
            <a:ext cx="17703800" cy="7112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4000" spc="-100" dirty="0">
                <a:solidFill>
                  <a:srgbClr val="3C6FEB"/>
                </a:solidFill>
                <a:latin typeface="Pretendard JP Bold"/>
                <a:ea typeface="Pretendard JP Bold"/>
                <a:cs typeface="Pretendard JP Bold"/>
              </a:rPr>
              <a:t>종합 설계 과제 및 운용</a:t>
            </a:r>
            <a:br>
              <a:rPr lang="en-US" sz="4000" b="1" i="0" u="none" strike="noStrike" spc="-100" dirty="0">
                <a:solidFill>
                  <a:srgbClr val="3C6FEB"/>
                </a:solidFill>
                <a:latin typeface="Pretendard JP Bold"/>
                <a:ea typeface="Pretendard JP Bold"/>
                <a:cs typeface="Pretendard JP Bold"/>
              </a:rPr>
            </a:br>
            <a:endParaRPr lang="en-US" sz="4000" b="1" i="0" u="none" strike="noStrike" spc="-100" dirty="0">
              <a:solidFill>
                <a:srgbClr val="3C6FEB"/>
              </a:solidFill>
              <a:latin typeface="Pretendard JP Bold"/>
              <a:ea typeface="Pretendard JP Bold"/>
              <a:cs typeface="Pretendard JP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792700" y="9321800"/>
            <a:ext cx="13944600" cy="3632200"/>
          </a:xfrm>
          <a:prstGeom prst="rect">
            <a:avLst/>
          </a:prstGeom>
        </p:spPr>
        <p:txBody>
          <a:bodyPr lIns="0" tIns="790193" rIns="0" bIns="0" rtlCol="0" anchor="t"/>
          <a:lstStyle/>
          <a:p>
            <a:pPr lvl="0" algn="l">
              <a:lnSpc>
                <a:spcPct val="65570"/>
              </a:lnSpc>
            </a:pPr>
            <a:r>
              <a:rPr lang="en-US" sz="20399" b="0" i="0" u="none" strike="noStrike" spc="-300">
                <a:solidFill>
                  <a:srgbClr val="071740"/>
                </a:solidFill>
                <a:latin typeface="Pretendard JP Bold"/>
                <a:ea typeface="Pretendard JP Bold"/>
                <a:cs typeface="Pretendard JP Bold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2197</Words>
  <Application>Microsoft Office PowerPoint</Application>
  <PresentationFormat>사용자 지정</PresentationFormat>
  <Paragraphs>274</Paragraphs>
  <Slides>28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Pretendard JP Light</vt:lpstr>
      <vt:lpstr>Pretendard JP Bold</vt:lpstr>
      <vt:lpstr>Arial</vt:lpstr>
      <vt:lpstr>맑은 고딕</vt:lpstr>
      <vt:lpstr>Calibri</vt:lpstr>
      <vt:lpstr>Pretendard JP ExtraBold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김건호</cp:lastModifiedBy>
  <cp:revision>32</cp:revision>
  <dcterms:created xsi:type="dcterms:W3CDTF">2006-08-16T00:00:00Z</dcterms:created>
  <dcterms:modified xsi:type="dcterms:W3CDTF">2026-06-22T01:30:19Z</dcterms:modified>
</cp:coreProperties>
</file>