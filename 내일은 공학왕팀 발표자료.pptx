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2" r:id="rId4"/>
    <p:sldId id="260" r:id="rId5"/>
    <p:sldId id="266" r:id="rId6"/>
    <p:sldId id="268" r:id="rId7"/>
    <p:sldId id="269" r:id="rId8"/>
    <p:sldId id="270" r:id="rId9"/>
    <p:sldId id="272" r:id="rId10"/>
    <p:sldId id="259" r:id="rId11"/>
    <p:sldId id="261" r:id="rId12"/>
    <p:sldId id="263" r:id="rId13"/>
    <p:sldId id="264" r:id="rId14"/>
    <p:sldId id="273" r:id="rId15"/>
  </p:sldIdLst>
  <p:sldSz cx="18288000" cy="10287000"/>
  <p:notesSz cx="6858000" cy="9144000"/>
  <p:embeddedFontLst>
    <p:embeddedFont>
      <p:font typeface="나눔고딕 ExtraBold" panose="020B0600000101010101" charset="-127"/>
      <p:bold r:id="rId17"/>
    </p:embeddedFont>
    <p:embeddedFont>
      <p:font typeface="맑은 고딕" panose="020B0503020000020004" pitchFamily="50" charset="-127"/>
      <p:regular r:id="rId18"/>
      <p:bold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DM Sans" panose="020B0600000101010101" charset="0"/>
      <p:regular r:id="rId24"/>
    </p:embeddedFont>
    <p:embeddedFont>
      <p:font typeface="DM Sans Bold" panose="020B0600000101010101" charset="0"/>
      <p:regular r:id="rId25"/>
    </p:embeddedFont>
    <p:embeddedFont>
      <p:font typeface="Georgia Pro Light" panose="02040302050405020303" pitchFamily="18" charset="0"/>
      <p:regular r:id="rId26"/>
      <p:italic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0" d="100"/>
          <a:sy n="40" d="100"/>
        </p:scale>
        <p:origin x="30" y="10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96334-66B4-4A2C-885F-633D42125B3B}" type="datetimeFigureOut">
              <a:rPr lang="ko-KR" altLang="en-US" smtClean="0"/>
              <a:t>2025-12-21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DB9E35-815A-4098-AC1D-E3B6A8269B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4041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B9E35-815A-4098-AC1D-E3B6A8269BEB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847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8991600" cy="10287000"/>
            <a:chOff x="0" y="0"/>
            <a:chExt cx="1035548" cy="11847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5548" cy="1184737"/>
            </a:xfrm>
            <a:custGeom>
              <a:avLst/>
              <a:gdLst/>
              <a:ahLst/>
              <a:cxnLst/>
              <a:rect l="l" t="t" r="r" b="b"/>
              <a:pathLst>
                <a:path w="1035548" h="1184737">
                  <a:moveTo>
                    <a:pt x="0" y="0"/>
                  </a:moveTo>
                  <a:lnTo>
                    <a:pt x="1035548" y="0"/>
                  </a:lnTo>
                  <a:lnTo>
                    <a:pt x="1035548" y="1184737"/>
                  </a:lnTo>
                  <a:lnTo>
                    <a:pt x="0" y="1184737"/>
                  </a:lnTo>
                  <a:close/>
                </a:path>
              </a:pathLst>
            </a:custGeom>
            <a:blipFill>
              <a:blip r:embed="rId2"/>
              <a:stretch>
                <a:fillRect t="-378" b="-37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744200" y="666750"/>
            <a:ext cx="6877050" cy="585084"/>
            <a:chOff x="0" y="0"/>
            <a:chExt cx="9169400" cy="780112"/>
          </a:xfrm>
        </p:grpSpPr>
        <p:sp>
          <p:nvSpPr>
            <p:cNvPr id="5" name="Freeform 5"/>
            <p:cNvSpPr/>
            <p:nvPr/>
          </p:nvSpPr>
          <p:spPr>
            <a:xfrm rot="-5400000" flipH="1">
              <a:off x="36553" y="74861"/>
              <a:ext cx="555143" cy="628248"/>
            </a:xfrm>
            <a:custGeom>
              <a:avLst/>
              <a:gdLst/>
              <a:ahLst/>
              <a:cxnLst/>
              <a:rect l="l" t="t" r="r" b="b"/>
              <a:pathLst>
                <a:path w="555143" h="628248">
                  <a:moveTo>
                    <a:pt x="555143" y="0"/>
                  </a:moveTo>
                  <a:lnTo>
                    <a:pt x="0" y="0"/>
                  </a:lnTo>
                  <a:lnTo>
                    <a:pt x="0" y="628248"/>
                  </a:lnTo>
                  <a:lnTo>
                    <a:pt x="555143" y="628248"/>
                  </a:lnTo>
                  <a:lnTo>
                    <a:pt x="555143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95304" y="95250"/>
              <a:ext cx="8374096" cy="6848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55"/>
                </a:lnSpc>
              </a:pPr>
              <a:r>
                <a:rPr lang="en-US" sz="3864" spc="-77">
                  <a:solidFill>
                    <a:srgbClr val="1F4E79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[내일은 공학왕]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144001" y="1712119"/>
            <a:ext cx="8477250" cy="3906069"/>
            <a:chOff x="0" y="200025"/>
            <a:chExt cx="9182100" cy="5208091"/>
          </a:xfrm>
        </p:grpSpPr>
        <p:sp>
          <p:nvSpPr>
            <p:cNvPr id="8" name="TextBox 8"/>
            <p:cNvSpPr txBox="1"/>
            <p:nvPr/>
          </p:nvSpPr>
          <p:spPr>
            <a:xfrm>
              <a:off x="0" y="200025"/>
              <a:ext cx="9182100" cy="52080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499"/>
                </a:lnSpc>
              </a:pPr>
              <a:r>
                <a:rPr lang="ko-KR" altLang="en-US" sz="6600" dirty="0">
                  <a:solidFill>
                    <a:srgbClr val="1F4E79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Georgia Pro Light"/>
                  <a:sym typeface="Georgia Pro Light"/>
                </a:rPr>
                <a:t>디지털 제어기반</a:t>
              </a:r>
              <a:br>
                <a:rPr lang="en-US" altLang="ko-KR" sz="6600" dirty="0">
                  <a:solidFill>
                    <a:srgbClr val="1F4E79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Georgia Pro Light"/>
                  <a:sym typeface="Georgia Pro Light"/>
                </a:rPr>
              </a:br>
              <a:r>
                <a:rPr lang="ko-KR" altLang="en-US" sz="6600" dirty="0">
                  <a:solidFill>
                    <a:srgbClr val="1F4E79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Georgia Pro Light"/>
                  <a:sym typeface="Georgia Pro Light"/>
                </a:rPr>
                <a:t>스마트 파워 서플라이의</a:t>
              </a:r>
              <a:br>
                <a:rPr lang="en-US" altLang="ko-KR" sz="6600" dirty="0">
                  <a:solidFill>
                    <a:srgbClr val="1F4E79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Georgia Pro Light"/>
                  <a:sym typeface="Georgia Pro Light"/>
                </a:rPr>
              </a:br>
              <a:r>
                <a:rPr lang="ko-KR" altLang="en-US" sz="6600" dirty="0">
                  <a:solidFill>
                    <a:srgbClr val="1F4E79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Georgia Pro Light"/>
                  <a:sym typeface="Georgia Pro Light"/>
                </a:rPr>
                <a:t>설계 및 구현</a:t>
              </a:r>
              <a:endParaRPr lang="en-US" sz="6600" dirty="0">
                <a:solidFill>
                  <a:srgbClr val="1F4E7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Georgia Pro Light"/>
                <a:sym typeface="Georgia Pro Light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4137115"/>
              <a:ext cx="9172671" cy="8169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039"/>
                </a:lnSpc>
              </a:pPr>
              <a:endParaRPr lang="en-US" sz="3599" dirty="0">
                <a:solidFill>
                  <a:srgbClr val="1F4E79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25000" y="8094726"/>
            <a:ext cx="5743575" cy="932985"/>
            <a:chOff x="0" y="-47625"/>
            <a:chExt cx="7658100" cy="1243979"/>
          </a:xfrm>
        </p:grpSpPr>
        <p:sp>
          <p:nvSpPr>
            <p:cNvPr id="11" name="TextBox 11"/>
            <p:cNvSpPr txBox="1"/>
            <p:nvPr/>
          </p:nvSpPr>
          <p:spPr>
            <a:xfrm>
              <a:off x="0" y="691344"/>
              <a:ext cx="7658100" cy="5050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80"/>
                </a:lnSpc>
                <a:spcBef>
                  <a:spcPct val="0"/>
                </a:spcBef>
              </a:pPr>
              <a:r>
                <a:rPr lang="en-US" sz="22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Kim Gun Ho, Kim dong </a:t>
              </a:r>
              <a:r>
                <a:rPr lang="en-US" sz="22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hyeon</a:t>
              </a:r>
              <a:r>
                <a:rPr lang="en-US" sz="22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, Lee min </a:t>
              </a:r>
              <a:r>
                <a:rPr lang="en-US" sz="22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seong</a:t>
              </a:r>
              <a:endParaRPr lang="en-US" sz="2200" dirty="0">
                <a:solidFill>
                  <a:srgbClr val="0F326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76581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b="1" dirty="0">
                  <a:solidFill>
                    <a:srgbClr val="1F4E79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PRESENTED BY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716756"/>
            <a:ext cx="13277850" cy="7254216"/>
            <a:chOff x="0" y="66675"/>
            <a:chExt cx="17703800" cy="7231567"/>
          </a:xfrm>
        </p:grpSpPr>
        <p:sp>
          <p:nvSpPr>
            <p:cNvPr id="3" name="TextBox 3"/>
            <p:cNvSpPr txBox="1"/>
            <p:nvPr/>
          </p:nvSpPr>
          <p:spPr>
            <a:xfrm>
              <a:off x="0" y="4727574"/>
              <a:ext cx="17703800" cy="257066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</a:pPr>
              <a:r>
                <a:rPr lang="en-US" sz="2400" dirty="0">
                  <a:solidFill>
                    <a:srgbClr val="0F326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본 </a:t>
              </a:r>
              <a:r>
                <a:rPr lang="en-US" sz="2400" dirty="0" err="1">
                  <a:solidFill>
                    <a:srgbClr val="0F326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프로젝트는</a:t>
              </a:r>
              <a:r>
                <a:rPr lang="en-US" sz="2400" dirty="0">
                  <a:solidFill>
                    <a:srgbClr val="0F326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 </a:t>
              </a:r>
              <a:r>
                <a:rPr lang="en-US" sz="2400" dirty="0" err="1">
                  <a:solidFill>
                    <a:srgbClr val="0F326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전기공학</a:t>
              </a:r>
              <a:r>
                <a:rPr lang="en-US" sz="2400" dirty="0">
                  <a:solidFill>
                    <a:srgbClr val="0F326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 </a:t>
              </a:r>
              <a:r>
                <a:rPr lang="en-US" sz="2400" dirty="0" err="1">
                  <a:solidFill>
                    <a:srgbClr val="0F326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지식을</a:t>
              </a:r>
              <a:r>
                <a:rPr lang="en-US" sz="2400" dirty="0">
                  <a:solidFill>
                    <a:srgbClr val="0F326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 </a:t>
              </a:r>
              <a:r>
                <a:rPr lang="en-US" sz="2400" b="1" dirty="0" err="1">
                  <a:solidFill>
                    <a:srgbClr val="0F326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 Bold"/>
                </a:rPr>
                <a:t>실용적으로</a:t>
              </a:r>
              <a:r>
                <a:rPr lang="en-US" sz="2400" b="1" dirty="0">
                  <a:solidFill>
                    <a:srgbClr val="0F326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 Bold"/>
                </a:rPr>
                <a:t> </a:t>
              </a:r>
              <a:r>
                <a:rPr lang="en-US" sz="2400" b="1" dirty="0" err="1">
                  <a:solidFill>
                    <a:srgbClr val="0F326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 Bold"/>
                </a:rPr>
                <a:t>통합</a:t>
              </a:r>
              <a:r>
                <a:rPr lang="en-US" sz="2400" dirty="0" err="1">
                  <a:solidFill>
                    <a:srgbClr val="0F326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하여</a:t>
              </a:r>
              <a:r>
                <a:rPr lang="en-US" sz="2400" dirty="0">
                  <a:solidFill>
                    <a:srgbClr val="0F326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 </a:t>
              </a:r>
              <a:r>
                <a:rPr lang="en-US" sz="2400" dirty="0" err="1">
                  <a:solidFill>
                    <a:srgbClr val="0F326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스마트</a:t>
              </a:r>
              <a:r>
                <a:rPr lang="en-US" sz="2400" dirty="0">
                  <a:solidFill>
                    <a:srgbClr val="0F326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 PSU(POWER</a:t>
              </a:r>
              <a:r>
                <a:rPr lang="ko-KR" altLang="en-US" sz="2400" dirty="0">
                  <a:solidFill>
                    <a:srgbClr val="0F3265"/>
                  </a:solidFill>
                  <a:latin typeface="Calibri" panose="020F0502020204030204" pitchFamily="34" charset="0"/>
                  <a:ea typeface="DM Sans"/>
                  <a:cs typeface="Calibri" panose="020F0502020204030204" pitchFamily="34" charset="0"/>
                  <a:sym typeface="DM Sans"/>
                </a:rPr>
                <a:t> </a:t>
              </a:r>
              <a:r>
                <a:rPr lang="en-US" altLang="ko-KR" sz="2400" dirty="0">
                  <a:solidFill>
                    <a:srgbClr val="0F326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SUPPLY</a:t>
              </a:r>
              <a:r>
                <a:rPr lang="ko-KR" altLang="en-US" sz="2400" dirty="0">
                  <a:solidFill>
                    <a:srgbClr val="0F3265"/>
                  </a:solidFill>
                  <a:latin typeface="Calibri" panose="020F0502020204030204" pitchFamily="34" charset="0"/>
                  <a:ea typeface="DM Sans"/>
                  <a:cs typeface="Calibri" panose="020F0502020204030204" pitchFamily="34" charset="0"/>
                  <a:sym typeface="DM Sans"/>
                </a:rPr>
                <a:t> </a:t>
              </a:r>
              <a:r>
                <a:rPr lang="en-US" altLang="ko-KR" sz="2400" dirty="0">
                  <a:solidFill>
                    <a:srgbClr val="0F326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UNIT</a:t>
              </a:r>
              <a:r>
                <a:rPr lang="en-US" sz="2400" dirty="0">
                  <a:solidFill>
                    <a:srgbClr val="0F326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) </a:t>
              </a:r>
              <a:r>
                <a:rPr lang="en-US" sz="2400" dirty="0" err="1">
                  <a:solidFill>
                    <a:srgbClr val="0F326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개발의</a:t>
              </a:r>
              <a:r>
                <a:rPr lang="en-US" sz="2400" dirty="0">
                  <a:solidFill>
                    <a:srgbClr val="0F326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 </a:t>
              </a:r>
              <a:r>
                <a:rPr lang="en-US" sz="2400" dirty="0" err="1">
                  <a:solidFill>
                    <a:srgbClr val="0F326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필요성을</a:t>
              </a:r>
              <a:r>
                <a:rPr lang="en-US" sz="2400" dirty="0">
                  <a:solidFill>
                    <a:srgbClr val="0F326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 </a:t>
              </a:r>
              <a:r>
                <a:rPr lang="en-US" sz="2400" dirty="0" err="1">
                  <a:solidFill>
                    <a:srgbClr val="0F326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강조하며</a:t>
              </a:r>
              <a:r>
                <a:rPr lang="en-US" sz="2400" dirty="0">
                  <a:solidFill>
                    <a:srgbClr val="0F326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, </a:t>
              </a:r>
              <a:r>
                <a:rPr lang="en-US" sz="2400" dirty="0" err="1">
                  <a:solidFill>
                    <a:srgbClr val="0F326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기술</a:t>
              </a:r>
              <a:r>
                <a:rPr lang="en-US" sz="2400" dirty="0">
                  <a:solidFill>
                    <a:srgbClr val="0F326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 </a:t>
              </a:r>
              <a:r>
                <a:rPr lang="en-US" sz="2400" dirty="0" err="1">
                  <a:solidFill>
                    <a:srgbClr val="0F326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융합을</a:t>
              </a:r>
              <a:r>
                <a:rPr lang="en-US" sz="2400" dirty="0">
                  <a:solidFill>
                    <a:srgbClr val="0F326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 </a:t>
              </a:r>
              <a:r>
                <a:rPr lang="en-US" sz="2400" dirty="0" err="1">
                  <a:solidFill>
                    <a:srgbClr val="0F326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통해</a:t>
              </a:r>
              <a:r>
                <a:rPr lang="en-US" sz="2400" dirty="0">
                  <a:solidFill>
                    <a:srgbClr val="0F326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 </a:t>
              </a:r>
              <a:r>
                <a:rPr lang="en-US" sz="2400" dirty="0" err="1">
                  <a:solidFill>
                    <a:srgbClr val="0F326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효과적인</a:t>
              </a:r>
              <a:r>
                <a:rPr lang="en-US" sz="2400" dirty="0">
                  <a:solidFill>
                    <a:srgbClr val="0F326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 </a:t>
              </a:r>
              <a:r>
                <a:rPr lang="en-US" sz="2400" dirty="0" err="1">
                  <a:solidFill>
                    <a:srgbClr val="0F326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솔루션을</a:t>
              </a:r>
              <a:r>
                <a:rPr lang="en-US" sz="2400" dirty="0">
                  <a:solidFill>
                    <a:srgbClr val="0F326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 </a:t>
              </a:r>
              <a:r>
                <a:rPr lang="en-US" sz="2400" dirty="0" err="1">
                  <a:solidFill>
                    <a:srgbClr val="0F326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제공하는</a:t>
              </a:r>
              <a:r>
                <a:rPr lang="en-US" sz="2400" dirty="0">
                  <a:solidFill>
                    <a:srgbClr val="0F326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 </a:t>
              </a:r>
              <a:r>
                <a:rPr lang="en-US" sz="2400" dirty="0" err="1">
                  <a:solidFill>
                    <a:srgbClr val="0F326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것을</a:t>
              </a:r>
              <a:r>
                <a:rPr lang="en-US" sz="2400" dirty="0">
                  <a:solidFill>
                    <a:srgbClr val="0F326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 </a:t>
              </a:r>
              <a:r>
                <a:rPr lang="en-US" sz="2400" dirty="0" err="1">
                  <a:solidFill>
                    <a:srgbClr val="0F326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목표로</a:t>
              </a:r>
              <a:r>
                <a:rPr lang="en-US" sz="2400" dirty="0">
                  <a:solidFill>
                    <a:srgbClr val="0F326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 </a:t>
              </a:r>
              <a:r>
                <a:rPr lang="en-US" sz="2400" dirty="0" err="1">
                  <a:solidFill>
                    <a:srgbClr val="0F326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합니다</a:t>
              </a:r>
              <a:r>
                <a:rPr lang="en-US" sz="2400" dirty="0">
                  <a:solidFill>
                    <a:srgbClr val="0F326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.</a:t>
              </a:r>
            </a:p>
            <a:p>
              <a:pPr marL="0" lvl="0" indent="0" algn="l">
                <a:lnSpc>
                  <a:spcPts val="2939"/>
                </a:lnSpc>
              </a:pPr>
              <a:endParaRPr lang="en-US" sz="2400" dirty="0">
                <a:solidFill>
                  <a:srgbClr val="0F326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DM Sans"/>
              </a:endParaRPr>
            </a:p>
            <a:p>
              <a:pPr lvl="0">
                <a:lnSpc>
                  <a:spcPts val="2939"/>
                </a:lnSpc>
              </a:pPr>
              <a:r>
                <a:rPr lang="ko-KR" altLang="en-US" sz="2400" dirty="0">
                  <a:solidFill>
                    <a:srgbClr val="0F326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전공과목으로부터 전원공급장치는 거의 모든 전자 회로의 기초가 된다는 것을 배웠습니다</a:t>
              </a:r>
              <a:endParaRPr lang="en-US" altLang="ko-KR" sz="2400" dirty="0">
                <a:solidFill>
                  <a:srgbClr val="0F326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DM Sans"/>
              </a:endParaRPr>
            </a:p>
            <a:p>
              <a:pPr lvl="0">
                <a:lnSpc>
                  <a:spcPts val="2939"/>
                </a:lnSpc>
              </a:pPr>
              <a:r>
                <a:rPr lang="ko-KR" altLang="en-US" sz="2400" dirty="0">
                  <a:solidFill>
                    <a:srgbClr val="0F326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 </a:t>
              </a:r>
              <a:br>
                <a:rPr lang="en-US" altLang="ko-KR" sz="2400" dirty="0">
                  <a:solidFill>
                    <a:srgbClr val="0F326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</a:br>
              <a:r>
                <a:rPr lang="ko-KR" altLang="en-US" sz="2400" dirty="0">
                  <a:solidFill>
                    <a:srgbClr val="0F3265"/>
                  </a:solidFill>
                  <a:highlight>
                    <a:srgbClr val="FFFF00"/>
                  </a:highlight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회로 설계 </a:t>
              </a:r>
              <a:r>
                <a:rPr lang="ko-KR" altLang="en-US" sz="2400" dirty="0">
                  <a:solidFill>
                    <a:srgbClr val="0F326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→ </a:t>
              </a:r>
              <a:r>
                <a:rPr lang="ko-KR" altLang="en-US" sz="2400" dirty="0">
                  <a:solidFill>
                    <a:srgbClr val="0F3265"/>
                  </a:solidFill>
                  <a:highlight>
                    <a:srgbClr val="FFFF00"/>
                  </a:highlight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펌웨어 코딩 </a:t>
              </a:r>
              <a:r>
                <a:rPr lang="ko-KR" altLang="en-US" sz="2400" dirty="0">
                  <a:solidFill>
                    <a:srgbClr val="0F326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→ </a:t>
              </a:r>
              <a:r>
                <a:rPr lang="ko-KR" altLang="en-US" sz="2400" dirty="0">
                  <a:solidFill>
                    <a:srgbClr val="0F3265"/>
                  </a:solidFill>
                  <a:highlight>
                    <a:srgbClr val="FFFF00"/>
                  </a:highlight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사용자 인터페이스 구현 </a:t>
              </a:r>
              <a:r>
                <a:rPr lang="ko-KR" altLang="en-US" sz="2400" dirty="0">
                  <a:solidFill>
                    <a:srgbClr val="0F326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→ </a:t>
              </a:r>
              <a:r>
                <a:rPr lang="ko-KR" altLang="en-US" sz="2400" dirty="0">
                  <a:solidFill>
                    <a:srgbClr val="0F3265"/>
                  </a:solidFill>
                  <a:highlight>
                    <a:srgbClr val="FFFF00"/>
                  </a:highlight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보호 기능 </a:t>
              </a:r>
              <a:r>
                <a:rPr lang="ko-KR" altLang="en-US" sz="2400" dirty="0">
                  <a:solidFill>
                    <a:srgbClr val="0F326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→ 기능 검증까지 직접 모든 과정을 주도적으로 수행해보는 것이 큰 도전이 될 것이라 생각했습니다</a:t>
              </a:r>
              <a:endParaRPr lang="en-US" sz="2400" dirty="0">
                <a:solidFill>
                  <a:srgbClr val="0F326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DM San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66675"/>
              <a:ext cx="14046200" cy="141577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  <a:spcBef>
                  <a:spcPct val="0"/>
                </a:spcBef>
              </a:pPr>
              <a:r>
                <a:rPr lang="en-US" sz="7000" dirty="0" err="1">
                  <a:solidFill>
                    <a:srgbClr val="1F4E79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Georgia Pro Light"/>
                  <a:sym typeface="Georgia Pro Light"/>
                </a:rPr>
                <a:t>프로젝트</a:t>
              </a:r>
              <a:r>
                <a:rPr lang="en-US" sz="7000" dirty="0">
                  <a:solidFill>
                    <a:srgbClr val="1F4E79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Georgia Pro Light"/>
                  <a:sym typeface="Georgia Pro Light"/>
                </a:rPr>
                <a:t> </a:t>
              </a:r>
              <a:r>
                <a:rPr lang="en-US" sz="7000" dirty="0" err="1">
                  <a:solidFill>
                    <a:srgbClr val="1F4E79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Georgia Pro Light"/>
                  <a:sym typeface="Georgia Pro Light"/>
                </a:rPr>
                <a:t>개요</a:t>
              </a:r>
              <a:r>
                <a:rPr lang="en-US" sz="7000" dirty="0">
                  <a:solidFill>
                    <a:srgbClr val="1F4E79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Georgia Pro Light"/>
                  <a:sym typeface="Georgia Pro Light"/>
                </a:rPr>
                <a:t> 및 </a:t>
              </a:r>
              <a:r>
                <a:rPr lang="en-US" sz="7000" dirty="0" err="1">
                  <a:solidFill>
                    <a:srgbClr val="1F4E79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Georgia Pro Light"/>
                  <a:sym typeface="Georgia Pro Light"/>
                </a:rPr>
                <a:t>목적</a:t>
              </a:r>
              <a:r>
                <a:rPr lang="en-US" sz="7000" dirty="0">
                  <a:solidFill>
                    <a:srgbClr val="1F4E79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Georgia Pro Light"/>
                  <a:sym typeface="Georgia Pro Light"/>
                </a:rPr>
                <a:t> </a:t>
              </a:r>
              <a:r>
                <a:rPr lang="en-US" sz="7000" dirty="0" err="1">
                  <a:solidFill>
                    <a:srgbClr val="1F4E79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Georgia Pro Light"/>
                  <a:sym typeface="Georgia Pro Light"/>
                </a:rPr>
                <a:t>설명</a:t>
              </a:r>
              <a:endParaRPr lang="en-US" sz="7000" dirty="0">
                <a:solidFill>
                  <a:srgbClr val="1F4E7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Georgia Pro Light"/>
                <a:sym typeface="Georgia Pro Light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860931"/>
              <a:ext cx="13401505" cy="488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4000" dirty="0" err="1">
                  <a:solidFill>
                    <a:srgbClr val="1F4E79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스마트</a:t>
              </a:r>
              <a:r>
                <a:rPr lang="en-US" sz="4000" dirty="0">
                  <a:solidFill>
                    <a:srgbClr val="1F4E79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 </a:t>
              </a:r>
              <a:r>
                <a:rPr lang="en-US" sz="4000" dirty="0" err="1">
                  <a:solidFill>
                    <a:srgbClr val="1F4E79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파워</a:t>
              </a:r>
              <a:r>
                <a:rPr lang="en-US" sz="4000" dirty="0">
                  <a:solidFill>
                    <a:srgbClr val="1F4E79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 </a:t>
              </a:r>
              <a:r>
                <a:rPr lang="en-US" sz="4000" dirty="0" err="1">
                  <a:solidFill>
                    <a:srgbClr val="1F4E79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서플라이</a:t>
              </a:r>
              <a:r>
                <a:rPr lang="en-US" sz="4000" dirty="0">
                  <a:solidFill>
                    <a:srgbClr val="1F4E79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 </a:t>
              </a:r>
              <a:r>
                <a:rPr lang="en-US" sz="4000" dirty="0" err="1">
                  <a:solidFill>
                    <a:srgbClr val="1F4E79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개발의</a:t>
              </a:r>
              <a:r>
                <a:rPr lang="en-US" sz="4000" dirty="0">
                  <a:solidFill>
                    <a:srgbClr val="1F4E79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 </a:t>
              </a:r>
              <a:r>
                <a:rPr lang="en-US" sz="4000" dirty="0" err="1">
                  <a:solidFill>
                    <a:srgbClr val="1F4E79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필요성</a:t>
              </a:r>
              <a:endParaRPr lang="en-US" sz="4000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DM Sans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824544" y="8838298"/>
            <a:ext cx="796706" cy="781952"/>
            <a:chOff x="0" y="0"/>
            <a:chExt cx="685800" cy="6731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85800" cy="668020"/>
            </a:xfrm>
            <a:custGeom>
              <a:avLst/>
              <a:gdLst/>
              <a:ahLst/>
              <a:cxnLst/>
              <a:rect l="l" t="t" r="r" b="b"/>
              <a:pathLst>
                <a:path w="685800" h="668020">
                  <a:moveTo>
                    <a:pt x="342900" y="0"/>
                  </a:moveTo>
                  <a:lnTo>
                    <a:pt x="434340" y="162560"/>
                  </a:lnTo>
                  <a:lnTo>
                    <a:pt x="618490" y="132080"/>
                  </a:lnTo>
                  <a:lnTo>
                    <a:pt x="547370" y="304800"/>
                  </a:lnTo>
                  <a:lnTo>
                    <a:pt x="685800" y="430530"/>
                  </a:lnTo>
                  <a:lnTo>
                    <a:pt x="506730" y="482600"/>
                  </a:lnTo>
                  <a:lnTo>
                    <a:pt x="495300" y="668020"/>
                  </a:lnTo>
                  <a:lnTo>
                    <a:pt x="342900" y="561340"/>
                  </a:lnTo>
                  <a:lnTo>
                    <a:pt x="190500" y="668020"/>
                  </a:lnTo>
                  <a:lnTo>
                    <a:pt x="179070" y="482600"/>
                  </a:lnTo>
                  <a:lnTo>
                    <a:pt x="0" y="430530"/>
                  </a:lnTo>
                  <a:lnTo>
                    <a:pt x="138430" y="304800"/>
                  </a:lnTo>
                  <a:lnTo>
                    <a:pt x="67310" y="132080"/>
                  </a:lnTo>
                  <a:lnTo>
                    <a:pt x="251460" y="16256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9700" y="117475"/>
              <a:ext cx="406400" cy="441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77400" y="0"/>
            <a:ext cx="7553325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13399" y="850106"/>
            <a:ext cx="8392667" cy="6072449"/>
            <a:chOff x="-90423" y="66675"/>
            <a:chExt cx="11190223" cy="8096598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15546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 dirty="0" err="1">
                  <a:solidFill>
                    <a:srgbClr val="1F4E79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Georgia Pro Light"/>
                  <a:sym typeface="Georgia Pro Light"/>
                </a:rPr>
                <a:t>설계</a:t>
              </a:r>
              <a:r>
                <a:rPr lang="en-US" sz="8000" dirty="0">
                  <a:solidFill>
                    <a:srgbClr val="1F4E79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Georgia Pro Light"/>
                  <a:sym typeface="Georgia Pro Light"/>
                </a:rPr>
                <a:t> 및 </a:t>
              </a:r>
              <a:r>
                <a:rPr lang="en-US" sz="8000" dirty="0" err="1">
                  <a:solidFill>
                    <a:srgbClr val="1F4E79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Georgia Pro Light"/>
                  <a:sym typeface="Georgia Pro Light"/>
                </a:rPr>
                <a:t>구현</a:t>
              </a:r>
              <a:r>
                <a:rPr lang="en-US" sz="8000" dirty="0">
                  <a:solidFill>
                    <a:srgbClr val="1F4E79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Georgia Pro Light"/>
                  <a:sym typeface="Georgia Pro Light"/>
                </a:rPr>
                <a:t> </a:t>
              </a:r>
              <a:r>
                <a:rPr lang="en-US" sz="8000" dirty="0" err="1">
                  <a:solidFill>
                    <a:srgbClr val="1F4E79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Georgia Pro Light"/>
                  <a:sym typeface="Georgia Pro Light"/>
                </a:rPr>
                <a:t>계획</a:t>
              </a:r>
              <a:endParaRPr lang="en-US" sz="8000" dirty="0">
                <a:solidFill>
                  <a:srgbClr val="1F4E7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Georgia Pro Light"/>
                <a:sym typeface="Georgia Pro Light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-90423" y="4673600"/>
              <a:ext cx="11099800" cy="34896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2940"/>
                </a:lnSpc>
              </a:pPr>
              <a:r>
                <a:rPr lang="en-US" sz="32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본 </a:t>
              </a:r>
              <a:r>
                <a:rPr lang="en-US" sz="32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프로젝트의</a:t>
              </a:r>
              <a:r>
                <a:rPr lang="en-US" sz="32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개발</a:t>
              </a:r>
              <a:r>
                <a:rPr lang="en-US" sz="32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절차는</a:t>
              </a:r>
              <a:br>
                <a:rPr lang="en-US" sz="32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</a:br>
              <a:br>
                <a:rPr lang="en-US" sz="32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</a:br>
              <a:r>
                <a:rPr lang="en-US" sz="32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b="1" dirty="0" err="1">
                  <a:solidFill>
                    <a:srgbClr val="0F3265"/>
                  </a:solidFill>
                  <a:highlight>
                    <a:srgbClr val="FFFF00"/>
                  </a:highlight>
                  <a:latin typeface="DM Sans Bold"/>
                  <a:ea typeface="DM Sans Bold"/>
                  <a:cs typeface="DM Sans Bold"/>
                  <a:sym typeface="DM Sans Bold"/>
                </a:rPr>
                <a:t>회로</a:t>
              </a:r>
              <a:r>
                <a:rPr lang="en-US" sz="3200" b="1" dirty="0">
                  <a:solidFill>
                    <a:srgbClr val="0F3265"/>
                  </a:solidFill>
                  <a:highlight>
                    <a:srgbClr val="FFFF00"/>
                  </a:highlight>
                  <a:latin typeface="DM Sans Bold"/>
                  <a:ea typeface="DM Sans Bold"/>
                  <a:cs typeface="DM Sans Bold"/>
                  <a:sym typeface="DM Sans Bold"/>
                </a:rPr>
                <a:t> </a:t>
              </a:r>
              <a:r>
                <a:rPr lang="en-US" sz="3200" b="1" dirty="0" err="1">
                  <a:solidFill>
                    <a:srgbClr val="0F3265"/>
                  </a:solidFill>
                  <a:highlight>
                    <a:srgbClr val="FFFF00"/>
                  </a:highlight>
                  <a:latin typeface="DM Sans Bold"/>
                  <a:ea typeface="DM Sans Bold"/>
                  <a:cs typeface="DM Sans Bold"/>
                  <a:sym typeface="DM Sans Bold"/>
                </a:rPr>
                <a:t>설계</a:t>
              </a:r>
              <a:r>
                <a:rPr lang="ko-KR" altLang="en-US" sz="3200" dirty="0">
                  <a:solidFill>
                    <a:srgbClr val="0F3265"/>
                  </a:solidFill>
                  <a:highlight>
                    <a:srgbClr val="FFFF00"/>
                  </a:highlight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 →</a:t>
              </a:r>
              <a:r>
                <a:rPr lang="en-US" sz="3200" dirty="0">
                  <a:solidFill>
                    <a:srgbClr val="0F3265"/>
                  </a:solidFill>
                  <a:highlight>
                    <a:srgbClr val="FFFF00"/>
                  </a:highlight>
                  <a:latin typeface="DM Sans"/>
                  <a:ea typeface="DM Sans"/>
                  <a:cs typeface="DM Sans"/>
                  <a:sym typeface="DM Sans"/>
                </a:rPr>
                <a:t> PCB </a:t>
              </a:r>
              <a:r>
                <a:rPr lang="en-US" sz="3200" dirty="0" err="1">
                  <a:solidFill>
                    <a:srgbClr val="0F3265"/>
                  </a:solidFill>
                  <a:highlight>
                    <a:srgbClr val="FFFF00"/>
                  </a:highlight>
                  <a:latin typeface="DM Sans"/>
                  <a:ea typeface="DM Sans"/>
                  <a:cs typeface="DM Sans"/>
                  <a:sym typeface="DM Sans"/>
                </a:rPr>
                <a:t>제작</a:t>
              </a:r>
              <a:r>
                <a:rPr lang="ko-KR" altLang="en-US" sz="3200" dirty="0">
                  <a:solidFill>
                    <a:srgbClr val="0F3265"/>
                  </a:solidFill>
                  <a:highlight>
                    <a:srgbClr val="FFFF00"/>
                  </a:highlight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 </a:t>
              </a:r>
              <a:r>
                <a:rPr lang="ko-KR" altLang="en-US" sz="3200" dirty="0">
                  <a:solidFill>
                    <a:srgbClr val="0F326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→</a:t>
              </a:r>
              <a:r>
                <a:rPr lang="en-US" sz="32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>
                  <a:solidFill>
                    <a:srgbClr val="0F3265"/>
                  </a:solidFill>
                  <a:highlight>
                    <a:srgbClr val="FFFF00"/>
                  </a:highlight>
                  <a:latin typeface="DM Sans"/>
                  <a:ea typeface="DM Sans"/>
                  <a:cs typeface="DM Sans"/>
                  <a:sym typeface="DM Sans"/>
                </a:rPr>
                <a:t>MCU </a:t>
              </a:r>
              <a:r>
                <a:rPr lang="en-US" sz="3200" dirty="0" err="1">
                  <a:solidFill>
                    <a:srgbClr val="0F3265"/>
                  </a:solidFill>
                  <a:highlight>
                    <a:srgbClr val="FFFF00"/>
                  </a:highlight>
                  <a:latin typeface="DM Sans"/>
                  <a:ea typeface="DM Sans"/>
                  <a:cs typeface="DM Sans"/>
                  <a:sym typeface="DM Sans"/>
                </a:rPr>
                <a:t>코딩</a:t>
              </a:r>
              <a:r>
                <a:rPr lang="ko-KR" altLang="en-US" sz="3200" dirty="0">
                  <a:solidFill>
                    <a:srgbClr val="0F3265"/>
                  </a:solidFill>
                  <a:highlight>
                    <a:srgbClr val="FFFF00"/>
                  </a:highlight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 </a:t>
              </a:r>
              <a:r>
                <a:rPr lang="ko-KR" altLang="en-US" sz="3200" dirty="0">
                  <a:solidFill>
                    <a:srgbClr val="0F326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DM Sans"/>
                </a:rPr>
                <a:t>→</a:t>
              </a:r>
              <a:r>
                <a:rPr lang="en-US" sz="32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 err="1">
                  <a:solidFill>
                    <a:srgbClr val="0F3265"/>
                  </a:solidFill>
                  <a:highlight>
                    <a:srgbClr val="FFFF00"/>
                  </a:highlight>
                  <a:latin typeface="DM Sans"/>
                  <a:ea typeface="DM Sans"/>
                  <a:cs typeface="DM Sans"/>
                  <a:sym typeface="DM Sans"/>
                </a:rPr>
                <a:t>테스트</a:t>
              </a:r>
              <a:r>
                <a:rPr lang="en-US" sz="3200" dirty="0">
                  <a:solidFill>
                    <a:srgbClr val="0F3265"/>
                  </a:solidFill>
                  <a:highlight>
                    <a:srgbClr val="FFFF00"/>
                  </a:highlight>
                  <a:latin typeface="DM Sans"/>
                  <a:ea typeface="DM Sans"/>
                  <a:cs typeface="DM Sans"/>
                  <a:sym typeface="DM Sans"/>
                </a:rPr>
                <a:t> 및 </a:t>
              </a:r>
              <a:r>
                <a:rPr lang="en-US" sz="3200" dirty="0" err="1">
                  <a:solidFill>
                    <a:srgbClr val="0F3265"/>
                  </a:solidFill>
                  <a:highlight>
                    <a:srgbClr val="FFFF00"/>
                  </a:highlight>
                  <a:latin typeface="DM Sans"/>
                  <a:ea typeface="DM Sans"/>
                  <a:cs typeface="DM Sans"/>
                  <a:sym typeface="DM Sans"/>
                </a:rPr>
                <a:t>검증</a:t>
              </a:r>
              <a:r>
                <a:rPr lang="en-US" sz="32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의</a:t>
              </a:r>
              <a:r>
                <a:rPr lang="en-US" sz="32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단계로</a:t>
              </a:r>
              <a:r>
                <a:rPr lang="en-US" sz="32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구성됩니다</a:t>
              </a:r>
              <a:r>
                <a:rPr lang="en-US" sz="32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.</a:t>
              </a:r>
              <a:br>
                <a:rPr lang="en-US" sz="32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</a:br>
              <a:br>
                <a:rPr lang="en-US" sz="32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</a:br>
              <a:r>
                <a:rPr lang="en-US" sz="32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각 </a:t>
              </a:r>
              <a:r>
                <a:rPr lang="en-US" sz="32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단계를</a:t>
              </a:r>
              <a:r>
                <a:rPr lang="en-US" sz="32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통해</a:t>
              </a:r>
              <a:r>
                <a:rPr lang="en-US" sz="32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스마트</a:t>
              </a:r>
              <a:r>
                <a:rPr lang="en-US" sz="32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PSU의</a:t>
              </a:r>
              <a:r>
                <a:rPr lang="en-US" sz="32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기능을</a:t>
              </a:r>
              <a:r>
                <a:rPr lang="en-US" sz="32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체계적으로</a:t>
              </a:r>
              <a:r>
                <a:rPr lang="en-US" sz="32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구현할</a:t>
              </a:r>
              <a:r>
                <a:rPr lang="en-US" sz="32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것입니다</a:t>
              </a:r>
              <a:r>
                <a:rPr lang="en-US" sz="32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66750" y="716756"/>
            <a:ext cx="14801852" cy="1616819"/>
            <a:chOff x="0" y="66675"/>
            <a:chExt cx="19735803" cy="2155758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15546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 dirty="0" err="1">
                  <a:solidFill>
                    <a:srgbClr val="1F4E79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Georgia Pro Light"/>
                  <a:sym typeface="Georgia Pro Light"/>
                </a:rPr>
                <a:t>전체</a:t>
              </a:r>
              <a:r>
                <a:rPr lang="en-US" sz="8000" dirty="0">
                  <a:solidFill>
                    <a:srgbClr val="1F4E79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Georgia Pro Light"/>
                  <a:sym typeface="Georgia Pro Light"/>
                </a:rPr>
                <a:t> </a:t>
              </a:r>
              <a:r>
                <a:rPr lang="en-US" sz="8000" dirty="0" err="1">
                  <a:solidFill>
                    <a:srgbClr val="1F4E79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Georgia Pro Light"/>
                  <a:sym typeface="Georgia Pro Light"/>
                </a:rPr>
                <a:t>시스템</a:t>
              </a:r>
              <a:r>
                <a:rPr lang="en-US" sz="8000" dirty="0">
                  <a:solidFill>
                    <a:srgbClr val="1F4E79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Georgia Pro Light"/>
                  <a:sym typeface="Georgia Pro Light"/>
                </a:rPr>
                <a:t> </a:t>
              </a:r>
              <a:r>
                <a:rPr lang="en-US" sz="8000" dirty="0" err="1">
                  <a:solidFill>
                    <a:srgbClr val="1F4E79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Georgia Pro Light"/>
                  <a:sym typeface="Georgia Pro Light"/>
                </a:rPr>
                <a:t>구성도</a:t>
              </a:r>
              <a:endParaRPr lang="en-US" sz="8000" dirty="0">
                <a:solidFill>
                  <a:srgbClr val="1F4E7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Georgia Pro Light"/>
                <a:sym typeface="Georgia Pro Light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636003" y="1747944"/>
              <a:ext cx="11099800" cy="4744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endParaRPr lang="en-US" sz="2100" dirty="0">
                <a:solidFill>
                  <a:srgbClr val="0F326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6C09577A-0E30-266A-ABDD-AFA432D70D21}"/>
              </a:ext>
            </a:extLst>
          </p:cNvPr>
          <p:cNvSpPr/>
          <p:nvPr/>
        </p:nvSpPr>
        <p:spPr>
          <a:xfrm>
            <a:off x="10886604" y="7539989"/>
            <a:ext cx="2057400" cy="13565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아두이노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5992DE3-F4F3-E0C3-AE87-976FDE38B1E3}"/>
              </a:ext>
            </a:extLst>
          </p:cNvPr>
          <p:cNvSpPr/>
          <p:nvPr/>
        </p:nvSpPr>
        <p:spPr>
          <a:xfrm>
            <a:off x="762000" y="4686300"/>
            <a:ext cx="13716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파워소켓</a:t>
            </a:r>
            <a:endParaRPr lang="ko-KR" altLang="en-US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0511864-0A52-F943-0245-A12A80ADA53C}"/>
              </a:ext>
            </a:extLst>
          </p:cNvPr>
          <p:cNvSpPr/>
          <p:nvPr/>
        </p:nvSpPr>
        <p:spPr>
          <a:xfrm>
            <a:off x="6934200" y="3607363"/>
            <a:ext cx="8686800" cy="5630494"/>
          </a:xfrm>
          <a:prstGeom prst="roundRect">
            <a:avLst/>
          </a:prstGeom>
          <a:noFill/>
          <a:ln cmpd="sng">
            <a:solidFill>
              <a:schemeClr val="accent1">
                <a:shade val="1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24A4C07-4EB5-C78B-1976-CAA5C6AE5D8E}"/>
              </a:ext>
            </a:extLst>
          </p:cNvPr>
          <p:cNvSpPr/>
          <p:nvPr/>
        </p:nvSpPr>
        <p:spPr>
          <a:xfrm>
            <a:off x="11747826" y="4213266"/>
            <a:ext cx="2466817" cy="1692234"/>
          </a:xfrm>
          <a:prstGeom prst="roundRect">
            <a:avLst/>
          </a:prstGeom>
          <a:noFill/>
          <a:ln cmpd="sng">
            <a:solidFill>
              <a:schemeClr val="accent1">
                <a:shade val="1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74F1B8C-C7C9-3DC1-8E6B-753AFFDB21AD}"/>
              </a:ext>
            </a:extLst>
          </p:cNvPr>
          <p:cNvSpPr/>
          <p:nvPr/>
        </p:nvSpPr>
        <p:spPr>
          <a:xfrm>
            <a:off x="16459200" y="4506313"/>
            <a:ext cx="13716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출력</a:t>
            </a:r>
            <a:endParaRPr lang="en-US" altLang="ko-KR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1F43510-D157-A15D-8E95-CCAB209972D3}"/>
              </a:ext>
            </a:extLst>
          </p:cNvPr>
          <p:cNvSpPr/>
          <p:nvPr/>
        </p:nvSpPr>
        <p:spPr>
          <a:xfrm>
            <a:off x="3505200" y="4703059"/>
            <a:ext cx="13716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변압기</a:t>
            </a:r>
            <a:endParaRPr lang="en-US" altLang="ko-KR" dirty="0"/>
          </a:p>
        </p:txBody>
      </p: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B2367C15-B872-A63C-EE8E-E689A8850D2B}"/>
              </a:ext>
            </a:extLst>
          </p:cNvPr>
          <p:cNvCxnSpPr>
            <a:cxnSpLocks/>
            <a:stCxn id="31" idx="2"/>
          </p:cNvCxnSpPr>
          <p:nvPr/>
        </p:nvCxnSpPr>
        <p:spPr>
          <a:xfrm rot="5400000">
            <a:off x="9920362" y="3981542"/>
            <a:ext cx="1520876" cy="45339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08FFB12-FE03-5DBC-7F62-C351E775728E}"/>
              </a:ext>
            </a:extLst>
          </p:cNvPr>
          <p:cNvSpPr/>
          <p:nvPr/>
        </p:nvSpPr>
        <p:spPr>
          <a:xfrm>
            <a:off x="8156837" y="4595852"/>
            <a:ext cx="1638298" cy="7392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모스펫</a:t>
            </a:r>
            <a:endParaRPr lang="en-US" altLang="ko-KR" dirty="0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6C821A92-FDEB-4ADE-ED47-644824170A7D}"/>
              </a:ext>
            </a:extLst>
          </p:cNvPr>
          <p:cNvCxnSpPr>
            <a:cxnSpLocks/>
            <a:stCxn id="8" idx="3"/>
            <a:endCxn id="8" idx="3"/>
          </p:cNvCxnSpPr>
          <p:nvPr/>
        </p:nvCxnSpPr>
        <p:spPr>
          <a:xfrm>
            <a:off x="2133600" y="5143500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7893DAA1-76DA-C367-793B-917A56EA7368}"/>
              </a:ext>
            </a:extLst>
          </p:cNvPr>
          <p:cNvSpPr/>
          <p:nvPr/>
        </p:nvSpPr>
        <p:spPr>
          <a:xfrm>
            <a:off x="3033014" y="4077626"/>
            <a:ext cx="2438396" cy="2131748"/>
          </a:xfrm>
          <a:prstGeom prst="roundRect">
            <a:avLst/>
          </a:prstGeom>
          <a:noFill/>
          <a:ln cmpd="sng">
            <a:solidFill>
              <a:schemeClr val="accent1">
                <a:shade val="1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C6F9089F-6E19-9A51-7314-D89C6EACE12B}"/>
              </a:ext>
            </a:extLst>
          </p:cNvPr>
          <p:cNvCxnSpPr>
            <a:cxnSpLocks/>
            <a:stCxn id="8" idx="3"/>
            <a:endCxn id="13" idx="1"/>
          </p:cNvCxnSpPr>
          <p:nvPr/>
        </p:nvCxnSpPr>
        <p:spPr>
          <a:xfrm>
            <a:off x="2133600" y="5143500"/>
            <a:ext cx="1371600" cy="167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50270F5-9746-B36C-DAFA-40BE9F26838F}"/>
              </a:ext>
            </a:extLst>
          </p:cNvPr>
          <p:cNvSpPr/>
          <p:nvPr/>
        </p:nvSpPr>
        <p:spPr>
          <a:xfrm>
            <a:off x="12261952" y="4584515"/>
            <a:ext cx="1371600" cy="9035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INA219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2E1E17C-07F0-D674-5C34-E2C1C2842DB9}"/>
              </a:ext>
            </a:extLst>
          </p:cNvPr>
          <p:cNvSpPr/>
          <p:nvPr/>
        </p:nvSpPr>
        <p:spPr>
          <a:xfrm>
            <a:off x="7886699" y="7781215"/>
            <a:ext cx="13716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MCP4725</a:t>
            </a:r>
          </a:p>
        </p:txBody>
      </p:sp>
      <p:cxnSp>
        <p:nvCxnSpPr>
          <p:cNvPr id="46" name="연결선: 꺾임 45">
            <a:extLst>
              <a:ext uri="{FF2B5EF4-FFF2-40B4-BE49-F238E27FC236}">
                <a16:creationId xmlns:a16="http://schemas.microsoft.com/office/drawing/2014/main" id="{07A4035B-A785-45D7-A499-8AA9D71F3BA9}"/>
              </a:ext>
            </a:extLst>
          </p:cNvPr>
          <p:cNvCxnSpPr>
            <a:cxnSpLocks/>
            <a:stCxn id="7" idx="1"/>
            <a:endCxn id="33" idx="3"/>
          </p:cNvCxnSpPr>
          <p:nvPr/>
        </p:nvCxnSpPr>
        <p:spPr>
          <a:xfrm rot="10800000" flipV="1">
            <a:off x="9258300" y="8218249"/>
            <a:ext cx="1628305" cy="2016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78ED7081-E050-3726-4AAD-61F8A99C04DA}"/>
              </a:ext>
            </a:extLst>
          </p:cNvPr>
          <p:cNvSpPr/>
          <p:nvPr/>
        </p:nvSpPr>
        <p:spPr>
          <a:xfrm>
            <a:off x="7913556" y="6289738"/>
            <a:ext cx="1371600" cy="9035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AMPLIFIER</a:t>
            </a:r>
          </a:p>
        </p:txBody>
      </p:sp>
      <p:cxnSp>
        <p:nvCxnSpPr>
          <p:cNvPr id="54" name="연결선: 꺾임 53">
            <a:extLst>
              <a:ext uri="{FF2B5EF4-FFF2-40B4-BE49-F238E27FC236}">
                <a16:creationId xmlns:a16="http://schemas.microsoft.com/office/drawing/2014/main" id="{D00F7E01-23C7-42B8-BF27-0C53D1070A17}"/>
              </a:ext>
            </a:extLst>
          </p:cNvPr>
          <p:cNvCxnSpPr>
            <a:cxnSpLocks/>
            <a:stCxn id="33" idx="0"/>
            <a:endCxn id="52" idx="2"/>
          </p:cNvCxnSpPr>
          <p:nvPr/>
        </p:nvCxnSpPr>
        <p:spPr>
          <a:xfrm rot="5400000" flipH="1" flipV="1">
            <a:off x="8291959" y="7473819"/>
            <a:ext cx="587936" cy="2685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연결선: 꺾임 58">
            <a:extLst>
              <a:ext uri="{FF2B5EF4-FFF2-40B4-BE49-F238E27FC236}">
                <a16:creationId xmlns:a16="http://schemas.microsoft.com/office/drawing/2014/main" id="{53CCC5A6-040B-959F-FB9E-548DAC281566}"/>
              </a:ext>
            </a:extLst>
          </p:cNvPr>
          <p:cNvCxnSpPr>
            <a:cxnSpLocks/>
            <a:stCxn id="31" idx="3"/>
            <a:endCxn id="11" idx="1"/>
          </p:cNvCxnSpPr>
          <p:nvPr/>
        </p:nvCxnSpPr>
        <p:spPr>
          <a:xfrm flipV="1">
            <a:off x="13633552" y="4963513"/>
            <a:ext cx="2825648" cy="7277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연결선: 꺾임 61">
            <a:extLst>
              <a:ext uri="{FF2B5EF4-FFF2-40B4-BE49-F238E27FC236}">
                <a16:creationId xmlns:a16="http://schemas.microsoft.com/office/drawing/2014/main" id="{F1A29BE7-310A-5B0C-8DF3-B8A4599FE8B4}"/>
              </a:ext>
            </a:extLst>
          </p:cNvPr>
          <p:cNvCxnSpPr>
            <a:cxnSpLocks/>
            <a:stCxn id="52" idx="0"/>
            <a:endCxn id="22" idx="2"/>
          </p:cNvCxnSpPr>
          <p:nvPr/>
        </p:nvCxnSpPr>
        <p:spPr>
          <a:xfrm rot="5400000" flipH="1" flipV="1">
            <a:off x="8310365" y="5624117"/>
            <a:ext cx="954613" cy="37663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연결선: 꺾임 64">
            <a:extLst>
              <a:ext uri="{FF2B5EF4-FFF2-40B4-BE49-F238E27FC236}">
                <a16:creationId xmlns:a16="http://schemas.microsoft.com/office/drawing/2014/main" id="{2B3D3165-DB35-4FDA-E11E-1DB76D54B8E8}"/>
              </a:ext>
            </a:extLst>
          </p:cNvPr>
          <p:cNvCxnSpPr>
            <a:cxnSpLocks/>
            <a:stCxn id="13" idx="3"/>
            <a:endCxn id="22" idx="1"/>
          </p:cNvCxnSpPr>
          <p:nvPr/>
        </p:nvCxnSpPr>
        <p:spPr>
          <a:xfrm flipV="1">
            <a:off x="4876800" y="4965489"/>
            <a:ext cx="3280037" cy="19477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연결선: 꺾임 68">
            <a:extLst>
              <a:ext uri="{FF2B5EF4-FFF2-40B4-BE49-F238E27FC236}">
                <a16:creationId xmlns:a16="http://schemas.microsoft.com/office/drawing/2014/main" id="{0A02FE3B-08DC-A94C-4B2C-F883262BA946}"/>
              </a:ext>
            </a:extLst>
          </p:cNvPr>
          <p:cNvCxnSpPr>
            <a:cxnSpLocks/>
          </p:cNvCxnSpPr>
          <p:nvPr/>
        </p:nvCxnSpPr>
        <p:spPr>
          <a:xfrm>
            <a:off x="9795135" y="5015464"/>
            <a:ext cx="2466817" cy="70797"/>
          </a:xfrm>
          <a:prstGeom prst="bentConnector3">
            <a:avLst>
              <a:gd name="adj1" fmla="val 4860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연결선: 꺾임 82">
            <a:extLst>
              <a:ext uri="{FF2B5EF4-FFF2-40B4-BE49-F238E27FC236}">
                <a16:creationId xmlns:a16="http://schemas.microsoft.com/office/drawing/2014/main" id="{5FEB092E-EE52-C327-2C84-1B4F63463056}"/>
              </a:ext>
            </a:extLst>
          </p:cNvPr>
          <p:cNvCxnSpPr>
            <a:cxnSpLocks/>
            <a:endCxn id="7" idx="3"/>
          </p:cNvCxnSpPr>
          <p:nvPr/>
        </p:nvCxnSpPr>
        <p:spPr>
          <a:xfrm rot="5400000">
            <a:off x="11812506" y="6619554"/>
            <a:ext cx="2730194" cy="46719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F90A9CF4-9BD3-D08D-94B3-9049AE5A61BC}"/>
              </a:ext>
            </a:extLst>
          </p:cNvPr>
          <p:cNvSpPr/>
          <p:nvPr/>
        </p:nvSpPr>
        <p:spPr>
          <a:xfrm>
            <a:off x="2438400" y="2705100"/>
            <a:ext cx="13716000" cy="6865143"/>
          </a:xfrm>
          <a:prstGeom prst="roundRect">
            <a:avLst/>
          </a:prstGeom>
          <a:noFill/>
          <a:ln cmpd="sng">
            <a:solidFill>
              <a:schemeClr val="accent1">
                <a:shade val="1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368028F-02CB-476A-CCC9-F1D1BA70A19E}"/>
              </a:ext>
            </a:extLst>
          </p:cNvPr>
          <p:cNvSpPr txBox="1"/>
          <p:nvPr/>
        </p:nvSpPr>
        <p:spPr>
          <a:xfrm>
            <a:off x="3237854" y="3705130"/>
            <a:ext cx="1906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전력변환 및 정류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B0E3D48-77B1-E330-42DB-686638B56213}"/>
              </a:ext>
            </a:extLst>
          </p:cNvPr>
          <p:cNvSpPr txBox="1"/>
          <p:nvPr/>
        </p:nvSpPr>
        <p:spPr>
          <a:xfrm>
            <a:off x="7967773" y="313157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제어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3CDA947-63D5-AA52-E8C8-AE8A80A9760C}"/>
              </a:ext>
            </a:extLst>
          </p:cNvPr>
          <p:cNvSpPr txBox="1"/>
          <p:nvPr/>
        </p:nvSpPr>
        <p:spPr>
          <a:xfrm>
            <a:off x="9285428" y="655684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피드백</a:t>
            </a:r>
            <a:endParaRPr lang="ko-KR" altLang="en-US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6507E83-0BD6-C7CC-B2DF-265A8C6E0776}"/>
              </a:ext>
            </a:extLst>
          </p:cNvPr>
          <p:cNvSpPr txBox="1"/>
          <p:nvPr/>
        </p:nvSpPr>
        <p:spPr>
          <a:xfrm>
            <a:off x="11747826" y="380271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모니터링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16824544" y="8838298"/>
            <a:ext cx="796706" cy="781952"/>
            <a:chOff x="0" y="0"/>
            <a:chExt cx="685800" cy="6731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85800" cy="668020"/>
            </a:xfrm>
            <a:custGeom>
              <a:avLst/>
              <a:gdLst/>
              <a:ahLst/>
              <a:cxnLst/>
              <a:rect l="l" t="t" r="r" b="b"/>
              <a:pathLst>
                <a:path w="685800" h="668020">
                  <a:moveTo>
                    <a:pt x="342900" y="0"/>
                  </a:moveTo>
                  <a:lnTo>
                    <a:pt x="434340" y="162560"/>
                  </a:lnTo>
                  <a:lnTo>
                    <a:pt x="618490" y="132080"/>
                  </a:lnTo>
                  <a:lnTo>
                    <a:pt x="547370" y="304800"/>
                  </a:lnTo>
                  <a:lnTo>
                    <a:pt x="685800" y="430530"/>
                  </a:lnTo>
                  <a:lnTo>
                    <a:pt x="506730" y="482600"/>
                  </a:lnTo>
                  <a:lnTo>
                    <a:pt x="495300" y="668020"/>
                  </a:lnTo>
                  <a:lnTo>
                    <a:pt x="342900" y="561340"/>
                  </a:lnTo>
                  <a:lnTo>
                    <a:pt x="190500" y="668020"/>
                  </a:lnTo>
                  <a:lnTo>
                    <a:pt x="179070" y="482600"/>
                  </a:lnTo>
                  <a:lnTo>
                    <a:pt x="0" y="430530"/>
                  </a:lnTo>
                  <a:lnTo>
                    <a:pt x="138430" y="304800"/>
                  </a:lnTo>
                  <a:lnTo>
                    <a:pt x="67310" y="132080"/>
                  </a:lnTo>
                  <a:lnTo>
                    <a:pt x="251460" y="16256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9700" y="117475"/>
              <a:ext cx="406400" cy="441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2" name="TextBox 4">
            <a:extLst>
              <a:ext uri="{FF2B5EF4-FFF2-40B4-BE49-F238E27FC236}">
                <a16:creationId xmlns:a16="http://schemas.microsoft.com/office/drawing/2014/main" id="{93A01D10-A1F9-4EBB-A92D-6B28F2172BE9}"/>
              </a:ext>
            </a:extLst>
          </p:cNvPr>
          <p:cNvSpPr txBox="1"/>
          <p:nvPr/>
        </p:nvSpPr>
        <p:spPr>
          <a:xfrm>
            <a:off x="666750" y="716756"/>
            <a:ext cx="10534650" cy="10618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  <a:spcBef>
                <a:spcPct val="0"/>
              </a:spcBef>
            </a:pPr>
            <a:r>
              <a:rPr lang="ko-KR" altLang="en-US" sz="7000" dirty="0">
                <a:solidFill>
                  <a:srgbClr val="1F4E7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Georgia Pro Light"/>
                <a:sym typeface="Georgia Pro Light"/>
              </a:rPr>
              <a:t>설계에 필요한 지식 습득</a:t>
            </a:r>
            <a:endParaRPr lang="en-US" sz="7000" dirty="0">
              <a:solidFill>
                <a:srgbClr val="1F4E79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cs typeface="Georgia Pro Light"/>
              <a:sym typeface="Georgia Pro Light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060163AD-B848-4DC8-B2A5-C2A40B005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450" y="7067086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049" name="_x351491904" descr="EMB0001725c5521">
            <a:extLst>
              <a:ext uri="{FF2B5EF4-FFF2-40B4-BE49-F238E27FC236}">
                <a16:creationId xmlns:a16="http://schemas.microsoft.com/office/drawing/2014/main" id="{1902FE2B-927C-4651-A0CA-9C9B50C81D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7077" y="2274260"/>
            <a:ext cx="6570673" cy="3980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4">
            <a:extLst>
              <a:ext uri="{FF2B5EF4-FFF2-40B4-BE49-F238E27FC236}">
                <a16:creationId xmlns:a16="http://schemas.microsoft.com/office/drawing/2014/main" id="{E8C7B453-98E3-46EE-8A69-4277372A4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id="{DABCDC75-3300-425D-BDAD-9D014C5483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3028727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053" name="_x351469440" descr="EMB0001725c5523">
            <a:extLst>
              <a:ext uri="{FF2B5EF4-FFF2-40B4-BE49-F238E27FC236}">
                <a16:creationId xmlns:a16="http://schemas.microsoft.com/office/drawing/2014/main" id="{74A477F6-2AB0-43D4-A77F-51D9E631A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6639660"/>
            <a:ext cx="4038600" cy="2746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8">
            <a:extLst>
              <a:ext uri="{FF2B5EF4-FFF2-40B4-BE49-F238E27FC236}">
                <a16:creationId xmlns:a16="http://schemas.microsoft.com/office/drawing/2014/main" id="{29C00552-47C4-4C82-BFD8-76F2EE176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055" name="_x351477720" descr="EMB0001725c5524">
            <a:extLst>
              <a:ext uri="{FF2B5EF4-FFF2-40B4-BE49-F238E27FC236}">
                <a16:creationId xmlns:a16="http://schemas.microsoft.com/office/drawing/2014/main" id="{D1A434D2-FF77-4B4D-94E2-F5917F003D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3234260" y="5918166"/>
            <a:ext cx="2040370" cy="3420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0">
            <a:extLst>
              <a:ext uri="{FF2B5EF4-FFF2-40B4-BE49-F238E27FC236}">
                <a16:creationId xmlns:a16="http://schemas.microsoft.com/office/drawing/2014/main" id="{01B6F52C-6FAE-4407-9EBF-685379AB9F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057" name="_x351478080" descr="EMB0001725c5525">
            <a:extLst>
              <a:ext uri="{FF2B5EF4-FFF2-40B4-BE49-F238E27FC236}">
                <a16:creationId xmlns:a16="http://schemas.microsoft.com/office/drawing/2014/main" id="{7BD7A471-BE1A-4421-8FC1-790218B02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46127" y="3579601"/>
            <a:ext cx="2476770" cy="2209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E2C0FC83-9C71-47D2-8056-CD0970D852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062" y="2272103"/>
            <a:ext cx="6563641" cy="6954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000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16824544" y="8838298"/>
            <a:ext cx="796706" cy="781952"/>
            <a:chOff x="0" y="0"/>
            <a:chExt cx="685800" cy="6731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85800" cy="668020"/>
            </a:xfrm>
            <a:custGeom>
              <a:avLst/>
              <a:gdLst/>
              <a:ahLst/>
              <a:cxnLst/>
              <a:rect l="l" t="t" r="r" b="b"/>
              <a:pathLst>
                <a:path w="685800" h="668020">
                  <a:moveTo>
                    <a:pt x="342900" y="0"/>
                  </a:moveTo>
                  <a:lnTo>
                    <a:pt x="434340" y="162560"/>
                  </a:lnTo>
                  <a:lnTo>
                    <a:pt x="618490" y="132080"/>
                  </a:lnTo>
                  <a:lnTo>
                    <a:pt x="547370" y="304800"/>
                  </a:lnTo>
                  <a:lnTo>
                    <a:pt x="685800" y="430530"/>
                  </a:lnTo>
                  <a:lnTo>
                    <a:pt x="506730" y="482600"/>
                  </a:lnTo>
                  <a:lnTo>
                    <a:pt x="495300" y="668020"/>
                  </a:lnTo>
                  <a:lnTo>
                    <a:pt x="342900" y="561340"/>
                  </a:lnTo>
                  <a:lnTo>
                    <a:pt x="190500" y="668020"/>
                  </a:lnTo>
                  <a:lnTo>
                    <a:pt x="179070" y="482600"/>
                  </a:lnTo>
                  <a:lnTo>
                    <a:pt x="0" y="430530"/>
                  </a:lnTo>
                  <a:lnTo>
                    <a:pt x="138430" y="304800"/>
                  </a:lnTo>
                  <a:lnTo>
                    <a:pt x="67310" y="132080"/>
                  </a:lnTo>
                  <a:lnTo>
                    <a:pt x="251460" y="16256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9700" y="117475"/>
              <a:ext cx="406400" cy="441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pic>
        <p:nvPicPr>
          <p:cNvPr id="10" name="_x349222656" descr="EMB0001725c5520">
            <a:extLst>
              <a:ext uri="{FF2B5EF4-FFF2-40B4-BE49-F238E27FC236}">
                <a16:creationId xmlns:a16="http://schemas.microsoft.com/office/drawing/2014/main" id="{F8426551-47A3-4895-800F-54B4CB0189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0" y="1051574"/>
            <a:ext cx="4872990" cy="4091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E1499C0-B0BC-403E-B5F8-EEB9B3B6FC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470" y="3110511"/>
            <a:ext cx="10439400" cy="4568898"/>
          </a:xfrm>
          <a:prstGeom prst="rect">
            <a:avLst/>
          </a:prstGeom>
        </p:spPr>
      </p:pic>
      <p:sp>
        <p:nvSpPr>
          <p:cNvPr id="12" name="TextBox 4">
            <a:extLst>
              <a:ext uri="{FF2B5EF4-FFF2-40B4-BE49-F238E27FC236}">
                <a16:creationId xmlns:a16="http://schemas.microsoft.com/office/drawing/2014/main" id="{93A01D10-A1F9-4EBB-A92D-6B28F2172BE9}"/>
              </a:ext>
            </a:extLst>
          </p:cNvPr>
          <p:cNvSpPr txBox="1"/>
          <p:nvPr/>
        </p:nvSpPr>
        <p:spPr>
          <a:xfrm>
            <a:off x="666750" y="716756"/>
            <a:ext cx="10534650" cy="10618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  <a:spcBef>
                <a:spcPct val="0"/>
              </a:spcBef>
            </a:pPr>
            <a:r>
              <a:rPr lang="ko-KR" altLang="en-US" sz="7000" dirty="0">
                <a:solidFill>
                  <a:srgbClr val="1F4E7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Georgia Pro Light"/>
                <a:sym typeface="Georgia Pro Light"/>
              </a:rPr>
              <a:t>회로 설계 및 </a:t>
            </a:r>
            <a:r>
              <a:rPr lang="en-US" altLang="ko-KR" sz="7000" dirty="0">
                <a:solidFill>
                  <a:srgbClr val="1F4E7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Georgia Pro Light"/>
                <a:sym typeface="Georgia Pro Light"/>
              </a:rPr>
              <a:t>PCB </a:t>
            </a:r>
            <a:r>
              <a:rPr lang="ko-KR" altLang="en-US" sz="7000" dirty="0">
                <a:solidFill>
                  <a:srgbClr val="1F4E7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Georgia Pro Light"/>
                <a:sym typeface="Georgia Pro Light"/>
              </a:rPr>
              <a:t>제작</a:t>
            </a:r>
            <a:endParaRPr lang="en-US" sz="7000" dirty="0">
              <a:solidFill>
                <a:srgbClr val="1F4E79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cs typeface="Georgia Pro Light"/>
              <a:sym typeface="Georgia Pro Light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060163AD-B848-4DC8-B2A5-C2A40B005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50" y="514350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E8C7B453-98E3-46EE-8A69-4277372A4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327859C-69D9-41F4-B188-BEF866F0F3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38906" y="5593080"/>
            <a:ext cx="5582344" cy="4389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614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16824544" y="8838298"/>
            <a:ext cx="796706" cy="781952"/>
            <a:chOff x="0" y="0"/>
            <a:chExt cx="685800" cy="6731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85800" cy="668020"/>
            </a:xfrm>
            <a:custGeom>
              <a:avLst/>
              <a:gdLst/>
              <a:ahLst/>
              <a:cxnLst/>
              <a:rect l="l" t="t" r="r" b="b"/>
              <a:pathLst>
                <a:path w="685800" h="668020">
                  <a:moveTo>
                    <a:pt x="342900" y="0"/>
                  </a:moveTo>
                  <a:lnTo>
                    <a:pt x="434340" y="162560"/>
                  </a:lnTo>
                  <a:lnTo>
                    <a:pt x="618490" y="132080"/>
                  </a:lnTo>
                  <a:lnTo>
                    <a:pt x="547370" y="304800"/>
                  </a:lnTo>
                  <a:lnTo>
                    <a:pt x="685800" y="430530"/>
                  </a:lnTo>
                  <a:lnTo>
                    <a:pt x="506730" y="482600"/>
                  </a:lnTo>
                  <a:lnTo>
                    <a:pt x="495300" y="668020"/>
                  </a:lnTo>
                  <a:lnTo>
                    <a:pt x="342900" y="561340"/>
                  </a:lnTo>
                  <a:lnTo>
                    <a:pt x="190500" y="668020"/>
                  </a:lnTo>
                  <a:lnTo>
                    <a:pt x="179070" y="482600"/>
                  </a:lnTo>
                  <a:lnTo>
                    <a:pt x="0" y="430530"/>
                  </a:lnTo>
                  <a:lnTo>
                    <a:pt x="138430" y="304800"/>
                  </a:lnTo>
                  <a:lnTo>
                    <a:pt x="67310" y="132080"/>
                  </a:lnTo>
                  <a:lnTo>
                    <a:pt x="251460" y="16256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9700" y="117475"/>
              <a:ext cx="406400" cy="441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2" name="TextBox 4">
            <a:extLst>
              <a:ext uri="{FF2B5EF4-FFF2-40B4-BE49-F238E27FC236}">
                <a16:creationId xmlns:a16="http://schemas.microsoft.com/office/drawing/2014/main" id="{93A01D10-A1F9-4EBB-A92D-6B28F2172BE9}"/>
              </a:ext>
            </a:extLst>
          </p:cNvPr>
          <p:cNvSpPr txBox="1"/>
          <p:nvPr/>
        </p:nvSpPr>
        <p:spPr>
          <a:xfrm>
            <a:off x="666750" y="716756"/>
            <a:ext cx="10534650" cy="10618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  <a:spcBef>
                <a:spcPct val="0"/>
              </a:spcBef>
            </a:pPr>
            <a:r>
              <a:rPr lang="en-US" sz="7000" dirty="0">
                <a:solidFill>
                  <a:srgbClr val="1F4E7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Georgia Pro Light"/>
                <a:sym typeface="Georgia Pro Light"/>
              </a:rPr>
              <a:t>MCU </a:t>
            </a:r>
            <a:r>
              <a:rPr lang="ko-KR" altLang="en-US" sz="7000" dirty="0">
                <a:solidFill>
                  <a:srgbClr val="1F4E7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Georgia Pro Light"/>
                <a:sym typeface="Georgia Pro Light"/>
              </a:rPr>
              <a:t>코딩 및 결선</a:t>
            </a:r>
            <a:endParaRPr lang="en-US" sz="7000" dirty="0">
              <a:solidFill>
                <a:srgbClr val="1F4E79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cs typeface="Georgia Pro Light"/>
              <a:sym typeface="Georgia Pro Light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060163AD-B848-4DC8-B2A5-C2A40B005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50" y="514350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E8C7B453-98E3-46EE-8A69-4277372A4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3A45849-D417-4376-B7EF-8F3A3CDE7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180" y="2432341"/>
            <a:ext cx="11575543" cy="542231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B83D472-D505-4832-B8EF-6F8902EAC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4952" y="3553723"/>
            <a:ext cx="9747089" cy="606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472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16824544" y="8838298"/>
            <a:ext cx="796706" cy="781952"/>
            <a:chOff x="0" y="0"/>
            <a:chExt cx="685800" cy="6731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85800" cy="668020"/>
            </a:xfrm>
            <a:custGeom>
              <a:avLst/>
              <a:gdLst/>
              <a:ahLst/>
              <a:cxnLst/>
              <a:rect l="l" t="t" r="r" b="b"/>
              <a:pathLst>
                <a:path w="685800" h="668020">
                  <a:moveTo>
                    <a:pt x="342900" y="0"/>
                  </a:moveTo>
                  <a:lnTo>
                    <a:pt x="434340" y="162560"/>
                  </a:lnTo>
                  <a:lnTo>
                    <a:pt x="618490" y="132080"/>
                  </a:lnTo>
                  <a:lnTo>
                    <a:pt x="547370" y="304800"/>
                  </a:lnTo>
                  <a:lnTo>
                    <a:pt x="685800" y="430530"/>
                  </a:lnTo>
                  <a:lnTo>
                    <a:pt x="506730" y="482600"/>
                  </a:lnTo>
                  <a:lnTo>
                    <a:pt x="495300" y="668020"/>
                  </a:lnTo>
                  <a:lnTo>
                    <a:pt x="342900" y="561340"/>
                  </a:lnTo>
                  <a:lnTo>
                    <a:pt x="190500" y="668020"/>
                  </a:lnTo>
                  <a:lnTo>
                    <a:pt x="179070" y="482600"/>
                  </a:lnTo>
                  <a:lnTo>
                    <a:pt x="0" y="430530"/>
                  </a:lnTo>
                  <a:lnTo>
                    <a:pt x="138430" y="304800"/>
                  </a:lnTo>
                  <a:lnTo>
                    <a:pt x="67310" y="132080"/>
                  </a:lnTo>
                  <a:lnTo>
                    <a:pt x="251460" y="16256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9700" y="117475"/>
              <a:ext cx="406400" cy="441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2" name="TextBox 4">
            <a:extLst>
              <a:ext uri="{FF2B5EF4-FFF2-40B4-BE49-F238E27FC236}">
                <a16:creationId xmlns:a16="http://schemas.microsoft.com/office/drawing/2014/main" id="{93A01D10-A1F9-4EBB-A92D-6B28F2172BE9}"/>
              </a:ext>
            </a:extLst>
          </p:cNvPr>
          <p:cNvSpPr txBox="1"/>
          <p:nvPr/>
        </p:nvSpPr>
        <p:spPr>
          <a:xfrm>
            <a:off x="666750" y="716756"/>
            <a:ext cx="10534650" cy="10618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  <a:spcBef>
                <a:spcPct val="0"/>
              </a:spcBef>
            </a:pPr>
            <a:r>
              <a:rPr lang="ko-KR" altLang="en-US" sz="7000" dirty="0">
                <a:solidFill>
                  <a:srgbClr val="1F4E7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Georgia Pro Light"/>
                <a:sym typeface="Georgia Pro Light"/>
              </a:rPr>
              <a:t>테스트 및 검증</a:t>
            </a:r>
            <a:endParaRPr lang="en-US" sz="7000" dirty="0">
              <a:solidFill>
                <a:srgbClr val="1F4E79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cs typeface="Georgia Pro Light"/>
              <a:sym typeface="Georgia Pro Light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060163AD-B848-4DC8-B2A5-C2A40B005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50" y="514350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E8C7B453-98E3-46EE-8A69-4277372A4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458B220-3D8A-445B-8FCA-6DA62937E4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1885923"/>
            <a:ext cx="35091686" cy="795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4097" name="_x346579584" descr="EMB0001725c552e">
            <a:extLst>
              <a:ext uri="{FF2B5EF4-FFF2-40B4-BE49-F238E27FC236}">
                <a16:creationId xmlns:a16="http://schemas.microsoft.com/office/drawing/2014/main" id="{9CFAAD47-C9BC-4DA5-9CC6-4262593D6C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192582"/>
            <a:ext cx="5029200" cy="4910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D9A5B26-5E29-42DE-AB38-5362A56BE0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2103782"/>
            <a:ext cx="32737204" cy="962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4099" name="_x346580232" descr="EMB0001725c552f">
            <a:extLst>
              <a:ext uri="{FF2B5EF4-FFF2-40B4-BE49-F238E27FC236}">
                <a16:creationId xmlns:a16="http://schemas.microsoft.com/office/drawing/2014/main" id="{17E78465-AEC9-4A2D-92AB-232CDCE1EB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2310783"/>
            <a:ext cx="6540518" cy="4910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8881D097-CB50-4109-BFF9-ABA352011A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69875" y="2192582"/>
            <a:ext cx="37632975" cy="96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4101" name="_x346546832" descr="EMB0001725c5530">
            <a:extLst>
              <a:ext uri="{FF2B5EF4-FFF2-40B4-BE49-F238E27FC236}">
                <a16:creationId xmlns:a16="http://schemas.microsoft.com/office/drawing/2014/main" id="{AE701707-FAA1-4A5E-8CF4-38BC68A788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9546" y="6208061"/>
            <a:ext cx="5171704" cy="3406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8151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16824544" y="8838298"/>
            <a:ext cx="796706" cy="781952"/>
            <a:chOff x="0" y="0"/>
            <a:chExt cx="685800" cy="6731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85800" cy="668020"/>
            </a:xfrm>
            <a:custGeom>
              <a:avLst/>
              <a:gdLst/>
              <a:ahLst/>
              <a:cxnLst/>
              <a:rect l="l" t="t" r="r" b="b"/>
              <a:pathLst>
                <a:path w="685800" h="668020">
                  <a:moveTo>
                    <a:pt x="342900" y="0"/>
                  </a:moveTo>
                  <a:lnTo>
                    <a:pt x="434340" y="162560"/>
                  </a:lnTo>
                  <a:lnTo>
                    <a:pt x="618490" y="132080"/>
                  </a:lnTo>
                  <a:lnTo>
                    <a:pt x="547370" y="304800"/>
                  </a:lnTo>
                  <a:lnTo>
                    <a:pt x="685800" y="430530"/>
                  </a:lnTo>
                  <a:lnTo>
                    <a:pt x="506730" y="482600"/>
                  </a:lnTo>
                  <a:lnTo>
                    <a:pt x="495300" y="668020"/>
                  </a:lnTo>
                  <a:lnTo>
                    <a:pt x="342900" y="561340"/>
                  </a:lnTo>
                  <a:lnTo>
                    <a:pt x="190500" y="668020"/>
                  </a:lnTo>
                  <a:lnTo>
                    <a:pt x="179070" y="482600"/>
                  </a:lnTo>
                  <a:lnTo>
                    <a:pt x="0" y="430530"/>
                  </a:lnTo>
                  <a:lnTo>
                    <a:pt x="138430" y="304800"/>
                  </a:lnTo>
                  <a:lnTo>
                    <a:pt x="67310" y="132080"/>
                  </a:lnTo>
                  <a:lnTo>
                    <a:pt x="251460" y="16256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9700" y="117475"/>
              <a:ext cx="406400" cy="441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2" name="TextBox 4">
            <a:extLst>
              <a:ext uri="{FF2B5EF4-FFF2-40B4-BE49-F238E27FC236}">
                <a16:creationId xmlns:a16="http://schemas.microsoft.com/office/drawing/2014/main" id="{93A01D10-A1F9-4EBB-A92D-6B28F2172BE9}"/>
              </a:ext>
            </a:extLst>
          </p:cNvPr>
          <p:cNvSpPr txBox="1"/>
          <p:nvPr/>
        </p:nvSpPr>
        <p:spPr>
          <a:xfrm>
            <a:off x="666750" y="716756"/>
            <a:ext cx="10534650" cy="10618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  <a:spcBef>
                <a:spcPct val="0"/>
              </a:spcBef>
            </a:pPr>
            <a:r>
              <a:rPr lang="ko-KR" altLang="en-US" sz="7000" dirty="0">
                <a:solidFill>
                  <a:srgbClr val="1F4E7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Georgia Pro Light"/>
                <a:sym typeface="Georgia Pro Light"/>
              </a:rPr>
              <a:t>목표 도달 및 성과</a:t>
            </a:r>
            <a:endParaRPr lang="en-US" sz="7000" dirty="0">
              <a:solidFill>
                <a:srgbClr val="1F4E79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cs typeface="Georgia Pro Light"/>
              <a:sym typeface="Georgia Pro Light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060163AD-B848-4DC8-B2A5-C2A40B005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50" y="514350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E8C7B453-98E3-46EE-8A69-4277372A4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458B220-3D8A-445B-8FCA-6DA62937E4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1885923"/>
            <a:ext cx="35091686" cy="795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9A5B26-5E29-42DE-AB38-5362A56BE0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2103782"/>
            <a:ext cx="32737204" cy="962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881D097-CB50-4109-BFF9-ABA352011A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69875" y="2192582"/>
            <a:ext cx="37632975" cy="96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0837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9112045" y="3030587"/>
            <a:ext cx="7191375" cy="3877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fontAlgn="base" latinLnBrk="1"/>
            <a:r>
              <a:rPr lang="ko-KR" altLang="en-US" dirty="0"/>
              <a:t>김건호</a:t>
            </a:r>
            <a:r>
              <a:rPr lang="en-US" altLang="ko-KR" dirty="0"/>
              <a:t>: </a:t>
            </a:r>
            <a:r>
              <a:rPr lang="ko-KR" altLang="en-US" dirty="0"/>
              <a:t>디지털 제어 프로그램의 사용 능력 향상과 이를 이용한 </a:t>
            </a:r>
            <a:r>
              <a:rPr lang="en-US" altLang="ko-KR" dirty="0"/>
              <a:t>PCB</a:t>
            </a:r>
            <a:r>
              <a:rPr lang="ko-KR" altLang="en-US" dirty="0"/>
              <a:t>연결 토폴로지 설계 및 구현</a:t>
            </a:r>
            <a:r>
              <a:rPr lang="en-US" altLang="ko-KR" dirty="0"/>
              <a:t>, </a:t>
            </a:r>
            <a:r>
              <a:rPr lang="ko-KR" altLang="en-US" dirty="0"/>
              <a:t>컨버터에 대한 심도 있는 이해 및 구현</a:t>
            </a:r>
            <a:endParaRPr lang="en-US" altLang="ko-KR" dirty="0"/>
          </a:p>
          <a:p>
            <a:pPr fontAlgn="base" latinLnBrk="1"/>
            <a:endParaRPr lang="en-US" altLang="ko-KR" dirty="0"/>
          </a:p>
          <a:p>
            <a:pPr fontAlgn="base" latinLnBrk="1"/>
            <a:r>
              <a:rPr lang="ko-KR" altLang="en-US" dirty="0"/>
              <a:t>김동현</a:t>
            </a:r>
            <a:r>
              <a:rPr lang="en-US" altLang="ko-KR" dirty="0"/>
              <a:t>:CAD </a:t>
            </a:r>
            <a:r>
              <a:rPr lang="ko-KR" altLang="en-US" dirty="0"/>
              <a:t>프로그램을 활용한 </a:t>
            </a:r>
            <a:r>
              <a:rPr lang="ko-KR" altLang="en-US" dirty="0" err="1"/>
              <a:t>파워서플라이의</a:t>
            </a:r>
            <a:r>
              <a:rPr lang="ko-KR" altLang="en-US" dirty="0"/>
              <a:t> 인터페이스 구현</a:t>
            </a:r>
            <a:r>
              <a:rPr lang="en-US" altLang="ko-KR" dirty="0"/>
              <a:t>, </a:t>
            </a:r>
            <a:r>
              <a:rPr lang="ko-KR" altLang="en-US" dirty="0"/>
              <a:t>시뮬레이션 프로그램을 활용한 해석시도 및 </a:t>
            </a:r>
            <a:r>
              <a:rPr lang="en-US" altLang="ko-KR" dirty="0"/>
              <a:t>KIACD </a:t>
            </a:r>
            <a:r>
              <a:rPr lang="ko-KR" altLang="en-US" dirty="0"/>
              <a:t>프로그램 사용 숙련 및 </a:t>
            </a:r>
            <a:r>
              <a:rPr lang="en-US" altLang="ko-KR" dirty="0"/>
              <a:t>PCB </a:t>
            </a:r>
            <a:r>
              <a:rPr lang="ko-KR" altLang="en-US" dirty="0"/>
              <a:t>설계 및 완성</a:t>
            </a:r>
            <a:endParaRPr lang="en-US" altLang="ko-KR" dirty="0"/>
          </a:p>
          <a:p>
            <a:pPr fontAlgn="base" latinLnBrk="1"/>
            <a:r>
              <a:rPr lang="en-US" altLang="ko-KR" dirty="0"/>
              <a:t> </a:t>
            </a:r>
          </a:p>
          <a:p>
            <a:pPr fontAlgn="base" latinLnBrk="1"/>
            <a:r>
              <a:rPr lang="ko-KR" altLang="en-US" dirty="0"/>
              <a:t>이민성</a:t>
            </a:r>
            <a:r>
              <a:rPr lang="en-US" altLang="ko-KR" dirty="0"/>
              <a:t>: Arduino</a:t>
            </a:r>
            <a:r>
              <a:rPr lang="ko-KR" altLang="en-US" dirty="0"/>
              <a:t>를 이용한 전압 제어 및 디스플레이의 구현에 대한 결과물</a:t>
            </a:r>
            <a:r>
              <a:rPr lang="en-US" altLang="ko-KR" dirty="0"/>
              <a:t>, Arduino ide </a:t>
            </a:r>
            <a:r>
              <a:rPr lang="ko-KR" altLang="en-US" dirty="0"/>
              <a:t>프로그램의 사용 숙련 및 회로설계 능력 향상</a:t>
            </a:r>
            <a:r>
              <a:rPr lang="en-US" altLang="ko-KR" dirty="0"/>
              <a:t>. </a:t>
            </a:r>
            <a:r>
              <a:rPr lang="ko-KR" altLang="en-US" dirty="0"/>
              <a:t>출력 전압 제어를 위한 블록 선도 모델 형성</a:t>
            </a:r>
          </a:p>
          <a:p>
            <a:pPr fontAlgn="base" latinLnBrk="1"/>
            <a:endParaRPr lang="ko-KR" altLang="en-US" dirty="0"/>
          </a:p>
          <a:p>
            <a:pPr fontAlgn="base" latinLnBrk="1"/>
            <a:endParaRPr lang="en-US" altLang="ko-KR" dirty="0"/>
          </a:p>
          <a:p>
            <a:pPr fontAlgn="base" latinLnBrk="1"/>
            <a:endParaRPr lang="ko-KR" altLang="en-US" dirty="0"/>
          </a:p>
          <a:p>
            <a:pPr fontAlgn="base" latinLnBrk="1"/>
            <a:endParaRPr lang="ko-KR" altLang="en-US" dirty="0"/>
          </a:p>
        </p:txBody>
      </p:sp>
      <p:sp>
        <p:nvSpPr>
          <p:cNvPr id="5" name="TextBox 5"/>
          <p:cNvSpPr txBox="1"/>
          <p:nvPr/>
        </p:nvSpPr>
        <p:spPr>
          <a:xfrm>
            <a:off x="9144000" y="2019300"/>
            <a:ext cx="7191375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</a:pPr>
            <a:r>
              <a:rPr lang="en-US" sz="2600" b="1" dirty="0" err="1">
                <a:solidFill>
                  <a:srgbClr val="1F4E79"/>
                </a:solidFill>
                <a:latin typeface="DM Sans Bold"/>
                <a:ea typeface="DM Sans Bold"/>
                <a:cs typeface="DM Sans Bold"/>
                <a:sym typeface="DM Sans Bold"/>
              </a:rPr>
              <a:t>영역별</a:t>
            </a:r>
            <a:r>
              <a:rPr lang="en-US" sz="2600" b="1" dirty="0">
                <a:solidFill>
                  <a:srgbClr val="1F4E79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2600" b="1" dirty="0" err="1">
                <a:solidFill>
                  <a:srgbClr val="1F4E79"/>
                </a:solidFill>
                <a:latin typeface="DM Sans Bold"/>
                <a:ea typeface="DM Sans Bold"/>
                <a:cs typeface="DM Sans Bold"/>
                <a:sym typeface="DM Sans Bold"/>
              </a:rPr>
              <a:t>역할</a:t>
            </a:r>
            <a:endParaRPr lang="en-US" sz="2600" b="1" dirty="0">
              <a:solidFill>
                <a:srgbClr val="1F4E79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296400" y="7778115"/>
            <a:ext cx="7191375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2100" dirty="0" err="1">
                <a:solidFill>
                  <a:srgbClr val="0F3265"/>
                </a:solidFill>
                <a:latin typeface="DM Sans"/>
                <a:ea typeface="DM Sans"/>
                <a:cs typeface="DM Sans"/>
                <a:sym typeface="DM Sans"/>
              </a:rPr>
              <a:t>팀원들은</a:t>
            </a:r>
            <a:r>
              <a:rPr lang="en-US" sz="2100" dirty="0">
                <a:solidFill>
                  <a:srgbClr val="0F326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100" b="1" dirty="0" err="1">
                <a:solidFill>
                  <a:srgbClr val="0F3265"/>
                </a:solidFill>
                <a:latin typeface="DM Sans Bold"/>
                <a:ea typeface="DM Sans Bold"/>
                <a:cs typeface="DM Sans Bold"/>
                <a:sym typeface="DM Sans Bold"/>
              </a:rPr>
              <a:t>팀워크와</a:t>
            </a:r>
            <a:r>
              <a:rPr lang="en-US" sz="2100" b="1" dirty="0">
                <a:solidFill>
                  <a:srgbClr val="0F3265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2100" b="1" dirty="0" err="1">
                <a:solidFill>
                  <a:srgbClr val="0F3265"/>
                </a:solidFill>
                <a:latin typeface="DM Sans Bold"/>
                <a:ea typeface="DM Sans Bold"/>
                <a:cs typeface="DM Sans Bold"/>
                <a:sym typeface="DM Sans Bold"/>
              </a:rPr>
              <a:t>소통</a:t>
            </a:r>
            <a:r>
              <a:rPr lang="en-US" sz="2100" dirty="0" err="1">
                <a:solidFill>
                  <a:srgbClr val="0F3265"/>
                </a:solidFill>
                <a:latin typeface="DM Sans"/>
                <a:ea typeface="DM Sans"/>
                <a:cs typeface="DM Sans"/>
                <a:sym typeface="DM Sans"/>
              </a:rPr>
              <a:t>을</a:t>
            </a:r>
            <a:r>
              <a:rPr lang="en-US" sz="2100" dirty="0">
                <a:solidFill>
                  <a:srgbClr val="0F326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100" dirty="0" err="1">
                <a:solidFill>
                  <a:srgbClr val="0F3265"/>
                </a:solidFill>
                <a:latin typeface="DM Sans"/>
                <a:ea typeface="DM Sans"/>
                <a:cs typeface="DM Sans"/>
                <a:sym typeface="DM Sans"/>
              </a:rPr>
              <a:t>통해</a:t>
            </a:r>
            <a:r>
              <a:rPr lang="en-US" sz="2100" dirty="0">
                <a:solidFill>
                  <a:srgbClr val="0F326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100" dirty="0" err="1">
                <a:solidFill>
                  <a:srgbClr val="0F3265"/>
                </a:solidFill>
                <a:latin typeface="DM Sans"/>
                <a:ea typeface="DM Sans"/>
                <a:cs typeface="DM Sans"/>
                <a:sym typeface="DM Sans"/>
              </a:rPr>
              <a:t>공동</a:t>
            </a:r>
            <a:r>
              <a:rPr lang="en-US" sz="2100" dirty="0">
                <a:solidFill>
                  <a:srgbClr val="0F326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100" dirty="0" err="1">
                <a:solidFill>
                  <a:srgbClr val="0F3265"/>
                </a:solidFill>
                <a:latin typeface="DM Sans"/>
                <a:ea typeface="DM Sans"/>
                <a:cs typeface="DM Sans"/>
                <a:sym typeface="DM Sans"/>
              </a:rPr>
              <a:t>작업을</a:t>
            </a:r>
            <a:r>
              <a:rPr lang="en-US" sz="2100" dirty="0">
                <a:solidFill>
                  <a:srgbClr val="0F326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100" dirty="0" err="1">
                <a:solidFill>
                  <a:srgbClr val="0F3265"/>
                </a:solidFill>
                <a:latin typeface="DM Sans"/>
                <a:ea typeface="DM Sans"/>
                <a:cs typeface="DM Sans"/>
                <a:sym typeface="DM Sans"/>
              </a:rPr>
              <a:t>수행하며</a:t>
            </a:r>
            <a:r>
              <a:rPr lang="en-US" sz="2100" dirty="0">
                <a:solidFill>
                  <a:srgbClr val="0F3265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2100" dirty="0" err="1">
                <a:solidFill>
                  <a:srgbClr val="0F3265"/>
                </a:solidFill>
                <a:latin typeface="DM Sans"/>
                <a:ea typeface="DM Sans"/>
                <a:cs typeface="DM Sans"/>
                <a:sym typeface="DM Sans"/>
              </a:rPr>
              <a:t>프로젝트</a:t>
            </a:r>
            <a:r>
              <a:rPr lang="en-US" sz="2100" dirty="0">
                <a:solidFill>
                  <a:srgbClr val="0F326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100" dirty="0" err="1">
                <a:solidFill>
                  <a:srgbClr val="0F3265"/>
                </a:solidFill>
                <a:latin typeface="DM Sans"/>
                <a:ea typeface="DM Sans"/>
                <a:cs typeface="DM Sans"/>
                <a:sym typeface="DM Sans"/>
              </a:rPr>
              <a:t>성공을</a:t>
            </a:r>
            <a:r>
              <a:rPr lang="en-US" sz="2100" dirty="0">
                <a:solidFill>
                  <a:srgbClr val="0F326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100" dirty="0" err="1">
                <a:solidFill>
                  <a:srgbClr val="0F3265"/>
                </a:solidFill>
                <a:latin typeface="DM Sans"/>
                <a:ea typeface="DM Sans"/>
                <a:cs typeface="DM Sans"/>
                <a:sym typeface="DM Sans"/>
              </a:rPr>
              <a:t>위해</a:t>
            </a:r>
            <a:r>
              <a:rPr lang="en-US" sz="2100" dirty="0">
                <a:solidFill>
                  <a:srgbClr val="0F326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100" dirty="0" err="1">
                <a:solidFill>
                  <a:srgbClr val="0F3265"/>
                </a:solidFill>
                <a:latin typeface="DM Sans"/>
                <a:ea typeface="DM Sans"/>
                <a:cs typeface="DM Sans"/>
                <a:sym typeface="DM Sans"/>
              </a:rPr>
              <a:t>적극적으로</a:t>
            </a:r>
            <a:r>
              <a:rPr lang="en-US" sz="2100" dirty="0">
                <a:solidFill>
                  <a:srgbClr val="0F326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100" dirty="0" err="1">
                <a:solidFill>
                  <a:srgbClr val="0F3265"/>
                </a:solidFill>
                <a:latin typeface="DM Sans"/>
                <a:ea typeface="DM Sans"/>
                <a:cs typeface="DM Sans"/>
                <a:sym typeface="DM Sans"/>
              </a:rPr>
              <a:t>협력합니다</a:t>
            </a:r>
            <a:r>
              <a:rPr lang="en-US" sz="2100" dirty="0">
                <a:solidFill>
                  <a:srgbClr val="0F326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96400" y="6949449"/>
            <a:ext cx="7191375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</a:pPr>
            <a:r>
              <a:rPr lang="en-US" sz="2600" b="1">
                <a:solidFill>
                  <a:srgbClr val="1F4E79"/>
                </a:solidFill>
                <a:latin typeface="DM Sans Bold"/>
                <a:ea typeface="DM Sans Bold"/>
                <a:cs typeface="DM Sans Bold"/>
                <a:sym typeface="DM Sans Bold"/>
              </a:rPr>
              <a:t>공동 업무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66750" y="733425"/>
            <a:ext cx="7334250" cy="1128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  <a:spcBef>
                <a:spcPct val="0"/>
              </a:spcBef>
            </a:pPr>
            <a:r>
              <a:rPr lang="en-US" sz="8000" dirty="0">
                <a:solidFill>
                  <a:srgbClr val="1F4E7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Georgia Pro Light"/>
                <a:sym typeface="Georgia Pro Light"/>
              </a:rPr>
              <a:t>팀 </a:t>
            </a:r>
            <a:r>
              <a:rPr lang="en-US" sz="8000" dirty="0" err="1">
                <a:solidFill>
                  <a:srgbClr val="1F4E7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Georgia Pro Light"/>
                <a:sym typeface="Georgia Pro Light"/>
              </a:rPr>
              <a:t>구성</a:t>
            </a:r>
            <a:r>
              <a:rPr lang="en-US" sz="8000" dirty="0">
                <a:solidFill>
                  <a:srgbClr val="1F4E7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Georgia Pro Light"/>
                <a:sym typeface="Georgia Pro Light"/>
              </a:rPr>
              <a:t> 및 </a:t>
            </a:r>
            <a:r>
              <a:rPr lang="en-US" sz="8000" dirty="0" err="1">
                <a:solidFill>
                  <a:srgbClr val="1F4E7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Georgia Pro Light"/>
                <a:sym typeface="Georgia Pro Light"/>
              </a:rPr>
              <a:t>역할</a:t>
            </a:r>
            <a:endParaRPr lang="en-US" sz="8000" dirty="0">
              <a:solidFill>
                <a:srgbClr val="1F4E79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cs typeface="Georgia Pro Light"/>
              <a:sym typeface="Georgia Pro Light"/>
            </a:endParaRPr>
          </a:p>
        </p:txBody>
      </p:sp>
      <p:pic>
        <p:nvPicPr>
          <p:cNvPr id="15" name="Picture 1">
            <a:extLst>
              <a:ext uri="{FF2B5EF4-FFF2-40B4-BE49-F238E27FC236}">
                <a16:creationId xmlns:a16="http://schemas.microsoft.com/office/drawing/2014/main" id="{E6CC8839-1D0D-7E7B-AFAC-0268A0214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4328" y="5981700"/>
            <a:ext cx="4889619" cy="387798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6" name="Picture 3">
            <a:extLst>
              <a:ext uri="{FF2B5EF4-FFF2-40B4-BE49-F238E27FC236}">
                <a16:creationId xmlns:a16="http://schemas.microsoft.com/office/drawing/2014/main" id="{C63C4B76-6046-8596-6F62-D8CF377501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983658"/>
            <a:ext cx="5353050" cy="2867843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7" name="Picture 5">
            <a:extLst>
              <a:ext uri="{FF2B5EF4-FFF2-40B4-BE49-F238E27FC236}">
                <a16:creationId xmlns:a16="http://schemas.microsoft.com/office/drawing/2014/main" id="{9368825B-F82F-21F3-2521-7AF2DD4F60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2171700"/>
            <a:ext cx="4229008" cy="3398763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8" name="Picture 7">
            <a:extLst>
              <a:ext uri="{FF2B5EF4-FFF2-40B4-BE49-F238E27FC236}">
                <a16:creationId xmlns:a16="http://schemas.microsoft.com/office/drawing/2014/main" id="{3585C629-22B1-717F-8BA9-1927911795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379" y="5339712"/>
            <a:ext cx="3143299" cy="4519973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E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733425"/>
            <a:ext cx="15821025" cy="114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  <a:spcBef>
                <a:spcPct val="0"/>
              </a:spcBef>
            </a:pPr>
            <a:r>
              <a:rPr lang="en-US" sz="8000" dirty="0" err="1">
                <a:solidFill>
                  <a:srgbClr val="1F4E7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Georgia Pro Light"/>
                <a:sym typeface="Georgia Pro Light"/>
              </a:rPr>
              <a:t>핵심</a:t>
            </a:r>
            <a:r>
              <a:rPr lang="en-US" sz="8000" dirty="0">
                <a:solidFill>
                  <a:srgbClr val="1F4E7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Georgia Pro Light"/>
                <a:sym typeface="Georgia Pro Light"/>
              </a:rPr>
              <a:t> </a:t>
            </a:r>
            <a:r>
              <a:rPr lang="en-US" sz="8000" dirty="0" err="1">
                <a:solidFill>
                  <a:srgbClr val="1F4E7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Georgia Pro Light"/>
                <a:sym typeface="Georgia Pro Light"/>
              </a:rPr>
              <a:t>기술</a:t>
            </a:r>
            <a:r>
              <a:rPr lang="en-US" sz="8000" dirty="0">
                <a:solidFill>
                  <a:srgbClr val="1F4E7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Georgia Pro Light"/>
                <a:sym typeface="Georgia Pro Light"/>
              </a:rPr>
              <a:t> </a:t>
            </a:r>
            <a:r>
              <a:rPr lang="en-US" sz="8000" dirty="0" err="1">
                <a:solidFill>
                  <a:srgbClr val="1F4E7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Georgia Pro Light"/>
                <a:sym typeface="Georgia Pro Light"/>
              </a:rPr>
              <a:t>요소</a:t>
            </a:r>
            <a:r>
              <a:rPr lang="en-US" sz="8000" dirty="0">
                <a:solidFill>
                  <a:srgbClr val="1F4E7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Georgia Pro Light"/>
                <a:sym typeface="Georgia Pro Light"/>
              </a:rPr>
              <a:t> </a:t>
            </a:r>
            <a:r>
              <a:rPr lang="en-US" sz="8000" dirty="0" err="1">
                <a:solidFill>
                  <a:srgbClr val="1F4E7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Georgia Pro Light"/>
                <a:sym typeface="Georgia Pro Light"/>
              </a:rPr>
              <a:t>분석</a:t>
            </a:r>
            <a:endParaRPr lang="en-US" sz="8000" dirty="0">
              <a:solidFill>
                <a:srgbClr val="1F4E79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cs typeface="Georgia Pro Light"/>
              <a:sym typeface="Georgia Pro Light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666750" y="2986571"/>
            <a:ext cx="4314825" cy="6079077"/>
            <a:chOff x="0" y="-47625"/>
            <a:chExt cx="5753100" cy="8105436"/>
          </a:xfrm>
        </p:grpSpPr>
        <p:sp>
          <p:nvSpPr>
            <p:cNvPr id="4" name="TextBox 4"/>
            <p:cNvSpPr txBox="1"/>
            <p:nvPr/>
          </p:nvSpPr>
          <p:spPr>
            <a:xfrm>
              <a:off x="0" y="1146175"/>
              <a:ext cx="5753100" cy="69116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</a:pPr>
              <a:r>
                <a:rPr lang="en-US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PWM </a:t>
              </a:r>
              <a:r>
                <a:rPr lang="en-US" sz="2099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제어는</a:t>
              </a:r>
              <a:r>
                <a:rPr lang="en-US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099" b="1" dirty="0" err="1">
                  <a:solidFill>
                    <a:srgbClr val="0F326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전압</a:t>
              </a:r>
              <a:r>
                <a:rPr lang="en-US" sz="2099" b="1" dirty="0">
                  <a:solidFill>
                    <a:srgbClr val="0F326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 </a:t>
              </a:r>
              <a:r>
                <a:rPr lang="en-US" sz="2099" b="1" dirty="0" err="1">
                  <a:solidFill>
                    <a:srgbClr val="0F326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조절</a:t>
              </a:r>
              <a:r>
                <a:rPr lang="en-US" sz="2099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의</a:t>
              </a:r>
              <a:r>
                <a:rPr lang="en-US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099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핵심</a:t>
              </a:r>
              <a:r>
                <a:rPr lang="en-US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099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기술로</a:t>
              </a:r>
              <a:r>
                <a:rPr lang="en-US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, </a:t>
              </a:r>
              <a:r>
                <a:rPr lang="en-US" sz="2099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전력의</a:t>
              </a:r>
              <a:r>
                <a:rPr lang="en-US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099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효율성을</a:t>
              </a:r>
              <a:r>
                <a:rPr lang="en-US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099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높이고</a:t>
              </a:r>
              <a:r>
                <a:rPr lang="en-US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열 </a:t>
              </a:r>
              <a:r>
                <a:rPr lang="en-US" sz="2099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발생을</a:t>
              </a:r>
              <a:r>
                <a:rPr lang="en-US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099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최소화하여</a:t>
              </a:r>
              <a:r>
                <a:rPr lang="en-US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099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회로의</a:t>
              </a:r>
              <a:r>
                <a:rPr lang="en-US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099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안정성을</a:t>
              </a:r>
              <a:r>
                <a:rPr lang="en-US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099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향상시킵니다</a:t>
              </a:r>
              <a:r>
                <a:rPr lang="en-US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.</a:t>
              </a:r>
            </a:p>
            <a:p>
              <a:pPr marL="0" lvl="0" indent="0" algn="l">
                <a:lnSpc>
                  <a:spcPts val="2939"/>
                </a:lnSpc>
              </a:pPr>
              <a:endParaRPr lang="en-US" sz="2099" dirty="0">
                <a:solidFill>
                  <a:srgbClr val="0F3265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>
                <a:lnSpc>
                  <a:spcPts val="2939"/>
                </a:lnSpc>
              </a:pPr>
              <a:r>
                <a:rPr lang="ko-KR" altLang="en-US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이 프로젝트에서는 </a:t>
              </a:r>
              <a:r>
                <a:rPr lang="en-US" altLang="ko-KR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MCP4725</a:t>
              </a:r>
              <a:r>
                <a:rPr lang="ko-KR" altLang="en-US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를 사용해 </a:t>
              </a:r>
              <a:r>
                <a:rPr lang="ko-KR" altLang="en-US" sz="2099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아두이노의</a:t>
              </a:r>
              <a:r>
                <a:rPr lang="ko-KR" altLang="en-US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기본 </a:t>
              </a:r>
              <a:r>
                <a:rPr lang="en-US" altLang="ko-KR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8</a:t>
              </a:r>
              <a:r>
                <a:rPr lang="ko-KR" altLang="en-US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비트 </a:t>
              </a:r>
              <a:r>
                <a:rPr lang="en-US" altLang="ko-KR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PWM(256</a:t>
              </a:r>
              <a:r>
                <a:rPr lang="ko-KR" altLang="en-US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단계</a:t>
              </a:r>
              <a:r>
                <a:rPr lang="en-US" altLang="ko-KR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) </a:t>
              </a:r>
              <a:r>
                <a:rPr lang="ko-KR" altLang="en-US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대신 </a:t>
              </a:r>
              <a:r>
                <a:rPr lang="en-US" altLang="ko-KR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12</a:t>
              </a:r>
              <a:r>
                <a:rPr lang="ko-KR" altLang="en-US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비트 </a:t>
              </a:r>
              <a:r>
                <a:rPr lang="en-US" altLang="ko-KR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DAC(4,096</a:t>
              </a:r>
              <a:r>
                <a:rPr lang="ko-KR" altLang="en-US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단계</a:t>
              </a:r>
              <a:r>
                <a:rPr lang="en-US" altLang="ko-KR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)</a:t>
              </a:r>
              <a:r>
                <a:rPr lang="ko-KR" altLang="en-US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를 사용하여 전압 조절 해상도를 </a:t>
              </a:r>
              <a:r>
                <a:rPr lang="en-US" altLang="ko-KR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16</a:t>
              </a:r>
              <a:r>
                <a:rPr lang="ko-KR" altLang="en-US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배 이상 높였습니다</a:t>
              </a:r>
              <a:r>
                <a:rPr lang="en-US" altLang="ko-KR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.</a:t>
              </a:r>
            </a:p>
            <a:p>
              <a:pPr marL="0" lvl="0" indent="0" algn="l">
                <a:lnSpc>
                  <a:spcPts val="2939"/>
                </a:lnSpc>
              </a:pPr>
              <a:r>
                <a:rPr lang="en-US" altLang="ko-KR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PWM </a:t>
              </a:r>
              <a:r>
                <a:rPr lang="ko-KR" altLang="en-US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신호를 직접 부하에 보내는 것이 아니라</a:t>
              </a:r>
              <a:r>
                <a:rPr lang="en-US" altLang="ko-KR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, Op-Amp</a:t>
              </a:r>
              <a:r>
                <a:rPr lang="ko-KR" altLang="en-US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의 기준 전압으로 사용하여 출력 전압의 리플</a:t>
              </a:r>
              <a:r>
                <a:rPr lang="en-US" altLang="ko-KR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(Ripple)</a:t>
              </a:r>
              <a:r>
                <a:rPr lang="ko-KR" altLang="en-US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을 극도로 억제했습니다</a:t>
              </a:r>
              <a:r>
                <a:rPr lang="en-US" altLang="ko-KR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.</a:t>
              </a:r>
              <a:endParaRPr lang="en-US" sz="2099" dirty="0">
                <a:solidFill>
                  <a:srgbClr val="0F326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57531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 dirty="0">
                  <a:solidFill>
                    <a:srgbClr val="1F4E79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PWM </a:t>
              </a:r>
              <a:r>
                <a:rPr lang="en-US" sz="2600" b="1" dirty="0" err="1">
                  <a:solidFill>
                    <a:srgbClr val="1F4E79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제어</a:t>
              </a:r>
              <a:endParaRPr lang="en-US" sz="2600" b="1" dirty="0">
                <a:solidFill>
                  <a:srgbClr val="1F4E79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419850" y="3079274"/>
            <a:ext cx="4314825" cy="5335283"/>
            <a:chOff x="0" y="-47625"/>
            <a:chExt cx="5753100" cy="7113710"/>
          </a:xfrm>
        </p:grpSpPr>
        <p:sp>
          <p:nvSpPr>
            <p:cNvPr id="7" name="TextBox 7"/>
            <p:cNvSpPr txBox="1"/>
            <p:nvPr/>
          </p:nvSpPr>
          <p:spPr>
            <a:xfrm>
              <a:off x="0" y="1146175"/>
              <a:ext cx="5753100" cy="59199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</a:pPr>
              <a:r>
                <a:rPr lang="en-US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DIGIPOT </a:t>
              </a:r>
              <a:r>
                <a:rPr lang="en-US" sz="2099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기술은</a:t>
              </a:r>
              <a:r>
                <a:rPr lang="en-US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099" b="1" dirty="0" err="1">
                  <a:solidFill>
                    <a:srgbClr val="0F326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디지털로</a:t>
              </a:r>
              <a:r>
                <a:rPr lang="en-US" sz="2099" b="1" dirty="0">
                  <a:solidFill>
                    <a:srgbClr val="0F326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 </a:t>
              </a:r>
              <a:r>
                <a:rPr lang="en-US" sz="2099" b="1" dirty="0" err="1">
                  <a:solidFill>
                    <a:srgbClr val="0F326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조정</a:t>
              </a:r>
              <a:r>
                <a:rPr lang="en-US" sz="2099" b="1" dirty="0">
                  <a:solidFill>
                    <a:srgbClr val="0F326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 </a:t>
              </a:r>
              <a:r>
                <a:rPr lang="en-US" sz="2099" b="1" dirty="0" err="1">
                  <a:solidFill>
                    <a:srgbClr val="0F326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가능한</a:t>
              </a:r>
              <a:r>
                <a:rPr lang="en-US" sz="2099" b="1" dirty="0">
                  <a:solidFill>
                    <a:srgbClr val="0F326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 </a:t>
              </a:r>
              <a:r>
                <a:rPr lang="en-US" sz="2099" b="1" dirty="0" err="1">
                  <a:solidFill>
                    <a:srgbClr val="0F326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저항</a:t>
              </a:r>
              <a:r>
                <a:rPr lang="en-US" sz="2099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을</a:t>
              </a:r>
              <a:r>
                <a:rPr lang="en-US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099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통해</a:t>
              </a:r>
              <a:r>
                <a:rPr lang="en-US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099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정밀한</a:t>
              </a:r>
              <a:r>
                <a:rPr lang="en-US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099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전압</a:t>
              </a:r>
              <a:r>
                <a:rPr lang="en-US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099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제어를</a:t>
              </a:r>
              <a:r>
                <a:rPr lang="en-US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099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가능하게</a:t>
              </a:r>
              <a:r>
                <a:rPr lang="en-US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ko-KR" altLang="en-US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한다</a:t>
              </a:r>
              <a:r>
                <a:rPr lang="en-US" altLang="ko-KR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. </a:t>
              </a:r>
            </a:p>
            <a:p>
              <a:pPr marL="0" lvl="0" indent="0" algn="l">
                <a:lnSpc>
                  <a:spcPts val="2939"/>
                </a:lnSpc>
              </a:pPr>
              <a:endParaRPr lang="en-US" altLang="ko-KR" sz="2099" dirty="0">
                <a:solidFill>
                  <a:srgbClr val="0F3265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>
                <a:lnSpc>
                  <a:spcPts val="2939"/>
                </a:lnSpc>
              </a:pPr>
              <a:r>
                <a:rPr lang="ko-KR" altLang="en-US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이 프로젝트에서는 </a:t>
              </a:r>
              <a:r>
                <a:rPr lang="en-US" altLang="ko-KR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MCP4725 DAC</a:t>
              </a:r>
              <a:r>
                <a:rPr lang="ko-KR" altLang="en-US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인 </a:t>
              </a:r>
              <a:r>
                <a:rPr lang="en-US" altLang="ko-KR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MCP4725</a:t>
              </a:r>
              <a:r>
                <a:rPr lang="ko-KR" altLang="en-US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를 사용하여 정밀한 기준 전압을 생성하고</a:t>
              </a:r>
              <a:r>
                <a:rPr lang="en-US" altLang="ko-KR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, </a:t>
              </a:r>
              <a:r>
                <a:rPr lang="ko-KR" altLang="en-US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이를 통해 </a:t>
              </a:r>
              <a:r>
                <a:rPr lang="en-US" altLang="ko-KR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Op-Amp</a:t>
              </a:r>
              <a:r>
                <a:rPr lang="ko-KR" altLang="en-US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의 출력을 제어함으로써 결과적으로 디지털 가변저항</a:t>
              </a:r>
              <a:r>
                <a:rPr lang="en-US" altLang="ko-KR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(DIGIPOT)</a:t>
              </a:r>
              <a:r>
                <a:rPr lang="ko-KR" altLang="en-US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을 이용해 분배 전압을 조절하는 것과 유사한 효과를 구현</a:t>
              </a:r>
              <a:endParaRPr lang="en-US" sz="2099" dirty="0">
                <a:solidFill>
                  <a:srgbClr val="0F326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753100" cy="5887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 dirty="0">
                  <a:solidFill>
                    <a:srgbClr val="1F4E79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DIGIPOT/DAC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172950" y="5071556"/>
            <a:ext cx="4336391" cy="3991935"/>
            <a:chOff x="0" y="11243"/>
            <a:chExt cx="5781855" cy="3087945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146175"/>
              <a:ext cx="5753100" cy="19530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</a:pPr>
              <a:r>
                <a:rPr lang="en-US" altLang="ko-KR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INA219 </a:t>
              </a:r>
              <a:r>
                <a:rPr lang="ko-KR" altLang="en-US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센서를 통해 현재 상태를 사용자에게 시각화</a:t>
              </a:r>
              <a:endParaRPr lang="en-US" altLang="ko-KR" sz="2099" dirty="0">
                <a:solidFill>
                  <a:srgbClr val="0F3265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>
                <a:lnSpc>
                  <a:spcPts val="2939"/>
                </a:lnSpc>
              </a:pPr>
              <a:r>
                <a:rPr lang="ko-KR" altLang="en-US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피드백은 </a:t>
              </a:r>
              <a:r>
                <a:rPr lang="en-US" altLang="ko-KR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Op-Amp</a:t>
              </a:r>
              <a:r>
                <a:rPr lang="ko-KR" altLang="en-US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를 통해 하드웨어적으로 전압을 </a:t>
              </a:r>
              <a:r>
                <a:rPr lang="en-US" altLang="ko-KR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'</a:t>
              </a:r>
              <a:r>
                <a:rPr lang="ko-KR" altLang="en-US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자동 조절</a:t>
              </a:r>
              <a:r>
                <a:rPr lang="en-US" altLang="ko-KR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'</a:t>
              </a:r>
              <a:endParaRPr lang="en-US" sz="2099" dirty="0">
                <a:solidFill>
                  <a:srgbClr val="0F326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8755" y="11243"/>
              <a:ext cx="5753100" cy="3350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ko-KR" altLang="en-US" sz="2600" b="1" dirty="0">
                  <a:solidFill>
                    <a:srgbClr val="1F4E79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모니터링</a:t>
              </a:r>
              <a:r>
                <a:rPr lang="en-US" altLang="ko-KR" sz="2600" b="1" dirty="0">
                  <a:solidFill>
                    <a:srgbClr val="1F4E79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/Feed back</a:t>
              </a:r>
              <a:endParaRPr lang="en-US" sz="2600" b="1" dirty="0">
                <a:solidFill>
                  <a:srgbClr val="1F4E79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</p:txBody>
        </p:sp>
      </p:grpSp>
      <p:grpSp>
        <p:nvGrpSpPr>
          <p:cNvPr id="12" name="Group 9">
            <a:extLst>
              <a:ext uri="{FF2B5EF4-FFF2-40B4-BE49-F238E27FC236}">
                <a16:creationId xmlns:a16="http://schemas.microsoft.com/office/drawing/2014/main" id="{156D8C0B-2C3C-4FD5-888A-C47FDEBD7C1A}"/>
              </a:ext>
            </a:extLst>
          </p:cNvPr>
          <p:cNvGrpSpPr/>
          <p:nvPr/>
        </p:nvGrpSpPr>
        <p:grpSpPr>
          <a:xfrm>
            <a:off x="12151384" y="1524837"/>
            <a:ext cx="4336391" cy="2560044"/>
            <a:chOff x="0" y="11243"/>
            <a:chExt cx="5781855" cy="1980312"/>
          </a:xfrm>
        </p:grpSpPr>
        <p:sp>
          <p:nvSpPr>
            <p:cNvPr id="13" name="TextBox 10">
              <a:extLst>
                <a:ext uri="{FF2B5EF4-FFF2-40B4-BE49-F238E27FC236}">
                  <a16:creationId xmlns:a16="http://schemas.microsoft.com/office/drawing/2014/main" id="{F1F778BF-5E90-4D3E-B5D2-C6259AEBE5EA}"/>
                </a:ext>
              </a:extLst>
            </p:cNvPr>
            <p:cNvSpPr txBox="1"/>
            <p:nvPr/>
          </p:nvSpPr>
          <p:spPr>
            <a:xfrm>
              <a:off x="0" y="1146175"/>
              <a:ext cx="5753100" cy="8453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</a:pPr>
              <a:r>
                <a:rPr lang="en-US" altLang="ko-KR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FLY BACK converter</a:t>
              </a:r>
              <a:r>
                <a:rPr lang="ko-KR" altLang="en-US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을 통한 </a:t>
              </a:r>
              <a:r>
                <a:rPr lang="ko-KR" altLang="en-US" sz="2099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저전압</a:t>
              </a:r>
              <a:r>
                <a:rPr lang="ko-KR" altLang="en-US" sz="2099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전력의 안정적인 공급을 가능하게 한다</a:t>
              </a:r>
              <a:endParaRPr lang="en-US" sz="2099" dirty="0">
                <a:solidFill>
                  <a:srgbClr val="0F326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" name="TextBox 11">
              <a:extLst>
                <a:ext uri="{FF2B5EF4-FFF2-40B4-BE49-F238E27FC236}">
                  <a16:creationId xmlns:a16="http://schemas.microsoft.com/office/drawing/2014/main" id="{C2B5616B-C524-49DF-9AE4-9D5BF8BAA2A0}"/>
                </a:ext>
              </a:extLst>
            </p:cNvPr>
            <p:cNvSpPr txBox="1"/>
            <p:nvPr/>
          </p:nvSpPr>
          <p:spPr>
            <a:xfrm>
              <a:off x="28755" y="11243"/>
              <a:ext cx="5753100" cy="3415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 dirty="0">
                  <a:solidFill>
                    <a:srgbClr val="1F4E79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FLYBACK converter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733425"/>
            <a:ext cx="15821025" cy="114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  <a:spcBef>
                <a:spcPct val="0"/>
              </a:spcBef>
            </a:pPr>
            <a:r>
              <a:rPr lang="en-US" sz="8000" dirty="0" err="1">
                <a:solidFill>
                  <a:srgbClr val="1F4E7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Georgia Pro Light"/>
                <a:sym typeface="Georgia Pro Light"/>
              </a:rPr>
              <a:t>기대효과</a:t>
            </a:r>
            <a:r>
              <a:rPr lang="en-US" sz="8000" dirty="0">
                <a:solidFill>
                  <a:srgbClr val="1F4E7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Georgia Pro Light"/>
                <a:sym typeface="Georgia Pro Light"/>
              </a:rPr>
              <a:t> 및 </a:t>
            </a:r>
            <a:r>
              <a:rPr lang="en-US" sz="8000" dirty="0" err="1">
                <a:solidFill>
                  <a:srgbClr val="1F4E7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Georgia Pro Light"/>
                <a:sym typeface="Georgia Pro Light"/>
              </a:rPr>
              <a:t>확장</a:t>
            </a:r>
            <a:r>
              <a:rPr lang="en-US" sz="8000" dirty="0">
                <a:solidFill>
                  <a:srgbClr val="1F4E7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Georgia Pro Light"/>
                <a:sym typeface="Georgia Pro Light"/>
              </a:rPr>
              <a:t> </a:t>
            </a:r>
            <a:r>
              <a:rPr lang="en-US" sz="8000" dirty="0" err="1">
                <a:solidFill>
                  <a:srgbClr val="1F4E7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Georgia Pro Light"/>
                <a:sym typeface="Georgia Pro Light"/>
              </a:rPr>
              <a:t>가능성</a:t>
            </a:r>
            <a:endParaRPr lang="en-US" sz="8000" dirty="0">
              <a:solidFill>
                <a:srgbClr val="1F4E79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cs typeface="Georgia Pro Light"/>
              <a:sym typeface="Georgia Pro Light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666750" y="4203684"/>
            <a:ext cx="7191375" cy="4442035"/>
            <a:chOff x="0" y="-47625"/>
            <a:chExt cx="9588500" cy="3651888"/>
          </a:xfrm>
        </p:grpSpPr>
        <p:sp>
          <p:nvSpPr>
            <p:cNvPr id="4" name="TextBox 4"/>
            <p:cNvSpPr txBox="1"/>
            <p:nvPr/>
          </p:nvSpPr>
          <p:spPr>
            <a:xfrm>
              <a:off x="0" y="1157837"/>
              <a:ext cx="9588500" cy="24464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</a:pPr>
              <a:r>
                <a:rPr lang="en-US" sz="28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본 </a:t>
              </a:r>
              <a:r>
                <a:rPr lang="en-US" sz="28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프로젝트를</a:t>
              </a:r>
              <a:r>
                <a:rPr lang="en-US" sz="28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8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통해</a:t>
              </a:r>
              <a:r>
                <a:rPr lang="en-US" sz="28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8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전기공학</a:t>
              </a:r>
              <a:r>
                <a:rPr lang="en-US" sz="28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8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분야에서의</a:t>
              </a:r>
              <a:r>
                <a:rPr lang="en-US" sz="28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8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실무</a:t>
              </a:r>
              <a:r>
                <a:rPr lang="en-US" sz="28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8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능력이</a:t>
              </a:r>
              <a:r>
                <a:rPr lang="en-US" sz="28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8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크게</a:t>
              </a:r>
              <a:r>
                <a:rPr lang="en-US" sz="28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8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향상될</a:t>
              </a:r>
              <a:r>
                <a:rPr lang="en-US" sz="28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8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것입니다</a:t>
              </a:r>
              <a:r>
                <a:rPr lang="en-US" sz="28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.</a:t>
              </a:r>
              <a:br>
                <a:rPr lang="en-US" sz="28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</a:br>
              <a:r>
                <a:rPr lang="en-US" sz="28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800" b="1" dirty="0" err="1">
                  <a:solidFill>
                    <a:srgbClr val="0F3265"/>
                  </a:solidFill>
                  <a:highlight>
                    <a:srgbClr val="FFFF00"/>
                  </a:highlight>
                  <a:latin typeface="DM Sans Bold"/>
                  <a:ea typeface="DM Sans Bold"/>
                  <a:cs typeface="DM Sans Bold"/>
                  <a:sym typeface="DM Sans Bold"/>
                </a:rPr>
                <a:t>이론과</a:t>
              </a:r>
              <a:r>
                <a:rPr lang="en-US" sz="2800" b="1" dirty="0">
                  <a:solidFill>
                    <a:srgbClr val="0F3265"/>
                  </a:solidFill>
                  <a:highlight>
                    <a:srgbClr val="FFFF00"/>
                  </a:highlight>
                  <a:latin typeface="DM Sans Bold"/>
                  <a:ea typeface="DM Sans Bold"/>
                  <a:cs typeface="DM Sans Bold"/>
                  <a:sym typeface="DM Sans Bold"/>
                </a:rPr>
                <a:t> </a:t>
              </a:r>
              <a:r>
                <a:rPr lang="en-US" sz="2800" b="1" dirty="0" err="1">
                  <a:solidFill>
                    <a:srgbClr val="0F3265"/>
                  </a:solidFill>
                  <a:highlight>
                    <a:srgbClr val="FFFF00"/>
                  </a:highlight>
                  <a:latin typeface="DM Sans Bold"/>
                  <a:ea typeface="DM Sans Bold"/>
                  <a:cs typeface="DM Sans Bold"/>
                  <a:sym typeface="DM Sans Bold"/>
                </a:rPr>
                <a:t>실습</a:t>
              </a:r>
              <a:r>
                <a:rPr lang="en-US" sz="2800" dirty="0" err="1">
                  <a:solidFill>
                    <a:srgbClr val="0F3265"/>
                  </a:solidFill>
                  <a:highlight>
                    <a:srgbClr val="FFFF00"/>
                  </a:highlight>
                  <a:latin typeface="DM Sans"/>
                  <a:ea typeface="DM Sans"/>
                  <a:cs typeface="DM Sans"/>
                  <a:sym typeface="DM Sans"/>
                </a:rPr>
                <a:t>의</a:t>
              </a:r>
              <a:r>
                <a:rPr lang="en-US" sz="2800" dirty="0">
                  <a:solidFill>
                    <a:srgbClr val="0F3265"/>
                  </a:solidFill>
                  <a:highlight>
                    <a:srgbClr val="FFFF00"/>
                  </a:highlight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8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결합을</a:t>
              </a:r>
              <a:r>
                <a:rPr lang="en-US" sz="28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8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통해</a:t>
              </a:r>
              <a:r>
                <a:rPr lang="en-US" sz="28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8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학생들은</a:t>
              </a:r>
              <a:r>
                <a:rPr lang="en-US" sz="28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8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실제</a:t>
              </a:r>
              <a:r>
                <a:rPr lang="en-US" sz="28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8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문제를</a:t>
              </a:r>
              <a:r>
                <a:rPr lang="en-US" sz="28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8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해결하는</a:t>
              </a:r>
              <a:r>
                <a:rPr lang="en-US" sz="28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데 </a:t>
              </a:r>
              <a:r>
                <a:rPr lang="en-US" sz="28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필요한</a:t>
              </a:r>
              <a:r>
                <a:rPr lang="en-US" sz="28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8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기술을</a:t>
              </a:r>
              <a:r>
                <a:rPr lang="en-US" sz="28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8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익히게</a:t>
              </a:r>
              <a:r>
                <a:rPr lang="en-US" sz="28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8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됩니다</a:t>
              </a:r>
              <a:r>
                <a:rPr lang="en-US" sz="28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.</a:t>
              </a:r>
            </a:p>
            <a:p>
              <a:pPr marL="0" lvl="0" indent="0" algn="l">
                <a:lnSpc>
                  <a:spcPts val="2939"/>
                </a:lnSpc>
              </a:pPr>
              <a:r>
                <a:rPr lang="ko-KR" altLang="en-US" sz="28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직접 회로를 구성하고 작동까지 구현하는 작업을 통해 문제를 해결하고 도전하는 능력을 길렀습니다</a:t>
              </a:r>
              <a:r>
                <a:rPr lang="en-US" altLang="ko-KR" sz="28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.</a:t>
              </a:r>
              <a:endParaRPr lang="en-US" sz="2800" dirty="0">
                <a:solidFill>
                  <a:srgbClr val="0F326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588500" cy="3945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4000" b="1" dirty="0" err="1">
                  <a:solidFill>
                    <a:srgbClr val="1F4E79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실무</a:t>
              </a:r>
              <a:r>
                <a:rPr lang="en-US" sz="4000" b="1" dirty="0">
                  <a:solidFill>
                    <a:srgbClr val="1F4E79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 </a:t>
              </a:r>
              <a:r>
                <a:rPr lang="en-US" sz="4000" b="1" dirty="0" err="1">
                  <a:solidFill>
                    <a:srgbClr val="1F4E79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능력</a:t>
              </a:r>
              <a:r>
                <a:rPr lang="en-US" sz="4000" b="1" dirty="0">
                  <a:solidFill>
                    <a:srgbClr val="1F4E79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 </a:t>
              </a:r>
              <a:r>
                <a:rPr lang="en-US" sz="4000" b="1" dirty="0" err="1">
                  <a:solidFill>
                    <a:srgbClr val="1F4E79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향상</a:t>
              </a:r>
              <a:endParaRPr lang="en-US" sz="4000" b="1" dirty="0">
                <a:solidFill>
                  <a:srgbClr val="1F4E79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0" y="4076000"/>
            <a:ext cx="7191375" cy="4070138"/>
            <a:chOff x="0" y="-47625"/>
            <a:chExt cx="9588500" cy="3346144"/>
          </a:xfrm>
        </p:grpSpPr>
        <p:sp>
          <p:nvSpPr>
            <p:cNvPr id="7" name="TextBox 7"/>
            <p:cNvSpPr txBox="1"/>
            <p:nvPr/>
          </p:nvSpPr>
          <p:spPr>
            <a:xfrm>
              <a:off x="0" y="1157837"/>
              <a:ext cx="9588500" cy="21406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</a:pPr>
              <a:r>
                <a:rPr lang="en-US" sz="28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8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다양한</a:t>
              </a:r>
              <a:r>
                <a:rPr lang="en-US" sz="28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8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기술들이</a:t>
              </a:r>
              <a:r>
                <a:rPr lang="en-US" sz="28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8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융합된</a:t>
              </a:r>
              <a:r>
                <a:rPr lang="en-US" sz="28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본 </a:t>
              </a:r>
              <a:r>
                <a:rPr lang="en-US" sz="28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연구는</a:t>
              </a:r>
              <a:r>
                <a:rPr lang="en-US" sz="28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8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팀원들에게</a:t>
              </a:r>
              <a:r>
                <a:rPr lang="en-US" sz="28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800" b="1" dirty="0" err="1">
                  <a:solidFill>
                    <a:srgbClr val="0F3265"/>
                  </a:solidFill>
                  <a:highlight>
                    <a:srgbClr val="FFFF00"/>
                  </a:highlight>
                  <a:latin typeface="DM Sans Bold"/>
                  <a:ea typeface="DM Sans Bold"/>
                  <a:cs typeface="DM Sans Bold"/>
                  <a:sym typeface="DM Sans Bold"/>
                </a:rPr>
                <a:t>다양한</a:t>
              </a:r>
              <a:r>
                <a:rPr lang="en-US" sz="2800" b="1" dirty="0">
                  <a:solidFill>
                    <a:srgbClr val="0F3265"/>
                  </a:solidFill>
                  <a:highlight>
                    <a:srgbClr val="FFFF00"/>
                  </a:highlight>
                  <a:latin typeface="DM Sans Bold"/>
                  <a:ea typeface="DM Sans Bold"/>
                  <a:cs typeface="DM Sans Bold"/>
                  <a:sym typeface="DM Sans Bold"/>
                </a:rPr>
                <a:t> </a:t>
              </a:r>
              <a:r>
                <a:rPr lang="en-US" sz="2800" b="1" dirty="0" err="1">
                  <a:solidFill>
                    <a:srgbClr val="0F3265"/>
                  </a:solidFill>
                  <a:highlight>
                    <a:srgbClr val="FFFF00"/>
                  </a:highlight>
                  <a:latin typeface="DM Sans Bold"/>
                  <a:ea typeface="DM Sans Bold"/>
                  <a:cs typeface="DM Sans Bold"/>
                  <a:sym typeface="DM Sans Bold"/>
                </a:rPr>
                <a:t>기술적</a:t>
              </a:r>
              <a:r>
                <a:rPr lang="en-US" sz="2800" b="1" dirty="0">
                  <a:solidFill>
                    <a:srgbClr val="0F3265"/>
                  </a:solidFill>
                  <a:highlight>
                    <a:srgbClr val="FFFF00"/>
                  </a:highlight>
                  <a:latin typeface="DM Sans Bold"/>
                  <a:ea typeface="DM Sans Bold"/>
                  <a:cs typeface="DM Sans Bold"/>
                  <a:sym typeface="DM Sans Bold"/>
                </a:rPr>
                <a:t> </a:t>
              </a:r>
              <a:r>
                <a:rPr lang="en-US" sz="2800" b="1" dirty="0" err="1">
                  <a:solidFill>
                    <a:srgbClr val="0F3265"/>
                  </a:solidFill>
                  <a:highlight>
                    <a:srgbClr val="FFFF00"/>
                  </a:highlight>
                  <a:latin typeface="DM Sans Bold"/>
                  <a:ea typeface="DM Sans Bold"/>
                  <a:cs typeface="DM Sans Bold"/>
                  <a:sym typeface="DM Sans Bold"/>
                </a:rPr>
                <a:t>경험</a:t>
              </a:r>
              <a:r>
                <a:rPr lang="en-US" sz="2800" dirty="0" err="1">
                  <a:solidFill>
                    <a:srgbClr val="0F3265"/>
                  </a:solidFill>
                  <a:highlight>
                    <a:srgbClr val="FFFF00"/>
                  </a:highlight>
                  <a:latin typeface="DM Sans"/>
                  <a:ea typeface="DM Sans"/>
                  <a:cs typeface="DM Sans"/>
                  <a:sym typeface="DM Sans"/>
                </a:rPr>
                <a:t>을</a:t>
              </a:r>
              <a:r>
                <a:rPr lang="en-US" sz="2800" dirty="0">
                  <a:solidFill>
                    <a:srgbClr val="0F3265"/>
                  </a:solidFill>
                  <a:highlight>
                    <a:srgbClr val="FFFF00"/>
                  </a:highlight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8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제공합니다</a:t>
              </a:r>
              <a:r>
                <a:rPr lang="en-US" sz="28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. </a:t>
              </a:r>
              <a:r>
                <a:rPr lang="en-US" sz="28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이는</a:t>
              </a:r>
              <a:r>
                <a:rPr lang="en-US" sz="28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8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향후</a:t>
              </a:r>
              <a:r>
                <a:rPr lang="en-US" sz="28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8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산업에서의</a:t>
              </a:r>
              <a:r>
                <a:rPr lang="en-US" sz="28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8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경쟁력을</a:t>
              </a:r>
              <a:r>
                <a:rPr lang="en-US" sz="28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8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강화하는</a:t>
              </a:r>
              <a:r>
                <a:rPr lang="en-US" sz="28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데 </a:t>
              </a:r>
              <a:r>
                <a:rPr lang="en-US" sz="28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기여할</a:t>
              </a:r>
              <a:r>
                <a:rPr lang="en-US" sz="28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8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것입니다</a:t>
              </a:r>
              <a:r>
                <a:rPr lang="en-US" sz="28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.</a:t>
              </a:r>
            </a:p>
            <a:p>
              <a:pPr marL="0" lvl="0" indent="0" algn="l">
                <a:lnSpc>
                  <a:spcPts val="2939"/>
                </a:lnSpc>
              </a:pPr>
              <a:r>
                <a:rPr lang="ko-KR" altLang="en-US" sz="28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변압기 직접 조립 및 권선 작업을 통해 변압기에 대한 이해 향상</a:t>
              </a:r>
              <a:r>
                <a:rPr lang="en-US" altLang="ko-KR" sz="28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. </a:t>
              </a:r>
              <a:r>
                <a:rPr lang="ko-KR" altLang="en-US" sz="28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향후 관련 기업 취업 역량 강화</a:t>
              </a:r>
              <a:endParaRPr lang="en-US" sz="2800" dirty="0">
                <a:solidFill>
                  <a:srgbClr val="0F326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9588500" cy="3945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4000" b="1" dirty="0" err="1">
                  <a:solidFill>
                    <a:srgbClr val="1F4E79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기술</a:t>
              </a:r>
              <a:r>
                <a:rPr lang="en-US" sz="4000" b="1" dirty="0">
                  <a:solidFill>
                    <a:srgbClr val="1F4E79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 </a:t>
              </a:r>
              <a:r>
                <a:rPr lang="en-US" sz="4000" b="1" dirty="0" err="1">
                  <a:solidFill>
                    <a:srgbClr val="1F4E79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융합</a:t>
              </a:r>
              <a:r>
                <a:rPr lang="en-US" sz="4000" b="1" dirty="0">
                  <a:solidFill>
                    <a:srgbClr val="1F4E79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 </a:t>
              </a:r>
              <a:r>
                <a:rPr lang="en-US" sz="4000" b="1" dirty="0" err="1">
                  <a:solidFill>
                    <a:srgbClr val="1F4E79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경험</a:t>
              </a:r>
              <a:endParaRPr lang="en-US" sz="4000" b="1" dirty="0">
                <a:solidFill>
                  <a:srgbClr val="1F4E79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E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66750" y="716756"/>
            <a:ext cx="8324850" cy="2588777"/>
            <a:chOff x="0" y="66675"/>
            <a:chExt cx="11099800" cy="3451703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15546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 dirty="0" err="1">
                  <a:solidFill>
                    <a:srgbClr val="1F4E79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Georgia Pro Light"/>
                  <a:sym typeface="Georgia Pro Light"/>
                </a:rPr>
                <a:t>결론</a:t>
              </a:r>
              <a:r>
                <a:rPr lang="en-US" sz="8000" dirty="0">
                  <a:solidFill>
                    <a:srgbClr val="1F4E79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Georgia Pro Light"/>
                  <a:sym typeface="Georgia Pro Light"/>
                </a:rPr>
                <a:t> </a:t>
              </a:r>
              <a:r>
                <a:rPr lang="ko-KR" altLang="en-US" sz="8000" dirty="0">
                  <a:solidFill>
                    <a:srgbClr val="1F4E79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Georgia Pro Light"/>
                  <a:sym typeface="Georgia Pro Light"/>
                </a:rPr>
                <a:t>및 고찰</a:t>
              </a:r>
              <a:endParaRPr lang="en-US" sz="8000" dirty="0">
                <a:solidFill>
                  <a:srgbClr val="1F4E7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Georgia Pro Light"/>
                <a:sym typeface="Georgia Pro Light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047803"/>
              <a:ext cx="11099800" cy="1470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4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본 </a:t>
              </a:r>
              <a:r>
                <a:rPr lang="en-US" sz="24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연구</a:t>
              </a:r>
              <a:r>
                <a:rPr lang="en-US" sz="24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4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발표의</a:t>
              </a:r>
              <a:r>
                <a:rPr lang="en-US" sz="24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400" b="1" dirty="0" err="1">
                  <a:solidFill>
                    <a:srgbClr val="0F326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핵심</a:t>
              </a:r>
              <a:r>
                <a:rPr lang="en-US" sz="2400" b="1" dirty="0">
                  <a:solidFill>
                    <a:srgbClr val="0F326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 </a:t>
              </a:r>
              <a:r>
                <a:rPr lang="en-US" sz="2400" b="1" dirty="0" err="1">
                  <a:solidFill>
                    <a:srgbClr val="0F326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요점</a:t>
              </a:r>
              <a:r>
                <a:rPr lang="en-US" sz="24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은</a:t>
              </a:r>
              <a:r>
                <a:rPr lang="en-US" sz="24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4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스마트</a:t>
              </a:r>
              <a:r>
                <a:rPr lang="en-US" sz="24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4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파워</a:t>
              </a:r>
              <a:r>
                <a:rPr lang="en-US" sz="24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4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서플라이의</a:t>
              </a:r>
              <a:r>
                <a:rPr lang="en-US" sz="24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4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필요성과</a:t>
              </a:r>
              <a:r>
                <a:rPr lang="en-US" sz="24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4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전기공학의</a:t>
              </a:r>
              <a:r>
                <a:rPr lang="en-US" sz="24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4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융합을</a:t>
              </a:r>
              <a:r>
                <a:rPr lang="en-US" sz="24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4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통해</a:t>
              </a:r>
              <a:r>
                <a:rPr lang="en-US" sz="24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4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향후</a:t>
              </a:r>
              <a:r>
                <a:rPr lang="en-US" sz="24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4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기술</a:t>
              </a:r>
              <a:r>
                <a:rPr lang="en-US" sz="24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4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발전</a:t>
              </a:r>
              <a:r>
                <a:rPr lang="en-US" sz="24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4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방향을</a:t>
              </a:r>
              <a:r>
                <a:rPr lang="en-US" sz="24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4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제시하는</a:t>
              </a:r>
              <a:r>
                <a:rPr lang="en-US" sz="24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400" dirty="0" err="1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것입니다</a:t>
              </a:r>
              <a:r>
                <a:rPr lang="en-US" sz="2400" dirty="0">
                  <a:solidFill>
                    <a:srgbClr val="0F3265"/>
                  </a:solidFill>
                  <a:latin typeface="DM Sans"/>
                  <a:ea typeface="DM Sans"/>
                  <a:cs typeface="DM Sans"/>
                  <a:sym typeface="DM Sans"/>
                </a:rPr>
                <a:t>.</a:t>
              </a:r>
            </a:p>
          </p:txBody>
        </p:sp>
      </p:grpSp>
      <p:sp>
        <p:nvSpPr>
          <p:cNvPr id="9" name="TextBox 6">
            <a:extLst>
              <a:ext uri="{FF2B5EF4-FFF2-40B4-BE49-F238E27FC236}">
                <a16:creationId xmlns:a16="http://schemas.microsoft.com/office/drawing/2014/main" id="{DD1B2C54-D88B-45E9-B0D6-A59123386DB7}"/>
              </a:ext>
            </a:extLst>
          </p:cNvPr>
          <p:cNvSpPr txBox="1"/>
          <p:nvPr/>
        </p:nvSpPr>
        <p:spPr>
          <a:xfrm>
            <a:off x="662739" y="4040569"/>
            <a:ext cx="8324850" cy="2970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2400" dirty="0">
                <a:solidFill>
                  <a:srgbClr val="0F326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ko-KR" altLang="en-US" sz="2400" dirty="0" err="1">
                <a:solidFill>
                  <a:srgbClr val="0F3265"/>
                </a:solidFill>
                <a:latin typeface="DM Sans"/>
                <a:ea typeface="DM Sans"/>
                <a:cs typeface="DM Sans"/>
                <a:sym typeface="DM Sans"/>
              </a:rPr>
              <a:t>저전압을</a:t>
            </a:r>
            <a:r>
              <a:rPr lang="ko-KR" altLang="en-US" sz="2400" dirty="0">
                <a:solidFill>
                  <a:srgbClr val="0F326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ko-KR" altLang="en-US" sz="2400" dirty="0" err="1">
                <a:solidFill>
                  <a:srgbClr val="0F3265"/>
                </a:solidFill>
                <a:latin typeface="DM Sans"/>
                <a:ea typeface="DM Sans"/>
                <a:cs typeface="DM Sans"/>
                <a:sym typeface="DM Sans"/>
              </a:rPr>
              <a:t>목표로하는</a:t>
            </a:r>
            <a:r>
              <a:rPr lang="ko-KR" altLang="en-US" sz="2400" dirty="0">
                <a:solidFill>
                  <a:srgbClr val="0F3265"/>
                </a:solidFill>
                <a:latin typeface="DM Sans"/>
                <a:ea typeface="DM Sans"/>
                <a:cs typeface="DM Sans"/>
                <a:sym typeface="DM Sans"/>
              </a:rPr>
              <a:t> 가변전원을 제작하는 경우에 있어</a:t>
            </a:r>
            <a:r>
              <a:rPr lang="en-US" altLang="ko-KR" sz="2400" dirty="0">
                <a:solidFill>
                  <a:srgbClr val="0F3265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ko-KR" altLang="en-US" sz="2400" dirty="0">
                <a:solidFill>
                  <a:srgbClr val="0F3265"/>
                </a:solidFill>
                <a:latin typeface="DM Sans"/>
                <a:ea typeface="DM Sans"/>
                <a:cs typeface="DM Sans"/>
                <a:sym typeface="DM Sans"/>
              </a:rPr>
              <a:t>구성을 변경하여 토폴로지와 기판의 집적화를 조금 더 이끌어냈다면 상품의 질을 향상시킬 수 있지 않을까 하는 아쉬움이 있습니다</a:t>
            </a:r>
            <a:r>
              <a:rPr lang="en-US" altLang="ko-KR" sz="2400" dirty="0">
                <a:solidFill>
                  <a:srgbClr val="0F326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marL="0" lvl="0" indent="0" algn="l">
              <a:lnSpc>
                <a:spcPts val="2940"/>
              </a:lnSpc>
            </a:pPr>
            <a:endParaRPr lang="en-US" sz="2400" dirty="0">
              <a:solidFill>
                <a:srgbClr val="0F326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>
              <a:lnSpc>
                <a:spcPts val="2940"/>
              </a:lnSpc>
            </a:pPr>
            <a:r>
              <a:rPr lang="en-US" sz="2400" dirty="0">
                <a:solidFill>
                  <a:srgbClr val="0F326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ko-KR" altLang="en-US" sz="2400" dirty="0">
                <a:solidFill>
                  <a:srgbClr val="0F3265"/>
                </a:solidFill>
                <a:latin typeface="DM Sans"/>
                <a:ea typeface="DM Sans"/>
                <a:cs typeface="DM Sans"/>
                <a:sym typeface="DM Sans"/>
              </a:rPr>
              <a:t>또한 기판 하나에 원하는 기능을 구현하고</a:t>
            </a:r>
            <a:r>
              <a:rPr lang="en-US" altLang="ko-KR" sz="2400" dirty="0">
                <a:solidFill>
                  <a:srgbClr val="0F3265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ko-KR" altLang="en-US" sz="2400" dirty="0">
                <a:solidFill>
                  <a:srgbClr val="0F3265"/>
                </a:solidFill>
                <a:latin typeface="DM Sans"/>
                <a:ea typeface="DM Sans"/>
                <a:cs typeface="DM Sans"/>
                <a:sym typeface="DM Sans"/>
              </a:rPr>
              <a:t>제작 그리고 </a:t>
            </a:r>
            <a:r>
              <a:rPr lang="en-US" altLang="ko-KR" sz="2400" dirty="0">
                <a:solidFill>
                  <a:srgbClr val="0F3265"/>
                </a:solidFill>
                <a:latin typeface="DM Sans"/>
                <a:ea typeface="DM Sans"/>
                <a:cs typeface="DM Sans"/>
                <a:sym typeface="DM Sans"/>
              </a:rPr>
              <a:t>3d </a:t>
            </a:r>
            <a:r>
              <a:rPr lang="ko-KR" altLang="en-US" sz="2400" dirty="0">
                <a:solidFill>
                  <a:srgbClr val="0F3265"/>
                </a:solidFill>
                <a:latin typeface="DM Sans"/>
                <a:ea typeface="DM Sans"/>
                <a:cs typeface="DM Sans"/>
                <a:sym typeface="DM Sans"/>
              </a:rPr>
              <a:t>프린팅을 사용했다는 점에서 원가절감의 요소를 이루었다고 생각합니다</a:t>
            </a:r>
            <a:r>
              <a:rPr lang="en-US" altLang="ko-KR" sz="2400" dirty="0">
                <a:solidFill>
                  <a:srgbClr val="0F326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lang="en-US" sz="2400" dirty="0">
              <a:solidFill>
                <a:srgbClr val="0F326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16824544" y="8838298"/>
            <a:ext cx="796706" cy="781952"/>
            <a:chOff x="0" y="0"/>
            <a:chExt cx="685800" cy="6731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85800" cy="668020"/>
            </a:xfrm>
            <a:custGeom>
              <a:avLst/>
              <a:gdLst/>
              <a:ahLst/>
              <a:cxnLst/>
              <a:rect l="l" t="t" r="r" b="b"/>
              <a:pathLst>
                <a:path w="685800" h="668020">
                  <a:moveTo>
                    <a:pt x="342900" y="0"/>
                  </a:moveTo>
                  <a:lnTo>
                    <a:pt x="434340" y="162560"/>
                  </a:lnTo>
                  <a:lnTo>
                    <a:pt x="618490" y="132080"/>
                  </a:lnTo>
                  <a:lnTo>
                    <a:pt x="547370" y="304800"/>
                  </a:lnTo>
                  <a:lnTo>
                    <a:pt x="685800" y="430530"/>
                  </a:lnTo>
                  <a:lnTo>
                    <a:pt x="506730" y="482600"/>
                  </a:lnTo>
                  <a:lnTo>
                    <a:pt x="495300" y="668020"/>
                  </a:lnTo>
                  <a:lnTo>
                    <a:pt x="342900" y="561340"/>
                  </a:lnTo>
                  <a:lnTo>
                    <a:pt x="190500" y="668020"/>
                  </a:lnTo>
                  <a:lnTo>
                    <a:pt x="179070" y="482600"/>
                  </a:lnTo>
                  <a:lnTo>
                    <a:pt x="0" y="430530"/>
                  </a:lnTo>
                  <a:lnTo>
                    <a:pt x="138430" y="304800"/>
                  </a:lnTo>
                  <a:lnTo>
                    <a:pt x="67310" y="132080"/>
                  </a:lnTo>
                  <a:lnTo>
                    <a:pt x="251460" y="16256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9700" y="117475"/>
              <a:ext cx="406400" cy="441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2" name="TextBox 4">
            <a:extLst>
              <a:ext uri="{FF2B5EF4-FFF2-40B4-BE49-F238E27FC236}">
                <a16:creationId xmlns:a16="http://schemas.microsoft.com/office/drawing/2014/main" id="{93A01D10-A1F9-4EBB-A92D-6B28F2172BE9}"/>
              </a:ext>
            </a:extLst>
          </p:cNvPr>
          <p:cNvSpPr txBox="1"/>
          <p:nvPr/>
        </p:nvSpPr>
        <p:spPr>
          <a:xfrm>
            <a:off x="6924308" y="4485703"/>
            <a:ext cx="10534650" cy="10618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  <a:spcBef>
                <a:spcPct val="0"/>
              </a:spcBef>
            </a:pPr>
            <a:r>
              <a:rPr lang="ko-KR" altLang="en-US" sz="7000" dirty="0">
                <a:solidFill>
                  <a:srgbClr val="1F4E7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Georgia Pro Light"/>
                <a:sym typeface="Georgia Pro Light"/>
              </a:rPr>
              <a:t>감사합니다</a:t>
            </a:r>
            <a:r>
              <a:rPr lang="en-US" altLang="ko-KR" sz="7000" dirty="0">
                <a:solidFill>
                  <a:srgbClr val="1F4E7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Georgia Pro Light"/>
                <a:sym typeface="Georgia Pro Light"/>
              </a:rPr>
              <a:t>.</a:t>
            </a:r>
            <a:endParaRPr lang="en-US" sz="7000" dirty="0">
              <a:solidFill>
                <a:srgbClr val="1F4E79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cs typeface="Georgia Pro Light"/>
              <a:sym typeface="Georgia Pro Light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060163AD-B848-4DC8-B2A5-C2A40B005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50" y="514350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E8C7B453-98E3-46EE-8A69-4277372A4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458B220-3D8A-445B-8FCA-6DA62937E4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1885923"/>
            <a:ext cx="35091686" cy="795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9A5B26-5E29-42DE-AB38-5362A56BE0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2103782"/>
            <a:ext cx="32737204" cy="962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881D097-CB50-4109-BFF9-ABA352011A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69875" y="2192582"/>
            <a:ext cx="37632975" cy="96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9635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2961</TotalTime>
  <Words>507</Words>
  <Application>Microsoft Office PowerPoint</Application>
  <PresentationFormat>사용자 지정</PresentationFormat>
  <Paragraphs>70</Paragraphs>
  <Slides>14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2" baseType="lpstr">
      <vt:lpstr>Arial</vt:lpstr>
      <vt:lpstr>나눔고딕 ExtraBold</vt:lpstr>
      <vt:lpstr>DM Sans Bold</vt:lpstr>
      <vt:lpstr>DM Sans</vt:lpstr>
      <vt:lpstr>Calibri</vt:lpstr>
      <vt:lpstr>맑은 고딕</vt:lpstr>
      <vt:lpstr>Georgia Pro Light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프레젠테이션 - 스마트 파워 서플라이</dc:title>
  <dc:creator>User</dc:creator>
  <dc:description>프레젠테이션 - 스마트 파워 서플라이</dc:description>
  <cp:lastModifiedBy>건호 김</cp:lastModifiedBy>
  <cp:revision>12</cp:revision>
  <dcterms:created xsi:type="dcterms:W3CDTF">2006-08-16T00:00:00Z</dcterms:created>
  <dcterms:modified xsi:type="dcterms:W3CDTF">2025-12-21T11:10:40Z</dcterms:modified>
  <dc:identifier>DAG7K-oT-GU</dc:identifier>
</cp:coreProperties>
</file>