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presProps" Target="presProps.xml"  /><Relationship Id="rId2" Type="http://schemas.openxmlformats.org/officeDocument/2006/relationships/slide" Target="slides/slide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drawings/_rels/vmlDrawing1.vml.rels><?xml version="1.0" encoding="UTF-8" standalone="yes" ?><Relationships xmlns="http://schemas.openxmlformats.org/package/2006/relationships"><Relationship Id="rId1" Type="http://schemas.openxmlformats.org/officeDocument/2006/relationships/image" Target="../media/image36.png"  /></Relationships>
</file>

<file path=ppt/drawings/_rels/vmlDrawing2.vml.rels><?xml version="1.0" encoding="UTF-8" standalone="yes" ?><Relationships xmlns="http://schemas.openxmlformats.org/package/2006/relationships"><Relationship Id="rId1" Type="http://schemas.openxmlformats.org/officeDocument/2006/relationships/image" Target="../media/image37.png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svg"  /><Relationship Id="rId5" Type="http://schemas.openxmlformats.org/officeDocument/2006/relationships/image" Target="../media/image4.png"  /><Relationship Id="rId6" Type="http://schemas.openxmlformats.org/officeDocument/2006/relationships/image" Target="../media/image5.sv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.png"  /><Relationship Id="rId11" Type="http://schemas.openxmlformats.org/officeDocument/2006/relationships/image" Target="../media/image7.svg"  /><Relationship Id="rId2" Type="http://schemas.openxmlformats.org/officeDocument/2006/relationships/image" Target="../media/image1.jpeg"  /><Relationship Id="rId3" Type="http://schemas.openxmlformats.org/officeDocument/2006/relationships/image" Target="../media/image6.png"  /><Relationship Id="rId4" Type="http://schemas.openxmlformats.org/officeDocument/2006/relationships/image" Target="../media/image7.svg"  /><Relationship Id="rId5" Type="http://schemas.openxmlformats.org/officeDocument/2006/relationships/image" Target="../media/image6.png"  /><Relationship Id="rId6" Type="http://schemas.openxmlformats.org/officeDocument/2006/relationships/image" Target="../media/image7.svg"  /><Relationship Id="rId7" Type="http://schemas.openxmlformats.org/officeDocument/2006/relationships/image" Target="../media/image8.png"  /><Relationship Id="rId8" Type="http://schemas.openxmlformats.org/officeDocument/2006/relationships/image" Target="../media/image6.png"  /><Relationship Id="rId9" Type="http://schemas.openxmlformats.org/officeDocument/2006/relationships/image" Target="../media/image7.sv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jpe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2.png"  /><Relationship Id="rId7" Type="http://schemas.openxmlformats.org/officeDocument/2006/relationships/image" Target="../media/image23.png"  /><Relationship Id="rId8" Type="http://schemas.openxmlformats.org/officeDocument/2006/relationships/image" Target="../media/image2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28.png"  /><Relationship Id="rId4" Type="http://schemas.openxmlformats.org/officeDocument/2006/relationships/image" Target="../media/image29.png"  /><Relationship Id="rId5" Type="http://schemas.openxmlformats.org/officeDocument/2006/relationships/image" Target="../media/image3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jpeg"  /><Relationship Id="rId3" Type="http://schemas.openxmlformats.org/officeDocument/2006/relationships/image" Target="../media/image32.png"  /><Relationship Id="rId4" Type="http://schemas.openxmlformats.org/officeDocument/2006/relationships/image" Target="../media/image33.png"  /><Relationship Id="rId5" Type="http://schemas.openxmlformats.org/officeDocument/2006/relationships/image" Target="../media/image33.png"  /><Relationship Id="rId6" Type="http://schemas.openxmlformats.org/officeDocument/2006/relationships/image" Target="../media/image3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Relationship Id="rId5" Type="http://schemas.openxmlformats.org/officeDocument/2006/relationships/vmlDrawing" Target="../drawings/vmlDrawing1.vml"  /><Relationship Id="rId6" Type="http://schemas.openxmlformats.org/officeDocument/2006/relationships/oleObject" Target="../embeddings/oleObject1.bin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vmlDrawing" Target="../drawings/vmlDrawing2.vml"  /><Relationship Id="rId4" Type="http://schemas.openxmlformats.org/officeDocument/2006/relationships/oleObject" Target="../embeddings/oleObject2.bin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jpeg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85470" y="6065950"/>
            <a:ext cx="9373830" cy="411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3348"/>
              </a:lnSpc>
              <a:spcBef>
                <a:spcPct val="0"/>
              </a:spcBef>
              <a:defRPr/>
            </a:pPr>
            <a:r>
              <a:rPr lang="en-US" sz="3348" spc="-26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전기모터 Ter</a:t>
            </a:r>
            <a:r>
              <a:rPr lang="en-US" altLang="ko-KR" sz="3348" spc="-26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</a:t>
            </a:r>
            <a:r>
              <a:rPr lang="en-US" sz="3348" spc="-26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project</a:t>
            </a:r>
            <a:endParaRPr lang="en-US" sz="3348" spc="-264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name="TextBox 4" id="4"/>
          <p:cNvSpPr txBox="true"/>
          <p:nvPr/>
        </p:nvSpPr>
        <p:spPr>
          <a:xfrm rot="0">
            <a:off x="6485854" y="2249395"/>
            <a:ext cx="10773446" cy="23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568"/>
              </a:lnSpc>
            </a:pPr>
            <a:r>
              <a:rPr lang="en-US" sz="10985" spc="-86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SPMSM</a:t>
            </a:r>
          </a:p>
          <a:p>
            <a:pPr algn="r" marL="0" indent="0" lvl="0">
              <a:lnSpc>
                <a:spcPts val="8568"/>
              </a:lnSpc>
              <a:spcBef>
                <a:spcPct val="0"/>
              </a:spcBef>
            </a:pPr>
            <a:r>
              <a:rPr lang="en-US" sz="10985" spc="-86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토크 리플 저감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60380" y="7176757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6조 신의윤 김민규 김건호 김민승 안석태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379156" y="1559650"/>
          <a:ext cx="6511183" cy="716770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10205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토크리플 정의 및 발생 원인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05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8극 12슬롯 SPMSM 기준 모델 토크 및 파형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05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변수 선정(1) - 방사형 착자 적용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05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변수 선정(2) -</a:t>
                      </a: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스큐(skew) 적용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05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변수 선정(3) -</a:t>
                      </a: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 영구자석 형상 최적화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05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결과분석 및 개선방향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3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참고문헌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목차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10441" y="9210675"/>
            <a:ext cx="2876856" cy="3714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99604" y="5024756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5" y="0"/>
                </a:lnTo>
                <a:lnTo>
                  <a:pt x="1672525" y="702460"/>
                </a:lnTo>
                <a:lnTo>
                  <a:pt x="0" y="702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11282" y="6600982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77720" y="1028700"/>
            <a:ext cx="5446342" cy="6135471"/>
          </a:xfrm>
          <a:custGeom>
            <a:avLst/>
            <a:gdLst/>
            <a:ahLst/>
            <a:cxnLst/>
            <a:rect r="r" b="b" t="t" l="l"/>
            <a:pathLst>
              <a:path h="6135471" w="5446342">
                <a:moveTo>
                  <a:pt x="0" y="0"/>
                </a:moveTo>
                <a:lnTo>
                  <a:pt x="5446342" y="0"/>
                </a:lnTo>
                <a:lnTo>
                  <a:pt x="5446342" y="6135471"/>
                </a:lnTo>
                <a:lnTo>
                  <a:pt x="0" y="61354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83473"/>
            <a:ext cx="94364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토크 리플 (Torque Ripple)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10441" y="9210675"/>
            <a:ext cx="2876856" cy="3714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name="TextBox 9" id="9"/>
          <p:cNvSpPr txBox="true"/>
          <p:nvPr/>
        </p:nvSpPr>
        <p:spPr>
          <a:xfrm rot="0">
            <a:off x="999604" y="4335780"/>
            <a:ext cx="88233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 리플 저감을 위한 설계 요소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585133" y="594629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슬롯/극 조합 최적화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9366" y="7544749"/>
            <a:ext cx="501635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slot opening 및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sub-slot 형상 설계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691640"/>
            <a:ext cx="11818922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 리플을 발생시키는 핵심 요소 두 가지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 리플 = </a:t>
            </a:r>
            <a:r>
              <a:rPr lang="en-US" sz="2299" b="true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코깅 토크</a:t>
            </a: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+ </a:t>
            </a:r>
            <a:r>
              <a:rPr lang="en-US" sz="2299" b="true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전류 및 자속 고조파 효과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전류가 0일 때 슬롯/치 구조와 영구자석 상호작용으로 발생하는 코깅 토크 성분과,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전원 인가 후 전류·자속 고조파에 의해 발생하는 전자기 토크 리플 성분이 합쳐진 결과.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44848" y="7406847"/>
            <a:ext cx="671913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부하에서의 토크 응답 – 과도 구간 후 정상 상태 도달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정상 상태 토크 확대 – 평균 토크와 순간 토크 리플 </a:t>
            </a:r>
          </a:p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99604" y="6623449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5" y="0"/>
                </a:lnTo>
                <a:lnTo>
                  <a:pt x="1672525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16887" y="5024756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0"/>
                </a:lnTo>
                <a:lnTo>
                  <a:pt x="0" y="702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68282" y="5946291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스큐(</a:t>
            </a:r>
            <a:r>
              <a:rPr lang="en-US" b="true" sz="20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skew) 적용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585133" y="7730486"/>
            <a:ext cx="50163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방사형 착자 적용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35646" y="1074105"/>
            <a:ext cx="5050584" cy="4146002"/>
          </a:xfrm>
          <a:custGeom>
            <a:avLst/>
            <a:gdLst/>
            <a:ahLst/>
            <a:cxnLst/>
            <a:rect r="r" b="b" t="t" l="l"/>
            <a:pathLst>
              <a:path h="4146002" w="5050584">
                <a:moveTo>
                  <a:pt x="0" y="0"/>
                </a:moveTo>
                <a:lnTo>
                  <a:pt x="5050584" y="0"/>
                </a:lnTo>
                <a:lnTo>
                  <a:pt x="5050584" y="4146002"/>
                </a:lnTo>
                <a:lnTo>
                  <a:pt x="0" y="4146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731758"/>
            <a:ext cx="7923534" cy="3852255"/>
          </a:xfrm>
          <a:custGeom>
            <a:avLst/>
            <a:gdLst/>
            <a:ahLst/>
            <a:cxnLst/>
            <a:rect r="r" b="b" t="t" l="l"/>
            <a:pathLst>
              <a:path h="3852255" w="7923534">
                <a:moveTo>
                  <a:pt x="0" y="0"/>
                </a:moveTo>
                <a:lnTo>
                  <a:pt x="7923534" y="0"/>
                </a:lnTo>
                <a:lnTo>
                  <a:pt x="7923534" y="3852254"/>
                </a:lnTo>
                <a:lnTo>
                  <a:pt x="0" y="3852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8극 12슬롯 SPMSM 기준 모델 토크 및 파형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5143500"/>
            <a:ext cx="7664150" cy="815442"/>
            <a:chOff x="0" y="0"/>
            <a:chExt cx="10218867" cy="10872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8극 12슬롯 SPMSM 초기 설계의 토크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291950" y="9624970"/>
            <a:ext cx="3711482" cy="3667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name="Group 12" id="12"/>
          <p:cNvGrpSpPr/>
          <p:nvPr/>
        </p:nvGrpSpPr>
        <p:grpSpPr>
          <a:xfrm rot="0">
            <a:off x="1288084" y="9831662"/>
            <a:ext cx="7664150" cy="815442"/>
            <a:chOff x="0" y="0"/>
            <a:chExt cx="10218867" cy="10872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8극 12슬롯 SPMSM 초기 설계의 역기전력 파형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9394547" y="6679577"/>
            <a:ext cx="8406982" cy="3703899"/>
            <a:chOff x="0" y="-28575"/>
            <a:chExt cx="11209310" cy="4938532"/>
          </a:xfrm>
        </p:grpSpPr>
        <p:sp>
          <p:nvSpPr>
            <p:cNvPr id="16" name="TextBox 16"/>
            <p:cNvSpPr txBox="1"/>
            <p:nvPr/>
          </p:nvSpPr>
          <p:spPr>
            <a:xfrm>
              <a:off x="4" y="-28575"/>
              <a:ext cx="11209305" cy="3793897"/>
            </a:xfrm>
            <a:prstGeom prst="rect">
              <a:avLst/>
            </a:prstGeom>
          </p:spPr>
          <p:txBody>
            <a:bodyPr lIns="0" tIns="0" rIns="0" bIns="0" anchor="t">
              <a:spAutoFit/>
            </a:bodyPr>
            <a:lstStyle/>
            <a:p>
              <a:pPr lvl="0" algn="l">
                <a:lnSpc>
                  <a:spcPts val="3249"/>
                </a:lnSpc>
                <a:defRPr/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기본 설계한 8극 12슬롯 SPMSM.</a:t>
              </a:r>
              <a:endPara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lvl="0" algn="l">
                <a:lnSpc>
                  <a:spcPts val="3249"/>
                </a:lnSpc>
                <a:defRPr/>
              </a:pPr>
              <a:endPara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lvl="0" algn="l">
                <a:lnSpc>
                  <a:spcPts val="3249"/>
                </a:lnSpc>
                <a:defRPr/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토크 리플: 평균 토크 대비 약 3</a:t>
              </a:r>
              <a:r>
                <a:rPr lang="en-US" altLang="ko-KR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7</a:t>
              </a: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.</a:t>
              </a:r>
              <a:r>
                <a:rPr lang="en-US" altLang="ko-KR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7</a:t>
              </a: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%로 비교적 큰 맥동.</a:t>
              </a:r>
              <a:endPara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lvl="0" algn="l">
                <a:lnSpc>
                  <a:spcPts val="3249"/>
                </a:lnSpc>
                <a:defRPr/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기본 8극 12슬롯 설계만으로는 토크가 충분히 평탄하지 않음.</a:t>
              </a:r>
              <a:endPara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lvl="0" algn="l">
                <a:lnSpc>
                  <a:spcPts val="3249"/>
                </a:lnSpc>
                <a:defRPr/>
              </a:pPr>
              <a:endPara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  <a:defRPr/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역기전력 파형: 이상적인 정현파와 달리 꼭대기와 바닥 부분이 약간 찌그러져 있어 고조파 성분이 포함되어 있음.</a:t>
              </a:r>
              <a:endPara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445559"/>
              <a:ext cx="10218867" cy="464397"/>
            </a:xfrm>
            <a:prstGeom prst="rect">
              <a:avLst/>
            </a:prstGeom>
          </p:spPr>
          <p:txBody>
            <a:bodyPr lIns="0" tIns="0" rIns="0" bIns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pic>
        <p:nvPicPr>
          <p:cNvPr id="18" name="그림 17"/>
          <p:cNvPicPr/>
          <p:nvPr/>
        </p:nvPicPr>
        <p:blipFill rotWithShape="1">
          <a:blip r:embed="rId5">
            <a:lum/>
          </a:blip>
          <a:srcRect/>
          <a:stretch>
            <a:fillRect/>
          </a:stretch>
        </p:blipFill>
        <p:spPr>
          <a:xfrm>
            <a:off x="1066800" y="1409700"/>
            <a:ext cx="8001000" cy="35814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448764" y="5543547"/>
            <a:ext cx="7434989" cy="678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77114" y="6555984"/>
            <a:ext cx="5413640" cy="3614817"/>
          </a:xfrm>
          <a:custGeom>
            <a:avLst/>
            <a:gdLst/>
            <a:ahLst/>
            <a:cxnLst/>
            <a:rect r="r" b="b" t="t" l="l"/>
            <a:pathLst>
              <a:path h="3614817" w="5413640">
                <a:moveTo>
                  <a:pt x="0" y="0"/>
                </a:moveTo>
                <a:lnTo>
                  <a:pt x="5413639" y="0"/>
                </a:lnTo>
                <a:lnTo>
                  <a:pt x="5413639" y="3614817"/>
                </a:lnTo>
                <a:lnTo>
                  <a:pt x="0" y="3614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85" r="0" b="-13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134057"/>
            <a:ext cx="7638839" cy="5364777"/>
          </a:xfrm>
          <a:custGeom>
            <a:avLst/>
            <a:gdLst/>
            <a:ahLst/>
            <a:cxnLst/>
            <a:rect r="r" b="b" t="t" l="l"/>
            <a:pathLst>
              <a:path h="5364777" w="7638839">
                <a:moveTo>
                  <a:pt x="0" y="0"/>
                </a:moveTo>
                <a:lnTo>
                  <a:pt x="7638839" y="0"/>
                </a:lnTo>
                <a:lnTo>
                  <a:pt x="7638839" y="5364777"/>
                </a:lnTo>
                <a:lnTo>
                  <a:pt x="0" y="5364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94086" y="7711709"/>
            <a:ext cx="1672477" cy="1546591"/>
          </a:xfrm>
          <a:custGeom>
            <a:avLst/>
            <a:gdLst/>
            <a:ahLst/>
            <a:cxnLst/>
            <a:rect r="r" b="b" t="t" l="l"/>
            <a:pathLst>
              <a:path h="1546591" w="1672477">
                <a:moveTo>
                  <a:pt x="0" y="0"/>
                </a:moveTo>
                <a:lnTo>
                  <a:pt x="1672477" y="0"/>
                </a:lnTo>
                <a:lnTo>
                  <a:pt x="1672477" y="1546591"/>
                </a:lnTo>
                <a:lnTo>
                  <a:pt x="0" y="15465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방사형 착자 적용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13057" y="1134057"/>
            <a:ext cx="7664150" cy="5730342"/>
            <a:chOff x="0" y="0"/>
            <a:chExt cx="10218867" cy="764045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10218867" cy="7085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기존 BLDC 방식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둥근 회전자 표면에서 자속이 나올 때 자석 중심부와 가장자리의 자속밀도가 서로 달라짐</a:t>
              </a:r>
            </a:p>
            <a:p>
              <a:pPr algn="l">
                <a:lnSpc>
                  <a:spcPts val="3249"/>
                </a:lnSpc>
              </a:pP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공극 자속 밀도 파형이 구형파·사다리꼴 형태에 가까워지고, 역기전력도 비정현파 → 토크 리플이 큼</a:t>
              </a:r>
            </a:p>
            <a:p>
              <a:pPr algn="l">
                <a:lnSpc>
                  <a:spcPts val="3249"/>
                </a:lnSpc>
              </a:pPr>
            </a:p>
            <a:p>
              <a:pPr algn="ctr">
                <a:lnSpc>
                  <a:spcPts val="324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방사형 착자(Radial Magnetization) 적용</a:t>
              </a: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자석 표면 전체에서 자속이 회전자 중심을 향해 균일하게 방사되도록 자화</a:t>
              </a:r>
            </a:p>
            <a:p>
              <a:pPr algn="l">
                <a:lnSpc>
                  <a:spcPts val="3249"/>
                </a:lnSpc>
              </a:pPr>
            </a:p>
            <a:p>
              <a:pPr algn="l" marL="539748" indent="-269874" lvl="1">
                <a:lnSpc>
                  <a:spcPts val="324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공극 자속 밀도 파형이 부드러운 정현파에 가까워짐</a:t>
              </a:r>
            </a:p>
            <a:p>
              <a:pPr algn="ctr">
                <a:lnSpc>
                  <a:spcPts val="3249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1760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291950" y="9624970"/>
            <a:ext cx="3711482" cy="3667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2347" y="1216418"/>
            <a:ext cx="6385088" cy="6300518"/>
          </a:xfrm>
          <a:custGeom>
            <a:avLst/>
            <a:gdLst/>
            <a:ahLst/>
            <a:cxnLst/>
            <a:rect r="r" b="b" t="t" l="l"/>
            <a:pathLst>
              <a:path h="6300518" w="6385088">
                <a:moveTo>
                  <a:pt x="0" y="0"/>
                </a:moveTo>
                <a:lnTo>
                  <a:pt x="6385088" y="0"/>
                </a:lnTo>
                <a:lnTo>
                  <a:pt x="6385088" y="6300518"/>
                </a:lnTo>
                <a:lnTo>
                  <a:pt x="0" y="6300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29649" y="1216418"/>
            <a:ext cx="6518042" cy="6402933"/>
          </a:xfrm>
          <a:custGeom>
            <a:avLst/>
            <a:gdLst/>
            <a:ahLst/>
            <a:cxnLst/>
            <a:rect r="r" b="b" t="t" l="l"/>
            <a:pathLst>
              <a:path h="6402933" w="6518042">
                <a:moveTo>
                  <a:pt x="0" y="0"/>
                </a:moveTo>
                <a:lnTo>
                  <a:pt x="6518042" y="0"/>
                </a:lnTo>
                <a:lnTo>
                  <a:pt x="6518042" y="6402933"/>
                </a:lnTo>
                <a:lnTo>
                  <a:pt x="0" y="6402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2439" y="3233957"/>
            <a:ext cx="7889427" cy="1909543"/>
          </a:xfrm>
          <a:custGeom>
            <a:avLst/>
            <a:gdLst/>
            <a:ahLst/>
            <a:cxnLst/>
            <a:rect r="r" b="b" t="t" l="l"/>
            <a:pathLst>
              <a:path h="1909543" w="7889427">
                <a:moveTo>
                  <a:pt x="0" y="0"/>
                </a:moveTo>
                <a:lnTo>
                  <a:pt x="7889426" y="0"/>
                </a:lnTo>
                <a:lnTo>
                  <a:pt x="7889426" y="1909543"/>
                </a:lnTo>
                <a:lnTo>
                  <a:pt x="0" y="1909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방사형 착자 적용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91950" y="9624970"/>
            <a:ext cx="3711482" cy="3667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048117" y="3233957"/>
            <a:ext cx="7889427" cy="1909543"/>
          </a:xfrm>
          <a:custGeom>
            <a:avLst/>
            <a:gdLst/>
            <a:ahLst/>
            <a:cxnLst/>
            <a:rect r="r" b="b" t="t" l="l"/>
            <a:pathLst>
              <a:path h="1909543" w="7889427">
                <a:moveTo>
                  <a:pt x="0" y="0"/>
                </a:moveTo>
                <a:lnTo>
                  <a:pt x="7889427" y="0"/>
                </a:lnTo>
                <a:lnTo>
                  <a:pt x="7889427" y="1909543"/>
                </a:lnTo>
                <a:lnTo>
                  <a:pt x="0" y="1909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69343" y="7713619"/>
            <a:ext cx="10357549" cy="22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N극과 S극의 PM을 각각 (0,1,0), (0,-1,0)으로 입력.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자석의 모든 지점에서 자속벡터가 회전중심을 향하거나 </a:t>
            </a:r>
          </a:p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바깥으로 뻗어 나가는 부채꼴 형태.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t="-3360" b="-33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3559" y="1243562"/>
            <a:ext cx="8627470" cy="3648002"/>
          </a:xfrm>
          <a:custGeom>
            <a:avLst/>
            <a:gdLst/>
            <a:ahLst/>
            <a:cxnLst/>
            <a:rect r="r" b="b" t="t" l="l"/>
            <a:pathLst>
              <a:path h="3648002" w="8627470">
                <a:moveTo>
                  <a:pt x="0" y="0"/>
                </a:moveTo>
                <a:lnTo>
                  <a:pt x="8627471" y="0"/>
                </a:lnTo>
                <a:lnTo>
                  <a:pt x="8627471" y="3648002"/>
                </a:lnTo>
                <a:lnTo>
                  <a:pt x="0" y="364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5415" y="5220459"/>
            <a:ext cx="8418585" cy="3498773"/>
          </a:xfrm>
          <a:custGeom>
            <a:avLst/>
            <a:gdLst/>
            <a:ahLst/>
            <a:cxnLst/>
            <a:rect r="r" b="b" t="t" l="l"/>
            <a:pathLst>
              <a:path h="3498773" w="8418585">
                <a:moveTo>
                  <a:pt x="0" y="0"/>
                </a:moveTo>
                <a:lnTo>
                  <a:pt x="8418585" y="0"/>
                </a:lnTo>
                <a:lnTo>
                  <a:pt x="8418585" y="3498772"/>
                </a:lnTo>
                <a:lnTo>
                  <a:pt x="0" y="3498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5919" y="2260278"/>
            <a:ext cx="10854475" cy="48894"/>
          </a:xfrm>
          <a:custGeom>
            <a:avLst/>
            <a:gdLst/>
            <a:ahLst/>
            <a:cxnLst/>
            <a:rect r="r" b="b" t="t" l="l"/>
            <a:pathLst>
              <a:path h="48894" w="10854475">
                <a:moveTo>
                  <a:pt x="0" y="0"/>
                </a:moveTo>
                <a:lnTo>
                  <a:pt x="10854475" y="0"/>
                </a:lnTo>
                <a:lnTo>
                  <a:pt x="10854475" y="48894"/>
                </a:lnTo>
                <a:lnTo>
                  <a:pt x="0" y="48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40610" y="6216723"/>
            <a:ext cx="10854475" cy="48894"/>
          </a:xfrm>
          <a:custGeom>
            <a:avLst/>
            <a:gdLst/>
            <a:ahLst/>
            <a:cxnLst/>
            <a:rect r="r" b="b" t="t" l="l"/>
            <a:pathLst>
              <a:path h="48894" w="10854475">
                <a:moveTo>
                  <a:pt x="0" y="0"/>
                </a:moveTo>
                <a:lnTo>
                  <a:pt x="10854475" y="0"/>
                </a:lnTo>
                <a:lnTo>
                  <a:pt x="10854475" y="48894"/>
                </a:lnTo>
                <a:lnTo>
                  <a:pt x="0" y="48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86247" y="2115838"/>
            <a:ext cx="641772" cy="337775"/>
          </a:xfrm>
          <a:custGeom>
            <a:avLst/>
            <a:gdLst/>
            <a:ahLst/>
            <a:cxnLst/>
            <a:rect r="r" b="b" t="t" l="l"/>
            <a:pathLst>
              <a:path h="337775" w="641772">
                <a:moveTo>
                  <a:pt x="0" y="0"/>
                </a:moveTo>
                <a:lnTo>
                  <a:pt x="641772" y="0"/>
                </a:lnTo>
                <a:lnTo>
                  <a:pt x="641772" y="337774"/>
                </a:lnTo>
                <a:lnTo>
                  <a:pt x="0" y="3377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89919" y="6149233"/>
            <a:ext cx="624674" cy="251817"/>
          </a:xfrm>
          <a:custGeom>
            <a:avLst/>
            <a:gdLst/>
            <a:ahLst/>
            <a:cxnLst/>
            <a:rect r="r" b="b" t="t" l="l"/>
            <a:pathLst>
              <a:path h="251817" w="624674">
                <a:moveTo>
                  <a:pt x="0" y="0"/>
                </a:moveTo>
                <a:lnTo>
                  <a:pt x="624675" y="0"/>
                </a:lnTo>
                <a:lnTo>
                  <a:pt x="624675" y="251818"/>
                </a:lnTo>
                <a:lnTo>
                  <a:pt x="0" y="2518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0561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방사형 착자 적용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91950" y="9624970"/>
            <a:ext cx="3711482" cy="3667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877800" y="2019300"/>
            <a:ext cx="3962400" cy="8083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213"/>
              </a:lnSpc>
              <a:defRPr/>
            </a:pPr>
            <a:r>
              <a:rPr lang="en-US" sz="22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270 Nm 정도 </a:t>
            </a:r>
            <a:endParaRPr lang="en-US" sz="22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ctr">
              <a:lnSpc>
                <a:spcPts val="3213"/>
              </a:lnSpc>
              <a:spcBef>
                <a:spcPct val="0"/>
              </a:spcBef>
              <a:defRPr/>
            </a:pPr>
            <a:r>
              <a:rPr lang="en-US" sz="22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→ 토크 리플이 큰 상태.</a:t>
            </a:r>
            <a:endParaRPr lang="en-US" sz="22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206872" y="6073969"/>
            <a:ext cx="6471527" cy="8602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353"/>
              </a:lnSpc>
              <a:defRPr/>
            </a:pPr>
            <a:r>
              <a:rPr lang="en-US" sz="23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80 Nm 정도 </a:t>
            </a:r>
            <a:endParaRPr lang="en-US" sz="23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ctr">
              <a:lnSpc>
                <a:spcPts val="3353"/>
              </a:lnSpc>
              <a:spcBef>
                <a:spcPct val="0"/>
              </a:spcBef>
              <a:defRPr/>
            </a:pPr>
            <a:r>
              <a:rPr lang="en-US" sz="239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→ 같은 조건에서 토크 리플이 많이 줄어든 설계.</a:t>
            </a:r>
            <a:endParaRPr lang="en-US" sz="2395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77113" y="8759190"/>
            <a:ext cx="6704887" cy="10991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939"/>
              </a:lnSpc>
              <a:spcBef>
                <a:spcPct val="0"/>
              </a:spcBef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효과</a:t>
            </a:r>
            <a:endParaRPr lang="en-US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ctr">
              <a:lnSpc>
                <a:spcPts val="2939"/>
              </a:lnSpc>
              <a:spcBef>
                <a:spcPct val="0"/>
              </a:spcBef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자속·역기전력의 고조파 함유율이 감소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ctr">
              <a:lnSpc>
                <a:spcPts val="2939"/>
              </a:lnSpc>
              <a:spcBef>
                <a:spcPct val="0"/>
              </a:spcBef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그만큼 토크 리플과 진동·소음이 줄어드는 효과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0537" y="4543707"/>
            <a:ext cx="9491688" cy="3662255"/>
          </a:xfrm>
          <a:custGeom>
            <a:avLst/>
            <a:gdLst/>
            <a:ahLst/>
            <a:cxnLst/>
            <a:rect r="r" b="b" t="t" l="l"/>
            <a:pathLst>
              <a:path h="3662255" w="9491688">
                <a:moveTo>
                  <a:pt x="0" y="0"/>
                </a:moveTo>
                <a:lnTo>
                  <a:pt x="9491687" y="0"/>
                </a:lnTo>
                <a:lnTo>
                  <a:pt x="9491687" y="3662255"/>
                </a:lnTo>
                <a:lnTo>
                  <a:pt x="0" y="3662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67982" y="4508585"/>
            <a:ext cx="5573096" cy="3697377"/>
          </a:xfrm>
          <a:custGeom>
            <a:avLst/>
            <a:gdLst/>
            <a:ahLst/>
            <a:cxnLst/>
            <a:rect r="r" b="b" t="t" l="l"/>
            <a:pathLst>
              <a:path h="3697377" w="5573096">
                <a:moveTo>
                  <a:pt x="0" y="0"/>
                </a:moveTo>
                <a:lnTo>
                  <a:pt x="5573096" y="0"/>
                </a:lnTo>
                <a:lnTo>
                  <a:pt x="5573096" y="3697377"/>
                </a:lnTo>
                <a:lnTo>
                  <a:pt x="0" y="3697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6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스큐(skew) 적용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name="TextBox 7" id="7"/>
          <p:cNvSpPr txBox="true"/>
          <p:nvPr/>
        </p:nvSpPr>
        <p:spPr>
          <a:xfrm rot="0">
            <a:off x="400537" y="1287590"/>
            <a:ext cx="15524719" cy="352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스큐 방식의 원리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저속 토크 리플과 코깅토크를 저감하는 가장 효과적인 구조 설계 기법.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회전자(rotor)의 자석이나 슬롯(홈)을 축 방향으로 약간 비틀거나 기울여서 배열하는 기술.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주요 목적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코깅 토크(Cogging Torque)와 토크리플, 소음, 진동(NVH)을 줄이는 방식.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05076" y="8415512"/>
            <a:ext cx="5462826" cy="39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모터의 회전자 비틀림(Step,Continuous)</a:t>
            </a: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066" y="1707049"/>
            <a:ext cx="10878383" cy="3097185"/>
          </a:xfrm>
          <a:custGeom>
            <a:avLst/>
            <a:gdLst/>
            <a:ahLst/>
            <a:cxnLst/>
            <a:rect r="r" b="b" t="t" l="l"/>
            <a:pathLst>
              <a:path h="3097185" w="10878383">
                <a:moveTo>
                  <a:pt x="0" y="0"/>
                </a:moveTo>
                <a:lnTo>
                  <a:pt x="10878383" y="0"/>
                </a:lnTo>
                <a:lnTo>
                  <a:pt x="10878383" y="3097184"/>
                </a:lnTo>
                <a:lnTo>
                  <a:pt x="0" y="3097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620" y="5323083"/>
            <a:ext cx="10638829" cy="3758180"/>
          </a:xfrm>
          <a:custGeom>
            <a:avLst/>
            <a:gdLst/>
            <a:ahLst/>
            <a:cxnLst/>
            <a:rect r="r" b="b" t="t" l="l"/>
            <a:pathLst>
              <a:path h="3758180" w="10638829">
                <a:moveTo>
                  <a:pt x="0" y="0"/>
                </a:moveTo>
                <a:lnTo>
                  <a:pt x="10638829" y="0"/>
                </a:lnTo>
                <a:lnTo>
                  <a:pt x="10638829" y="3758181"/>
                </a:lnTo>
                <a:lnTo>
                  <a:pt x="0" y="3758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스큐(skew) 적용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name="TextBox 7" id="7"/>
          <p:cNvSpPr txBox="true"/>
          <p:nvPr/>
        </p:nvSpPr>
        <p:spPr>
          <a:xfrm rot="0">
            <a:off x="11775617" y="1659424"/>
            <a:ext cx="5825068" cy="443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8극 12슬롯인 경우,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이론적 최적 스큐각 = 1 Slot Pitch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1슬롯피치 = 360/Q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= 360/12 = 30도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</a:t>
            </a:r>
            <a:r>
              <a:rPr lang="en-US" sz="2299" b="true">
                <a:solidFill>
                  <a:srgbClr val="FF0000"/>
                </a:solidFill>
                <a:latin typeface="Garet Bold"/>
                <a:ea typeface="Garet Bold"/>
                <a:cs typeface="Garet Bold"/>
                <a:sym typeface="Garet Bold"/>
              </a:rPr>
              <a:t>5.8%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정격 토크: 4.6773(T_avg)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534180" y="5494398"/>
            <a:ext cx="5725120" cy="285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스큐각 0.5slot Pitch (2-segment skew)</a:t>
            </a:r>
          </a:p>
          <a:p>
            <a:pPr algn="l">
              <a:lnSpc>
                <a:spcPts val="3266"/>
              </a:lnSpc>
              <a:spcBef>
                <a:spcPct val="0"/>
              </a:spcBef>
            </a:pPr>
          </a:p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0.5슬롯피치 = 360/(2*Q)</a:t>
            </a:r>
          </a:p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= 360/24 = 15도</a:t>
            </a:r>
          </a:p>
          <a:p>
            <a:pPr algn="l">
              <a:lnSpc>
                <a:spcPts val="3266"/>
              </a:lnSpc>
              <a:spcBef>
                <a:spcPct val="0"/>
              </a:spcBef>
            </a:pPr>
          </a:p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</a:t>
            </a:r>
            <a:r>
              <a:rPr lang="en-US" b="true" sz="2333">
                <a:solidFill>
                  <a:srgbClr val="E3372A"/>
                </a:solidFill>
                <a:latin typeface="Garet Bold"/>
                <a:ea typeface="Garet Bold"/>
                <a:cs typeface="Garet Bold"/>
                <a:sym typeface="Garet Bold"/>
              </a:rPr>
              <a:t>5.604%</a:t>
            </a:r>
          </a:p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정격 토크: 5.3714(T_avg)</a:t>
            </a: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5276" y="4102253"/>
            <a:ext cx="5838876" cy="2812314"/>
          </a:xfrm>
          <a:custGeom>
            <a:avLst/>
            <a:gdLst/>
            <a:ahLst/>
            <a:cxnLst/>
            <a:rect r="r" b="b" t="t" l="l"/>
            <a:pathLst>
              <a:path h="2812314" w="5838876">
                <a:moveTo>
                  <a:pt x="0" y="0"/>
                </a:moveTo>
                <a:lnTo>
                  <a:pt x="5838876" y="0"/>
                </a:lnTo>
                <a:lnTo>
                  <a:pt x="5838876" y="2812314"/>
                </a:lnTo>
                <a:lnTo>
                  <a:pt x="0" y="2812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60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05276" y="1161956"/>
            <a:ext cx="7262258" cy="2690858"/>
          </a:xfrm>
          <a:custGeom>
            <a:avLst/>
            <a:gdLst/>
            <a:ahLst/>
            <a:cxnLst/>
            <a:rect r="r" b="b" t="t" l="l"/>
            <a:pathLst>
              <a:path h="2690858" w="7262258">
                <a:moveTo>
                  <a:pt x="0" y="0"/>
                </a:moveTo>
                <a:lnTo>
                  <a:pt x="7262258" y="0"/>
                </a:lnTo>
                <a:lnTo>
                  <a:pt x="7262258" y="2690858"/>
                </a:lnTo>
                <a:lnTo>
                  <a:pt x="0" y="26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05276" y="7206454"/>
            <a:ext cx="6090278" cy="2739256"/>
          </a:xfrm>
          <a:custGeom>
            <a:avLst/>
            <a:gdLst/>
            <a:ahLst/>
            <a:cxnLst/>
            <a:rect r="r" b="b" t="t" l="l"/>
            <a:pathLst>
              <a:path h="2739256" w="6090278">
                <a:moveTo>
                  <a:pt x="0" y="0"/>
                </a:moveTo>
                <a:lnTo>
                  <a:pt x="6090278" y="0"/>
                </a:lnTo>
                <a:lnTo>
                  <a:pt x="6090278" y="2739256"/>
                </a:lnTo>
                <a:lnTo>
                  <a:pt x="0" y="27392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3399" y="1367155"/>
            <a:ext cx="9141876" cy="789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ub Slot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고정자 치 끝단에 얕은 홈을 형성해 공극 릴럭턴스 변화를 완만하게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만들어 코깅 토크와 토크 리플을 저감.</a:t>
            </a:r>
          </a:p>
          <a:p>
            <a:pPr algn="l">
              <a:lnSpc>
                <a:spcPts val="6458"/>
              </a:lnSpc>
            </a:pPr>
          </a:p>
          <a:p>
            <a:pPr algn="l">
              <a:lnSpc>
                <a:spcPts val="6458"/>
              </a:lnSpc>
            </a:pPr>
          </a:p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lot Opening</a:t>
            </a:r>
          </a:p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슬롯 개구 폭을 조절해 자속의 치·슬롯 통과에 따른 자속 밀도 변동을 줄여 코깅 토크와 자속 고조파를 감소. </a:t>
            </a:r>
          </a:p>
          <a:p>
            <a:pPr algn="l">
              <a:lnSpc>
                <a:spcPts val="6458"/>
              </a:lnSpc>
            </a:pPr>
          </a:p>
          <a:p>
            <a:pPr algn="l">
              <a:lnSpc>
                <a:spcPts val="6458"/>
              </a:lnSpc>
            </a:pPr>
          </a:p>
          <a:p>
            <a:pPr algn="l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ole Shaping</a:t>
            </a:r>
          </a:p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영구자석 끝단 형상을 테이퍼·곡선 등으로 변경해 공극 자속 밀도 파형을 정현파에 가깝게 만들어 토크 리플을 최소화.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영구자석 형상 최적화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35951" y="1160216"/>
            <a:ext cx="12874211" cy="8626426"/>
          </a:xfrm>
          <a:custGeom>
            <a:avLst/>
            <a:gdLst/>
            <a:ahLst/>
            <a:cxnLst/>
            <a:rect r="r" b="b" t="t" l="l"/>
            <a:pathLst>
              <a:path h="8626426" w="12874211">
                <a:moveTo>
                  <a:pt x="0" y="0"/>
                </a:moveTo>
                <a:lnTo>
                  <a:pt x="12874211" y="0"/>
                </a:lnTo>
                <a:lnTo>
                  <a:pt x="12874211" y="8626426"/>
                </a:lnTo>
                <a:lnTo>
                  <a:pt x="0" y="8626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39" r="0" b="-363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67825" y="4660237"/>
            <a:ext cx="951485" cy="879868"/>
          </a:xfrm>
          <a:custGeom>
            <a:avLst/>
            <a:gdLst/>
            <a:ahLst/>
            <a:cxnLst/>
            <a:rect r="r" b="b" t="t" l="l"/>
            <a:pathLst>
              <a:path h="879868" w="951485">
                <a:moveTo>
                  <a:pt x="0" y="0"/>
                </a:moveTo>
                <a:lnTo>
                  <a:pt x="951485" y="0"/>
                </a:lnTo>
                <a:lnTo>
                  <a:pt x="951485" y="879867"/>
                </a:lnTo>
                <a:lnTo>
                  <a:pt x="0" y="879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영구자석 형상 최적화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17316" y="5547603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slot opening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192515" y="4263632"/>
            <a:ext cx="951485" cy="879868"/>
          </a:xfrm>
          <a:custGeom>
            <a:avLst/>
            <a:gdLst/>
            <a:ahLst/>
            <a:cxnLst/>
            <a:rect r="r" b="b" t="t" l="l"/>
            <a:pathLst>
              <a:path h="879868" w="951485">
                <a:moveTo>
                  <a:pt x="0" y="0"/>
                </a:moveTo>
                <a:lnTo>
                  <a:pt x="951485" y="0"/>
                </a:lnTo>
                <a:lnTo>
                  <a:pt x="951485" y="879868"/>
                </a:lnTo>
                <a:lnTo>
                  <a:pt x="0" y="879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94107" y="5473429"/>
            <a:ext cx="951485" cy="879868"/>
          </a:xfrm>
          <a:custGeom>
            <a:avLst/>
            <a:gdLst/>
            <a:ahLst/>
            <a:cxnLst/>
            <a:rect r="r" b="b" t="t" l="l"/>
            <a:pathLst>
              <a:path h="879868" w="951485">
                <a:moveTo>
                  <a:pt x="0" y="0"/>
                </a:moveTo>
                <a:lnTo>
                  <a:pt x="951485" y="0"/>
                </a:lnTo>
                <a:lnTo>
                  <a:pt x="951485" y="879868"/>
                </a:lnTo>
                <a:lnTo>
                  <a:pt x="0" y="8798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56343" y="5107669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 slot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0861" y="6305672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pole shaping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06435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4052" y="1963318"/>
            <a:ext cx="7942394" cy="4142856"/>
          </a:xfrm>
          <a:custGeom>
            <a:avLst/>
            <a:gdLst/>
            <a:ahLst/>
            <a:cxnLst/>
            <a:rect r="r" b="b" t="t" l="l"/>
            <a:pathLst>
              <a:path h="4142856" w="7942394">
                <a:moveTo>
                  <a:pt x="0" y="0"/>
                </a:moveTo>
                <a:lnTo>
                  <a:pt x="7942394" y="0"/>
                </a:lnTo>
                <a:lnTo>
                  <a:pt x="7942394" y="4142856"/>
                </a:lnTo>
                <a:lnTo>
                  <a:pt x="0" y="4142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58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48117" y="1949294"/>
            <a:ext cx="8530033" cy="4189954"/>
          </a:xfrm>
          <a:custGeom>
            <a:avLst/>
            <a:gdLst/>
            <a:ahLst/>
            <a:cxnLst/>
            <a:rect r="r" b="b" t="t" l="l"/>
            <a:pathLst>
              <a:path h="4189954" w="8530033">
                <a:moveTo>
                  <a:pt x="0" y="0"/>
                </a:moveTo>
                <a:lnTo>
                  <a:pt x="8530033" y="0"/>
                </a:lnTo>
                <a:lnTo>
                  <a:pt x="8530033" y="4189954"/>
                </a:lnTo>
                <a:lnTo>
                  <a:pt x="0" y="418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28" t="0" r="-1628" b="-1164"/>
            </a:stretch>
          </a:blipFill>
        </p:spPr>
      </p:sp>
      <p:graphicFrame>
        <p:nvGraphicFramePr>
          <p:cNvPr id="5" name="Object 5"/>
          <p:cNvGraphicFramePr/>
          <p:nvPr/>
        </p:nvGraphicFramePr>
        <p:xfrm>
          <a:off x="0" y="6972300"/>
          <a:ext cx="10972800" cy="3581400"/>
        </p:xfrm>
        <a:graphic>
          <a:graphicData uri="http://schemas.openxmlformats.org/presentationml/2006/ole">
            <p:oleObj spid="_x0000_s5124" name="Worksheet" r:id="rId6" imgW="11315700" imgH="3136900" progId="Excel.Sheet.12">
              <p:embed/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121605"/>
            <a:ext cx="1603883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5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영구자석 형상 최적화</a:t>
            </a:r>
          </a:p>
          <a:p>
            <a:pPr algn="ctr">
              <a:lnSpc>
                <a:spcPts val="5160"/>
              </a:lnSpc>
            </a:pPr>
            <a:r>
              <a:rPr lang="en-US" sz="4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(Sub Slot, Slot Opening, Pole Shaping)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name="TextBox 8" id="8"/>
          <p:cNvSpPr txBox="true"/>
          <p:nvPr/>
        </p:nvSpPr>
        <p:spPr>
          <a:xfrm rot="0">
            <a:off x="824052" y="6415473"/>
            <a:ext cx="831994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 slot, slot opening, pole shaping 등을 적용해 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영구자석과 공극 형상을 변화시킨 뒤,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토크 리플과 역기전력 파형의 변화 비교.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8049963"/>
            <a:ext cx="3200400" cy="4463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506"/>
              </a:lnSpc>
              <a:spcBef>
                <a:spcPct val="0"/>
              </a:spcBef>
              <a:defRPr/>
            </a:pPr>
            <a:r>
              <a:rPr lang="en-US" sz="250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</a:t>
            </a:r>
            <a:r>
              <a:rPr lang="ko-KR" altLang="en-US" sz="250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50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27.37%</a:t>
            </a:r>
            <a:endParaRPr lang="en-US" sz="2504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0" y="6415473"/>
            <a:ext cx="6937105" cy="86162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기본 모델 대비 정현파에 가까워졌고, </a:t>
            </a: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그 결과 토크 리플이 3</a:t>
            </a:r>
            <a:r>
              <a:rPr lang="en-US" altLang="ko-KR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% → 27%로 감소</a:t>
            </a: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id="5" name="Object 5"/>
          <p:cNvGraphicFramePr/>
          <p:nvPr/>
        </p:nvGraphicFramePr>
        <p:xfrm>
          <a:off x="9636711" y="5143500"/>
          <a:ext cx="10403890" cy="2866375"/>
        </p:xfrm>
        <a:graphic>
          <a:graphicData uri="http://schemas.openxmlformats.org/presentationml/2006/ole">
            <p:oleObj spid="_x0000_s6148" name="Worksheet" r:id="rId4" imgW="11315700" imgH="3136900" progId="Excel.Sheet.12">
              <p:embed/>
            </p:oleObj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0484951" y="1028700"/>
            <a:ext cx="6774349" cy="4684271"/>
          </a:xfrm>
          <a:custGeom>
            <a:avLst/>
            <a:gdLst/>
            <a:ahLst/>
            <a:cxnLst/>
            <a:rect r="r" b="b" t="t" l="l"/>
            <a:pathLst>
              <a:path h="4684271" w="6774349">
                <a:moveTo>
                  <a:pt x="0" y="0"/>
                </a:moveTo>
                <a:lnTo>
                  <a:pt x="6774349" y="0"/>
                </a:lnTo>
                <a:lnTo>
                  <a:pt x="6774349" y="4684271"/>
                </a:lnTo>
                <a:lnTo>
                  <a:pt x="0" y="4684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50" r="0" b="-255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1130"/>
            <a:ext cx="1603883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영구자석 형상 최적화 - (Pole Shaping)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51076" y="7517164"/>
            <a:ext cx="5369925" cy="4457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7.82%</a:t>
            </a:r>
            <a:endParaRPr lang="en-US" sz="24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name="TextBox 10" id="10"/>
          <p:cNvSpPr txBox="true"/>
          <p:nvPr/>
        </p:nvSpPr>
        <p:spPr>
          <a:xfrm rot="0">
            <a:off x="10251075" y="8101365"/>
            <a:ext cx="6577589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sub slot, slot opening, pole shaping을 모두 동시에 적용한 경우보다,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pole shaping만 단독으로 적용했을 때의 토크 리플 값이 더 작게 나타남.</a:t>
            </a:r>
          </a:p>
        </p:txBody>
      </p:sp>
      <p:pic>
        <p:nvPicPr>
          <p:cNvPr id="11" name="그림 10"/>
          <p:cNvPicPr/>
          <p:nvPr/>
        </p:nvPicPr>
        <p:blipFill rotWithShape="1">
          <a:blip r:embed="rId6"/>
          <a:stretch>
            <a:fillRect/>
          </a:stretch>
        </p:blipFill>
        <p:spPr>
          <a:xfrm>
            <a:off x="685799" y="1257300"/>
            <a:ext cx="9220200" cy="41529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그림 11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685800" y="5676900"/>
            <a:ext cx="9220200" cy="4457699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결과분석 및 개선방향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78099" y="9579950"/>
            <a:ext cx="3711481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38200" y="1378904"/>
            <a:ext cx="7717783" cy="292639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기존 모델 </a:t>
            </a: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</a:t>
            </a:r>
            <a:r>
              <a:rPr lang="en-US" sz="2333" b="1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  <a:r>
              <a:rPr lang="en-US" altLang="ko-KR" sz="2333" b="1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r>
              <a:rPr lang="en-US" sz="2333" b="1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r>
              <a:rPr lang="en-US" altLang="ko-KR" sz="2333" b="1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r>
              <a:rPr lang="en-US" sz="2333" b="1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%</a:t>
            </a:r>
            <a:endParaRPr lang="en-US" sz="2333" b="1">
              <a:solidFill>
                <a:srgbClr val="2d0aea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endParaRPr lang="en-US" sz="2333" b="1">
              <a:solidFill>
                <a:srgbClr val="2d0aea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sub slot, slot opening, pole shaping 동시 적용</a:t>
            </a: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</a:t>
            </a:r>
            <a:r>
              <a:rPr lang="en-US" sz="2333" b="1">
                <a:solidFill>
                  <a:srgbClr val="2d0aea"/>
                </a:solidFill>
                <a:latin typeface="Garet Bold"/>
                <a:ea typeface="Garet Bold"/>
                <a:cs typeface="Garet Bold"/>
                <a:sym typeface="Garet Bold"/>
              </a:rPr>
              <a:t>27.37%</a:t>
            </a: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spcBef>
                <a:spcPct val="0"/>
              </a:spcBef>
              <a:defRPr/>
            </a:pP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451231" y="5676900"/>
            <a:ext cx="3423032" cy="485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779"/>
              </a:lnSpc>
              <a:spcBef>
                <a:spcPct val="0"/>
              </a:spcBef>
              <a:defRPr/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결과 및 분석</a:t>
            </a:r>
            <a:endParaRPr lang="en-US" sz="26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6402658"/>
            <a:ext cx="16764000" cy="388434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518157" lvl="1" indent="-259078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각 토크 리플 저감 기법은 서로 다른 고조파 성분을 겨냥해 설계됨.</a:t>
            </a: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359"/>
              </a:lnSpc>
              <a:defRPr/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여러 기법을 동시에 적용하면 위상·주파수가 꼬여 새로운 고조파가 생기거나 상쇄가 깨질 수 있음.</a:t>
            </a: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359"/>
              </a:lnSpc>
              <a:defRPr/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18157" lvl="1" indent="-259078" algn="l">
              <a:lnSpc>
                <a:spcPts val="3359"/>
              </a:lnSpc>
              <a:buFont typeface="Arial"/>
              <a:buChar char="•"/>
              <a:defRPr/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그 결과 기법 간 상호 간섭으로 오히려 토크 리플이 다시 증가할 가능성이 있다.</a:t>
            </a: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359"/>
              </a:lnSpc>
              <a:defRPr/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359"/>
              </a:lnSpc>
              <a:defRPr/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359"/>
              </a:lnSpc>
              <a:defRPr/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359"/>
              </a:lnSpc>
              <a:spcBef>
                <a:spcPct val="0"/>
              </a:spcBef>
              <a:defRPr/>
            </a:pPr>
            <a:endParaRPr lang="en-US" sz="23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0" y="1421343"/>
            <a:ext cx="7717784" cy="335068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Skew 적용(30도)</a:t>
            </a: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</a:t>
            </a:r>
            <a:r>
              <a:rPr lang="en-US" sz="2333" b="1">
                <a:solidFill>
                  <a:srgbClr val="ff0000"/>
                </a:solidFill>
                <a:latin typeface="Garet Bold"/>
                <a:ea typeface="Garet Bold"/>
                <a:cs typeface="Garet Bold"/>
                <a:sym typeface="Garet Bold"/>
              </a:rPr>
              <a:t>5.8%</a:t>
            </a:r>
            <a:endParaRPr lang="en-US" sz="2333" b="1">
              <a:solidFill>
                <a:srgbClr val="ff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endParaRPr lang="en-US" sz="2333" b="1">
              <a:solidFill>
                <a:srgbClr val="ff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Skew 적용(15도)</a:t>
            </a: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</a:t>
            </a:r>
            <a:r>
              <a:rPr lang="en-US" sz="2333" b="1">
                <a:solidFill>
                  <a:srgbClr val="ff0000"/>
                </a:solidFill>
                <a:latin typeface="Garet Bold"/>
                <a:ea typeface="Garet Bold"/>
                <a:cs typeface="Garet Bold"/>
                <a:sym typeface="Garet Bold"/>
              </a:rPr>
              <a:t>5.604%</a:t>
            </a:r>
            <a:endParaRPr lang="en-US" sz="2333" b="1">
              <a:solidFill>
                <a:srgbClr val="ff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endParaRPr lang="en-US" sz="2333" b="1">
              <a:solidFill>
                <a:srgbClr val="ff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Pole Shaping 적용</a:t>
            </a: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spcBef>
                <a:spcPct val="0"/>
              </a:spcBef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토크리플 값: </a:t>
            </a:r>
            <a:r>
              <a:rPr lang="en-US" sz="2333" b="1">
                <a:solidFill>
                  <a:srgbClr val="e3372a"/>
                </a:solidFill>
                <a:latin typeface="Garet Bold"/>
                <a:ea typeface="Garet Bold"/>
                <a:cs typeface="Garet Bold"/>
                <a:sym typeface="Garet Bold"/>
              </a:rPr>
              <a:t>7.82% </a:t>
            </a:r>
            <a:endParaRPr lang="en-US" sz="2333" b="1">
              <a:solidFill>
                <a:srgbClr val="e3372a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t="-3360" b="-33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40655"/>
            <a:ext cx="16038834" cy="933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7200"/>
              </a:lnSpc>
              <a:defRPr/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결과분석 및 개선방향</a:t>
            </a:r>
            <a:endParaRPr lang="en-US" sz="600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01367" y="6981825"/>
            <a:ext cx="3423032" cy="447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8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개선 방향</a:t>
            </a:r>
            <a:endParaRPr lang="en-US" sz="28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47800" y="7932419"/>
            <a:ext cx="14935200" cy="208787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266"/>
              </a:lnSpc>
              <a:spcBef>
                <a:spcPct val="0"/>
              </a:spcBef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이론적으로 토크 리플이 가장 적은 q = 2(8극 48슬롯) 구조가 바람직하나, 모델링 및 </a:t>
            </a:r>
            <a:r>
              <a:rPr lang="ko-KR" alt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해석조건 제약으로 제외</a:t>
            </a:r>
            <a:r>
              <a:rPr lang="en-US" altLang="ko-KR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endParaRPr lang="en-US" altLang="ko-KR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spcBef>
                <a:spcPct val="0"/>
              </a:spcBef>
              <a:defRPr/>
            </a:pP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spcBef>
                <a:spcPct val="0"/>
              </a:spcBef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시간상 구현 가능한 범위에서 8극 15슬롯 모델</a:t>
            </a:r>
            <a:r>
              <a:rPr lang="ko-KR" alt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추가 해석</a:t>
            </a:r>
            <a:r>
              <a:rPr lang="en-US" altLang="ko-KR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endParaRPr lang="en-US" altLang="ko-KR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spcBef>
                <a:spcPct val="0"/>
              </a:spcBef>
              <a:defRPr/>
            </a:pPr>
            <a:endParaRPr lang="en-US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 algn="l">
              <a:lnSpc>
                <a:spcPts val="3266"/>
              </a:lnSpc>
              <a:spcBef>
                <a:spcPct val="0"/>
              </a:spcBef>
              <a:defRPr/>
            </a:pP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토크 리플 저감 효과가 pole shaping 단독 적용 결과 대비 유의미하게 크지 않아, 최종 결과</a:t>
            </a:r>
            <a:r>
              <a:rPr lang="ko-KR" alt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에서</a:t>
            </a:r>
            <a:r>
              <a:rPr lang="en-US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제외</a:t>
            </a:r>
            <a:r>
              <a:rPr lang="en-US" altLang="ko-KR" sz="233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endParaRPr lang="en-US" altLang="ko-KR" sz="2333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91200" y="1181100"/>
            <a:ext cx="6355214" cy="5685425"/>
          </a:xfrm>
          <a:prstGeom prst="rect">
            <a:avLst/>
          </a:prstGeom>
        </p:spPr>
      </p:pic>
      <p:sp>
        <p:nvSpPr>
          <p:cNvPr id="12" name="Freeform 7"/>
          <p:cNvSpPr/>
          <p:nvPr/>
        </p:nvSpPr>
        <p:spPr>
          <a:xfrm>
            <a:off x="12238647" y="1714500"/>
            <a:ext cx="1553553" cy="358113"/>
          </a:xfrm>
          <a:custGeom>
            <a:avLst/>
            <a:gdLst/>
            <a:rect l="l" t="t" r="r" b="b"/>
            <a:pathLst>
              <a:path w="641772" h="337775">
                <a:moveTo>
                  <a:pt x="0" y="0"/>
                </a:moveTo>
                <a:lnTo>
                  <a:pt x="641772" y="0"/>
                </a:lnTo>
                <a:lnTo>
                  <a:pt x="641772" y="337774"/>
                </a:lnTo>
                <a:lnTo>
                  <a:pt x="0" y="337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9"/>
          <p:cNvSpPr txBox="1"/>
          <p:nvPr/>
        </p:nvSpPr>
        <p:spPr>
          <a:xfrm>
            <a:off x="13868400" y="1638300"/>
            <a:ext cx="3423032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3499"/>
              </a:lnSpc>
              <a:spcBef>
                <a:spcPct val="0"/>
              </a:spcBef>
              <a:defRPr/>
            </a:pPr>
            <a:r>
              <a:rPr lang="ko-KR" alt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추가 설계한</a:t>
            </a:r>
            <a:endParaRPr lang="en-US" altLang="ko-KR" sz="24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lvl="0">
              <a:lnSpc>
                <a:spcPts val="3499"/>
              </a:lnSpc>
              <a:spcBef>
                <a:spcPct val="0"/>
              </a:spcBef>
              <a:defRPr/>
            </a:pPr>
            <a:r>
              <a:rPr lang="en-US" altLang="ko-KR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  <a:r>
              <a:rPr lang="ko-KR" alt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극 </a:t>
            </a:r>
            <a:r>
              <a:rPr lang="en-US" altLang="ko-KR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15</a:t>
            </a:r>
            <a:r>
              <a:rPr lang="ko-KR" alt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슬롯 모델</a:t>
            </a:r>
            <a:r>
              <a:rPr lang="en-US" altLang="ko-KR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endParaRPr lang="en-US" altLang="ko-KR" sz="24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1036977628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0655"/>
            <a:ext cx="1603883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참고문헌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name="TextBox 5" id="5"/>
          <p:cNvSpPr txBox="true"/>
          <p:nvPr/>
        </p:nvSpPr>
        <p:spPr>
          <a:xfrm rot="0">
            <a:off x="209233" y="1435590"/>
            <a:ext cx="18078767" cy="669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이주헌, 「코깅토크 저감을 위한 BLAC 모터의 스큐 및 노치설계 최적화」, 석사학위논문, 아주대학교, 2019.</a:t>
            </a:r>
          </a:p>
          <a:p>
            <a:pPr algn="l">
              <a:lnSpc>
                <a:spcPts val="3546"/>
              </a:lnSpc>
              <a:spcBef>
                <a:spcPct val="0"/>
              </a:spcBef>
            </a:pPr>
          </a:p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이충성, 「사이클로이드 곡선을 이용한 EPS 시스템용 스텝 스큐 로터를 갖는 SPMSM의 설계 및 검증」, 석사학위논문, 선문대학교 첨단자동차공학과, 2025.</a:t>
            </a:r>
          </a:p>
          <a:p>
            <a:pPr algn="l">
              <a:lnSpc>
                <a:spcPts val="3546"/>
              </a:lnSpc>
              <a:spcBef>
                <a:spcPct val="0"/>
              </a:spcBef>
            </a:pPr>
          </a:p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김기찬, 「영구자석 동기전동기 회전자 스큐타입에 따른 특성 변화 연구」, 석사학위논문, 한밭대학교, 2022.</a:t>
            </a:r>
          </a:p>
          <a:p>
            <a:pPr algn="l">
              <a:lnSpc>
                <a:spcPts val="3546"/>
              </a:lnSpc>
              <a:spcBef>
                <a:spcPct val="0"/>
              </a:spcBef>
            </a:pPr>
          </a:p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윤병홍, 한형택, 김창기, 「표면부착 영구자석형 동기전동기의 코깅토크 저감을 위한 영구자석 형상에 관한 연구」, 전기학회논문지, 제58권, 제10호, pp. 1923-1929, 2009.</a:t>
            </a:r>
          </a:p>
          <a:p>
            <a:pPr algn="l">
              <a:lnSpc>
                <a:spcPts val="3546"/>
              </a:lnSpc>
              <a:spcBef>
                <a:spcPct val="0"/>
              </a:spcBef>
            </a:pPr>
          </a:p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김현준, 강동우, 문주형, 김태형, 「고속 모터의 토크 리플 및 효율 개선을 위한 고정자 구조에 대한 연구」, 전기학회논문지(P), 제71P권, 제3호, pp. 149-154, 2022.</a:t>
            </a:r>
          </a:p>
          <a:p>
            <a:pPr algn="l">
              <a:lnSpc>
                <a:spcPts val="3546"/>
              </a:lnSpc>
              <a:spcBef>
                <a:spcPct val="0"/>
              </a:spcBef>
            </a:pPr>
          </a:p>
          <a:p>
            <a:pPr algn="l">
              <a:lnSpc>
                <a:spcPts val="3546"/>
              </a:lnSpc>
              <a:spcBef>
                <a:spcPct val="0"/>
              </a:spcBef>
            </a:pPr>
            <a:r>
              <a:rPr lang="en-US" sz="253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Jing, L.-B., et al., “A Novel Method of Reducing the Cogging Torque in SPM Machine with Segmented Stator,” Journal of Electrical Engineering Technology, pp. 145-149, 2017.</a:t>
            </a: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84171" y="3576841"/>
            <a:ext cx="11719659" cy="24810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9600"/>
              </a:lnSpc>
              <a:spcBef>
                <a:spcPct val="0"/>
              </a:spcBef>
              <a:defRPr/>
            </a:pPr>
            <a:r>
              <a:rPr lang="en-US" sz="14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감사합니다.</a:t>
            </a:r>
            <a:endParaRPr lang="en-US" sz="140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178099" y="9579950"/>
            <a:ext cx="3711482" cy="3657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r">
              <a:lnSpc>
                <a:spcPts val="2939"/>
              </a:lnSpc>
              <a:defRPr/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/1</a:t>
            </a:r>
            <a:r>
              <a:rPr lang="en-US" altLang="ko-KR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  <a:endParaRPr lang="en-US" altLang="ko-KR" sz="20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702</ep:Words>
  <ep:PresentationFormat>On-screen Show (4:3)</ep:PresentationFormat>
  <ep:Paragraphs>158</ep:Paragraphs>
  <ep:Slides>17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ep:HeadingPairs>
  <ep: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t3522</cp:lastModifiedBy>
  <dcterms:modified xsi:type="dcterms:W3CDTF">2025-12-09T00:48:05.571</dcterms:modified>
  <cp:revision>9</cp:revision>
  <dc:title>목차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