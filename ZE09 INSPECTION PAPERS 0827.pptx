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2" r:id="rId4"/>
    <p:sldId id="285" r:id="rId5"/>
    <p:sldId id="275" r:id="rId6"/>
    <p:sldId id="276" r:id="rId7"/>
    <p:sldId id="277" r:id="rId8"/>
    <p:sldId id="278" r:id="rId9"/>
    <p:sldId id="270" r:id="rId10"/>
    <p:sldId id="279" r:id="rId11"/>
    <p:sldId id="272" r:id="rId12"/>
    <p:sldId id="264" r:id="rId13"/>
    <p:sldId id="271" r:id="rId14"/>
    <p:sldId id="259" r:id="rId15"/>
    <p:sldId id="266" r:id="rId16"/>
    <p:sldId id="256" r:id="rId17"/>
    <p:sldId id="260" r:id="rId18"/>
    <p:sldId id="258" r:id="rId19"/>
    <p:sldId id="257" r:id="rId20"/>
    <p:sldId id="265" r:id="rId21"/>
    <p:sldId id="273" r:id="rId22"/>
    <p:sldId id="26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2A2AA-44C5-4F01-895B-6A7201CE2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7F7F1C-2C3C-4E32-98F3-4B30DB4F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43AD3-AED4-4830-B0BE-E7002BA3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D56BA-1CBD-431D-B989-6575F9FE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960DC3-4782-4873-AE09-99FF25C7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77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E07E7-492D-43EC-819E-96A3F506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68830-70AE-434B-B13E-064F8EA28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8D0629-3FDE-4610-B1F2-9E834144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57DAC4-1F9D-498B-B95A-42F87CE2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5022D-7353-4A78-A3B8-C1D89D1C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1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2C142-B369-47AC-9678-ABDCB0B2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6316AD-3C69-4ACF-8417-4A9CE79F4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3ED331-7C4F-4C92-9703-B6956000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A51706-2F8C-4A6E-BD37-2844DEA1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BF282-169F-4DBB-BFD4-33C65311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93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E5143-D235-4E07-91BD-C1F26390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463E2D-EB6E-4278-A2AE-F6DB8BC8A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0CFB3-7FFD-42D0-AFE9-2D8AA0097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8BE4B1-F902-4225-B6F6-F2E2C33F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85792F-7D27-4B29-AF58-7A39C601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A39967-AE13-4101-A67B-C393ABE41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0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28C4DB-1B2D-44D8-B79B-67CE74D00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E3AD9B-EDDC-4089-80D7-AA7A2599C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39D52F-C111-49F7-99D0-D1A8AC256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8EDBB1-9095-4899-A10A-64DA0DF59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0B6C2B-549A-44FC-BD3C-8B94F21D9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B1A9FC-758E-467B-AF15-CD0F5EF6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C1FEAE8-72E4-4D7D-9F0E-66FEBA6C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99DC74-2714-4D20-985B-6C6EDD3E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017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24E77-10DE-41F3-95E3-934171864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5A6329-6C96-4C85-A8EA-0B61D6DF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72F778-69CA-4C0F-A17F-D822ED81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063287-D4C5-404B-934F-740F9A94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73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ACF66E-CD22-43B0-A7DB-580B0971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790B693-ABFC-42EF-8682-7CC04285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F76074-517C-4DA7-A0FB-377D7961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471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7F7F8-416F-4D1D-B110-B44B0D8D1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AA80C9-623D-430C-A9B1-D1D6915BA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28F0AB-7B19-40D8-BFEB-71B9F87D0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8251B-50C7-4BC2-A59F-D64C06D8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88F576-115C-4D9C-B6CD-35BA29EF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79A6CA-9F67-4BA5-88F8-83990C8C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27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FBBE7-753C-494A-937C-37F08770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7DCD3C-1FA3-4992-B189-D04B78C62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20C5B1-3837-435C-91C9-29DCCE934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6E1882-F85E-4465-84EB-890EBDCE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E2A061-8DCE-4E5F-8C2D-38BCD4A6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08208F-1F43-4665-8F94-CCAA71D79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7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34DE3-0641-47BE-BBEB-E709DE0BD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3CF478-F782-450A-B29D-917716908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C8AA83-94C3-4053-A867-45511BD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A0916-86A7-4BD5-AC9B-7A108437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B0507-AB31-42DC-8E7F-2CA45A41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74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F38568-420D-4939-A0B9-E88035215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334FD1-B032-4927-B0AA-820F83F5B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FE0B56-5552-4207-921F-3BA368FB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B7EBD0-6E33-4062-A8A2-AF211BA1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64B67-D6E8-449F-8C7A-61EF00A2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39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80B673-BEE1-4D90-B45F-5D13DCF77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BE7D31-5054-44BD-8A0E-358D9B11E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BDD3CE-F4F8-4032-882E-B0F00BCEE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BF451-1CD4-499B-8839-BE7FC02535D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ED382B-B932-4165-BEF0-C760904C6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00A397-5A85-4D20-94BF-0291041B2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1657C-49C7-431B-B0D2-20ADC8070B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91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7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28.png"/><Relationship Id="rId4" Type="http://schemas.openxmlformats.org/officeDocument/2006/relationships/image" Target="NULL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59653" y="4217454"/>
            <a:ext cx="9484371" cy="981391"/>
            <a:chOff x="424011" y="4239913"/>
            <a:chExt cx="9508077" cy="917033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24011" y="4239913"/>
              <a:ext cx="8351146" cy="27561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24011" y="4515529"/>
              <a:ext cx="9508077" cy="641417"/>
            </a:xfrm>
            <a:prstGeom prst="rect">
              <a:avLst/>
            </a:prstGeom>
          </p:spPr>
        </p:pic>
      </p:grpSp>
      <p:grpSp>
        <p:nvGrpSpPr>
          <p:cNvPr id="9" name="그룹 8"/>
          <p:cNvGrpSpPr/>
          <p:nvPr/>
        </p:nvGrpSpPr>
        <p:grpSpPr>
          <a:xfrm>
            <a:off x="514112" y="1383203"/>
            <a:ext cx="7279682" cy="2213128"/>
            <a:chOff x="323044" y="1780908"/>
            <a:chExt cx="7459956" cy="2478307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323044" y="1780908"/>
              <a:ext cx="7459956" cy="2478307"/>
            </a:xfrm>
            <a:prstGeom prst="rect">
              <a:avLst/>
            </a:prstGeom>
          </p:spPr>
        </p:pic>
        <p:sp>
          <p:nvSpPr>
            <p:cNvPr id="8" name="원형: 비어 있음 7"/>
            <p:cNvSpPr/>
            <p:nvPr/>
          </p:nvSpPr>
          <p:spPr>
            <a:xfrm>
              <a:off x="3147096" y="3226008"/>
              <a:ext cx="3154849" cy="550657"/>
            </a:xfrm>
            <a:prstGeom prst="donut">
              <a:avLst>
                <a:gd name="adj" fmla="val 25000"/>
              </a:avLst>
            </a:prstGeom>
            <a:solidFill>
              <a:srgbClr val="EB5800"/>
            </a:solidFill>
            <a:ln>
              <a:solidFill>
                <a:srgbClr val="EB58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967531" y="1894482"/>
            <a:ext cx="4026994" cy="1534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900" b="1"/>
              <a:t>검차 시트를 보면 방전 회로는 축전지가 최대 전압 상태에서 방전을 시작한 경우, 전압이 고전압 안전 기준인 60V 이하로 저하되기까지의 시간이 5초를 초과하지 않아야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785" y="5366174"/>
            <a:ext cx="10284430" cy="670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900" b="1"/>
              <a:t>규정에서 정한 15초라는 기준은, 저항이 방전과정에서 축전지 전압을 처리할 경우에 발열 등의 문제로부터  해당 전력을 안전하게 견딜 수 있는지를 확인하기 위한 것이라고 판단된다.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0130" y="625267"/>
            <a:ext cx="11230283" cy="1715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00" b="1"/>
              <a:t>hs50-2k2 소자의 특성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 sz="2100"/>
              <a:t>hs50-2k2는 50W 정격 전력, 2.2Ω의 고정 저항기로, 고전력 애플리케이션에서 주로 사용된다</a:t>
            </a:r>
            <a:r>
              <a:rPr lang="en-US" altLang="ko-KR" sz="2100"/>
              <a:t>.</a:t>
            </a:r>
          </a:p>
          <a:p>
            <a:pPr>
              <a:defRPr/>
            </a:pPr>
            <a:r>
              <a:rPr lang="ko-KR" altLang="en-US" sz="2100"/>
              <a:t>이 저항은 짧은 시간 동안 축전지의 고전압을 견디며 안정적으로 전류를 제어할 수 있도록 설계되어 있으며, 특히 초기 충전 및 방전 회로와 같은 과도 상태에서 신뢰성을 확보하는 데 적합하다.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923" y="3037246"/>
            <a:ext cx="3333750" cy="361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0130" y="3037246"/>
            <a:ext cx="6096000" cy="1437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00" b="1"/>
              <a:t>hs50-2k2 저항 사용 시</a:t>
            </a:r>
          </a:p>
          <a:p>
            <a:pPr>
              <a:defRPr/>
            </a:pPr>
            <a:endParaRPr lang="en-US" altLang="ko-KR" sz="2100"/>
          </a:p>
          <a:p>
            <a:pPr>
              <a:defRPr/>
            </a:pPr>
            <a:endParaRPr lang="en-US" altLang="ko-KR" sz="2100"/>
          </a:p>
          <a:p>
            <a:pPr>
              <a:defRPr/>
            </a:pPr>
            <a:endParaRPr lang="en-US" altLang="ko-KR" sz="2100"/>
          </a:p>
        </p:txBody>
      </p:sp>
      <p:sp>
        <p:nvSpPr>
          <p:cNvPr id="9" name="TextBox 8"/>
          <p:cNvSpPr txBox="1"/>
          <p:nvPr/>
        </p:nvSpPr>
        <p:spPr>
          <a:xfrm>
            <a:off x="450130" y="3756045"/>
            <a:ext cx="11068050" cy="2321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ko-KR" sz="2100"/>
              <a:t>권선저항 ARCOL HS50 2K2 의 정격전력은 50W 이다</a:t>
            </a:r>
            <a:r>
              <a:rPr lang="en-US" altLang="ko-KR" sz="2100"/>
              <a:t>.</a:t>
            </a:r>
            <a:endParaRPr lang="ko-KR" altLang="ko-KR" sz="2100"/>
          </a:p>
          <a:p>
            <a:pPr>
              <a:defRPr/>
            </a:pPr>
            <a:r>
              <a:rPr lang="ko-KR" altLang="ko-KR" sz="2100" b="1"/>
              <a:t> P=VI </a:t>
            </a:r>
            <a:r>
              <a:rPr lang="ko-KR" altLang="ko-KR" sz="2100"/>
              <a:t>에</a:t>
            </a:r>
            <a:r>
              <a:rPr lang="en-US" altLang="ko-KR" sz="2100"/>
              <a:t> </a:t>
            </a:r>
            <a:r>
              <a:rPr lang="ko-KR" altLang="ko-KR" sz="2100"/>
              <a:t>따라 </a:t>
            </a:r>
            <a:r>
              <a:rPr lang="ko-KR" altLang="ko-KR" sz="2100" b="1"/>
              <a:t>50 = 302.4 * I </a:t>
            </a:r>
          </a:p>
          <a:p>
            <a:pPr>
              <a:defRPr/>
            </a:pPr>
            <a:endParaRPr lang="ko-KR" altLang="ko-KR" sz="2100" b="1"/>
          </a:p>
          <a:p>
            <a:pPr>
              <a:defRPr/>
            </a:pPr>
            <a:r>
              <a:rPr lang="ko-KR" altLang="ko-KR" sz="2100"/>
              <a:t>따라서 I = 0.151A 를 연속적으로 처리할 수 있다. </a:t>
            </a:r>
          </a:p>
          <a:p>
            <a:pPr>
              <a:defRPr/>
            </a:pPr>
            <a:endParaRPr lang="ko-KR" altLang="ko-KR" sz="2100"/>
          </a:p>
          <a:p>
            <a:pPr>
              <a:defRPr/>
            </a:pPr>
            <a:r>
              <a:rPr lang="ko-KR" altLang="ko-KR" sz="2100"/>
              <a:t>302.4V 기준 2.2k 옴으로 최대</a:t>
            </a:r>
            <a:r>
              <a:rPr lang="en-US" altLang="ko-KR" sz="2100"/>
              <a:t> </a:t>
            </a:r>
            <a:r>
              <a:rPr lang="ko-KR" altLang="ko-KR" sz="2100"/>
              <a:t>방전</a:t>
            </a:r>
            <a:r>
              <a:rPr lang="en-US" altLang="ko-KR" sz="2100"/>
              <a:t> </a:t>
            </a:r>
            <a:r>
              <a:rPr lang="ko-KR" altLang="ko-KR" sz="2100"/>
              <a:t>전류를 계산하면</a:t>
            </a:r>
            <a:r>
              <a:rPr lang="en-US" altLang="ko-KR" sz="2100"/>
              <a:t>,</a:t>
            </a:r>
          </a:p>
          <a:p>
            <a:pPr>
              <a:defRPr/>
            </a:pPr>
            <a:r>
              <a:rPr lang="ko-KR" altLang="ko-KR" sz="2100" b="1"/>
              <a:t>302.4/2200 = 0.137 A </a:t>
            </a:r>
            <a:r>
              <a:rPr lang="ko-KR" altLang="ko-KR" sz="2100"/>
              <a:t>이므로 최대</a:t>
            </a:r>
            <a:r>
              <a:rPr lang="en-US" altLang="ko-KR" sz="2100"/>
              <a:t> </a:t>
            </a:r>
            <a:r>
              <a:rPr lang="ko-KR" altLang="ko-KR" sz="2100"/>
              <a:t>방전</a:t>
            </a:r>
            <a:r>
              <a:rPr lang="en-US" altLang="ko-KR" sz="2100"/>
              <a:t> </a:t>
            </a:r>
            <a:r>
              <a:rPr lang="ko-KR" altLang="ko-KR" sz="2100"/>
              <a:t>전류를 처리할 수 있다.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t="18340" r="36760" b="25110"/>
          <a:stretch>
            <a:fillRect/>
          </a:stretch>
        </p:blipFill>
        <p:spPr>
          <a:xfrm>
            <a:off x="6742157" y="2499619"/>
            <a:ext cx="4938255" cy="2512851"/>
          </a:xfrm>
          <a:prstGeom prst="rect">
            <a:avLst/>
          </a:prstGeom>
        </p:spPr>
      </p:pic>
      <p:sp>
        <p:nvSpPr>
          <p:cNvPr id="14" name="액자 13"/>
          <p:cNvSpPr/>
          <p:nvPr/>
        </p:nvSpPr>
        <p:spPr>
          <a:xfrm>
            <a:off x="8132595" y="4336983"/>
            <a:ext cx="751973" cy="358749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A12374F-950A-4234-A221-3644EA563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429" y="879702"/>
            <a:ext cx="8135485" cy="5830114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09F8F253-8CCC-48D8-BF18-535D24CE4572}"/>
              </a:ext>
            </a:extLst>
          </p:cNvPr>
          <p:cNvSpPr/>
          <p:nvPr/>
        </p:nvSpPr>
        <p:spPr>
          <a:xfrm>
            <a:off x="1983545" y="1589649"/>
            <a:ext cx="2307101" cy="422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B9A64-82D5-4B5B-9204-BBBEA2823C3D}"/>
              </a:ext>
            </a:extLst>
          </p:cNvPr>
          <p:cNvSpPr txBox="1"/>
          <p:nvPr/>
        </p:nvSpPr>
        <p:spPr>
          <a:xfrm>
            <a:off x="1648429" y="263119"/>
            <a:ext cx="3212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Galvanic isolation </a:t>
            </a:r>
          </a:p>
        </p:txBody>
      </p:sp>
    </p:spTree>
    <p:extLst>
      <p:ext uri="{BB962C8B-B14F-4D97-AF65-F5344CB8AC3E}">
        <p14:creationId xmlns:p14="http://schemas.microsoft.com/office/powerpoint/2010/main" val="401159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F74F6EE-E352-417E-9EB9-1E36A76A2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098" y="1162905"/>
            <a:ext cx="8256582" cy="466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26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BB89B46-702D-4C17-AF58-6E54200EA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023" y="0"/>
            <a:ext cx="4715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85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2ADD03-AE02-47D0-82F7-2FA6F4508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417011280" descr="EMB0000c14c3da3">
            <a:extLst>
              <a:ext uri="{FF2B5EF4-FFF2-40B4-BE49-F238E27FC236}">
                <a16:creationId xmlns:a16="http://schemas.microsoft.com/office/drawing/2014/main" id="{F23315D2-1B8E-468B-B40C-9C168DAA5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4" y="0"/>
            <a:ext cx="5543551" cy="663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166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B697D5C-AF1B-4A29-8F14-A039D2999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025" y="157944"/>
            <a:ext cx="6415003" cy="24836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7A68FA-9C2D-4388-9B8D-FC48B1FB6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023" y="2684121"/>
            <a:ext cx="5914377" cy="401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9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2E3CCBD-A33F-41A3-9396-3695DD53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15" y="107391"/>
            <a:ext cx="7882135" cy="22439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E295133-7E09-474A-A616-9C97444FE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554" y="2519315"/>
            <a:ext cx="6431856" cy="18193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31AE149-7680-4839-BF77-F10372D8F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853" y="4679433"/>
            <a:ext cx="6712536" cy="169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2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5628BD6-0AAD-43F6-AEC0-246F3DB3E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58" y="115168"/>
            <a:ext cx="10748283" cy="662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1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535271C-C7EE-475D-A969-AAFB0FE93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4" y="250042"/>
            <a:ext cx="6116453" cy="235248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041425E-8249-4EE7-9AC3-F18EDA731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24" y="2897159"/>
            <a:ext cx="6116453" cy="34789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89804A6-3700-4CE1-BC88-73F4A3319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436" y="265737"/>
            <a:ext cx="4654478" cy="25978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357B53-71CD-4E1E-AFEB-DE0BB9F96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435" y="3319217"/>
            <a:ext cx="4804973" cy="2994105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E135CA0-D232-4A37-B210-3107411C7624}"/>
              </a:ext>
            </a:extLst>
          </p:cNvPr>
          <p:cNvSpPr/>
          <p:nvPr/>
        </p:nvSpPr>
        <p:spPr>
          <a:xfrm>
            <a:off x="7441809" y="3429000"/>
            <a:ext cx="942536" cy="76317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74DA71C-240E-4747-8ED3-90EAA060E8B1}"/>
              </a:ext>
            </a:extLst>
          </p:cNvPr>
          <p:cNvSpPr/>
          <p:nvPr/>
        </p:nvSpPr>
        <p:spPr>
          <a:xfrm>
            <a:off x="8213188" y="1746962"/>
            <a:ext cx="942536" cy="76317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884D2A2-72C2-483C-9C04-78AD2FDE85F6}"/>
              </a:ext>
            </a:extLst>
          </p:cNvPr>
          <p:cNvSpPr/>
          <p:nvPr/>
        </p:nvSpPr>
        <p:spPr>
          <a:xfrm>
            <a:off x="5463141" y="4434683"/>
            <a:ext cx="942536" cy="76317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67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31F3462-F7A0-474F-B306-08910F0A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1033144"/>
            <a:ext cx="8516539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6013E8-75E0-4E05-A1E7-DE493002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10" y="1371600"/>
            <a:ext cx="7711038" cy="360861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C3EAEE6-30A0-42F3-922E-DCF8E43E9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33251" y="2165794"/>
            <a:ext cx="5738486" cy="252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84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7C952AE-1D62-45EB-AF4C-F1FB6137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26" y="313045"/>
            <a:ext cx="10298373" cy="62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791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F3F467-E945-443D-821F-2D3B5E0A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035" y="163286"/>
            <a:ext cx="8179430" cy="66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62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50911F0-F4AA-4A17-534F-20CF9D372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6" y="1847164"/>
            <a:ext cx="11101612" cy="275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47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36900" b="87750"/>
          <a:stretch>
            <a:fillRect/>
          </a:stretch>
        </p:blipFill>
        <p:spPr>
          <a:xfrm>
            <a:off x="413977" y="176584"/>
            <a:ext cx="5682023" cy="4916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79880"/>
          <a:stretch>
            <a:fillRect/>
          </a:stretch>
        </p:blipFill>
        <p:spPr>
          <a:xfrm>
            <a:off x="229661" y="826984"/>
            <a:ext cx="9877833" cy="653087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>
            <a:off x="1003901" y="2004485"/>
            <a:ext cx="3033184" cy="1424515"/>
            <a:chOff x="742138" y="3885141"/>
            <a:chExt cx="3033184" cy="1424515"/>
          </a:xfrm>
        </p:grpSpPr>
        <p:sp>
          <p:nvSpPr>
            <p:cNvPr id="8" name="TextBox 7"/>
            <p:cNvSpPr txBox="1"/>
            <p:nvPr/>
          </p:nvSpPr>
          <p:spPr>
            <a:xfrm>
              <a:off x="1118904" y="3920414"/>
              <a:ext cx="2656417" cy="364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/>
                <a:t> </a:t>
              </a:r>
              <a:r>
                <a:rPr lang="ko-KR" altLang="en-US"/>
                <a:t>저항 값</a:t>
              </a:r>
              <a:r>
                <a:rPr lang="en-US" altLang="ko-KR"/>
                <a:t>:</a:t>
              </a:r>
              <a:r>
                <a:rPr lang="ko-KR" altLang="en-US"/>
                <a:t> </a:t>
              </a:r>
              <a:r>
                <a:rPr lang="en-US" altLang="ko-KR"/>
                <a:t>30KΩ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자유형: 도형 8"/>
                <p:cNvSpPr/>
                <p:nvPr/>
              </p:nvSpPr>
              <p:spPr>
                <a:xfrm>
                  <a:off x="742138" y="3885141"/>
                  <a:ext cx="514350" cy="40005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4400" h="914400">
                      <a:moveTo>
                        <a:pt x="0" y="0"/>
                      </a:moveTo>
                      <a:lnTo>
                        <a:pt x="914400" y="0"/>
                      </a:lnTo>
                      <a:lnTo>
                        <a:pt x="914400" y="914400"/>
                      </a:lnTo>
                      <a:lnTo>
                        <a:pt x="0" y="914400"/>
                      </a:lnTo>
                      <a:close/>
                    </a:path>
                  </a:pathLst>
                </a:custGeom>
              </p:spPr>
              <p:txBody>
                <a:bodyPr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800" i="1">
                                <a:latin typeface="Cambria Math" panose="02040503050406030204" pitchFamily="18" charset="0"/>
                                <a:sym typeface="Cambria Math"/>
                              </a:rPr>
                            </m:ctrlPr>
                          </m:sSubPr>
                          <m:e>
                            <m:r>
                              <a:rPr sz="1800" i="1">
                                <a:latin typeface="Cambria Math"/>
                                <a:sym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sz="1800" i="1">
                                <a:latin typeface="Cambria Math"/>
                                <a:sym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:dsp="http://schemas.microsoft.com/office/drawing/2008/diagram" xmlns:dgm="http://schemas.openxmlformats.org/drawingml/2006/diagram" xmlns:c="http://schemas.openxmlformats.org/drawingml/2006/chart" xmlns="">
            <p:sp>
              <p:nvSpPr>
                <p:cNvPr id="9" name=""/>
                <p:cNvSpPr txBox="1"/>
                <p:nvPr/>
              </p:nvSpPr>
              <p:spPr>
                <a:xfrm>
                  <a:off x="742138" y="3885141"/>
                  <a:ext cx="514350" cy="40005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자유형: 도형 10"/>
                <p:cNvSpPr/>
                <p:nvPr/>
              </p:nvSpPr>
              <p:spPr>
                <a:xfrm>
                  <a:off x="742138" y="4403726"/>
                  <a:ext cx="514350" cy="40005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4400" h="914400">
                      <a:moveTo>
                        <a:pt x="0" y="0"/>
                      </a:moveTo>
                      <a:lnTo>
                        <a:pt x="914400" y="0"/>
                      </a:lnTo>
                      <a:lnTo>
                        <a:pt x="914400" y="914400"/>
                      </a:lnTo>
                      <a:lnTo>
                        <a:pt x="0" y="914400"/>
                      </a:lnTo>
                      <a:close/>
                    </a:path>
                  </a:pathLst>
                </a:custGeom>
              </p:spPr>
              <p:txBody>
                <a:bodyPr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800" i="1">
                                <a:latin typeface="Cambria Math" panose="02040503050406030204" pitchFamily="18" charset="0"/>
                                <a:sym typeface="Cambria Math"/>
                              </a:rPr>
                            </m:ctrlPr>
                          </m:sSubPr>
                          <m:e>
                            <m:r>
                              <a:rPr sz="1800" i="1">
                                <a:latin typeface="Cambria Math"/>
                                <a:sym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sz="1800" i="1">
                                <a:latin typeface="Cambria Math"/>
                                <a:sym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:dsp="http://schemas.microsoft.com/office/drawing/2008/diagram" xmlns:dgm="http://schemas.openxmlformats.org/drawingml/2006/diagram" xmlns:c="http://schemas.openxmlformats.org/drawingml/2006/chart" xmlns="">
            <p:sp>
              <p:nvSpPr>
                <p:cNvPr id="11" name=""/>
                <p:cNvSpPr txBox="1"/>
                <p:nvPr/>
              </p:nvSpPr>
              <p:spPr>
                <a:xfrm>
                  <a:off x="742138" y="4403726"/>
                  <a:ext cx="514350" cy="40005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1118905" y="4421362"/>
              <a:ext cx="265641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en-US" altLang="ko-KR" sz="1800" b="0" i="0" u="none" strike="noStrike" kern="1200" cap="none" spc="0" normalizeH="0" baseline="0" dirty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 </a:t>
              </a:r>
              <a:r>
                <a:rPr kumimoji="0" lang="ko-KR" altLang="en-US" sz="1800" b="0" i="0" u="none" strike="noStrike" kern="1200" cap="none" spc="0" normalizeH="0" baseline="0" dirty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저항 값</a:t>
              </a:r>
              <a:r>
                <a:rPr kumimoji="0" lang="en-US" altLang="ko-KR" sz="1800" b="0" i="0" u="none" strike="noStrike" kern="1200" cap="none" spc="0" normalizeH="0" baseline="0" dirty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:</a:t>
              </a:r>
              <a:r>
                <a:rPr kumimoji="0" lang="ko-KR" altLang="en-US" sz="1800" b="0" i="0" u="none" strike="noStrike" kern="1200" cap="none" spc="0" normalizeH="0" baseline="0" dirty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 </a:t>
              </a:r>
              <a:r>
                <a:rPr lang="en-US" altLang="ko-KR" dirty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232</a:t>
              </a:r>
              <a:r>
                <a:rPr kumimoji="0" lang="en-US" altLang="ko-KR" sz="1800" b="0" i="0" u="none" strike="noStrike" kern="1200" cap="none" spc="0" normalizeH="0" baseline="0" dirty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KΩ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자유형: 도형 12"/>
                <p:cNvSpPr/>
                <p:nvPr/>
              </p:nvSpPr>
              <p:spPr>
                <a:xfrm>
                  <a:off x="742138" y="4909606"/>
                  <a:ext cx="504825" cy="40005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4400" h="914400">
                      <a:moveTo>
                        <a:pt x="0" y="0"/>
                      </a:moveTo>
                      <a:lnTo>
                        <a:pt x="914400" y="0"/>
                      </a:lnTo>
                      <a:lnTo>
                        <a:pt x="914400" y="914400"/>
                      </a:lnTo>
                      <a:lnTo>
                        <a:pt x="0" y="914400"/>
                      </a:lnTo>
                      <a:close/>
                    </a:path>
                  </a:pathLst>
                </a:custGeom>
              </p:spPr>
              <p:txBody>
                <a:bodyPr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800" i="1">
                                <a:latin typeface="Cambria Math" panose="02040503050406030204" pitchFamily="18" charset="0"/>
                                <a:sym typeface="Cambria Math"/>
                              </a:rPr>
                            </m:ctrlPr>
                          </m:sSubPr>
                          <m:e>
                            <m:r>
                              <a:rPr sz="1800" i="1">
                                <a:latin typeface="Cambria Math"/>
                                <a:sym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sz="1800" i="1">
                                <a:latin typeface="Cambria Math"/>
                                <a:sym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:dsp="http://schemas.microsoft.com/office/drawing/2008/diagram" xmlns:dgm="http://schemas.openxmlformats.org/drawingml/2006/diagram" xmlns:c="http://schemas.openxmlformats.org/drawingml/2006/chart" xmlns="">
            <p:sp>
              <p:nvSpPr>
                <p:cNvPr id="13" name=""/>
                <p:cNvSpPr txBox="1"/>
                <p:nvPr/>
              </p:nvSpPr>
              <p:spPr>
                <a:xfrm>
                  <a:off x="742138" y="4909606"/>
                  <a:ext cx="504825" cy="40005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14" name="TextBox 13"/>
            <p:cNvSpPr txBox="1"/>
            <p:nvPr/>
          </p:nvSpPr>
          <p:spPr>
            <a:xfrm>
              <a:off x="1118905" y="4927242"/>
              <a:ext cx="2656417" cy="3667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en-US" altLang="ko-KR" sz="1800" b="0" i="0" u="none" strike="noStrike" kern="1200" cap="none" spc="0" normalizeH="0" baseline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 </a:t>
              </a:r>
              <a:r>
                <a:rPr kumimoji="0" lang="ko-KR" altLang="en-US" sz="1800" b="0" i="0" u="none" strike="noStrike" kern="1200" cap="none" spc="0" normalizeH="0" baseline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정전 용량 값</a:t>
              </a:r>
              <a:r>
                <a:rPr kumimoji="0" lang="en-US" altLang="ko-KR" sz="1800" b="0" i="0" u="none" strike="noStrike" kern="1200" cap="none" spc="0" normalizeH="0" baseline="0">
                  <a:solidFill>
                    <a:srgbClr val="000000"/>
                  </a:solidFill>
                  <a:latin typeface="Calibri"/>
                  <a:ea typeface="맑은 고딕"/>
                  <a:cs typeface="Calibri"/>
                </a:rPr>
                <a:t>:</a:t>
              </a:r>
              <a:r>
                <a:rPr kumimoji="0" lang="ko-KR" altLang="en-US" sz="1800" b="0" i="0" u="none" strike="noStrike" kern="1200" cap="none" spc="0" normalizeH="0" baseline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 </a:t>
              </a:r>
              <a:endParaRPr kumimoji="0" lang="en-US" altLang="ko-KR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Calibri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자유형: 도형 14"/>
              <p:cNvSpPr/>
              <p:nvPr/>
            </p:nvSpPr>
            <p:spPr>
              <a:xfrm>
                <a:off x="2701633" y="3015190"/>
                <a:ext cx="657225" cy="3619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1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𝜇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𝐹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5" name=""/>
              <p:cNvSpPr txBox="1"/>
              <p:nvPr/>
            </p:nvSpPr>
            <p:spPr>
              <a:xfrm>
                <a:off x="2701633" y="3015190"/>
                <a:ext cx="657225" cy="3619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</p:sp>
        </mc:Fallback>
      </mc:AlternateContent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594923" y="2371673"/>
            <a:ext cx="2454091" cy="12870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8054" y="4136048"/>
            <a:ext cx="671694" cy="345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700">
                <a:effectLst/>
                <a:latin typeface="한컴 윤고딕 250"/>
                <a:ea typeface="한컴 윤고딕 250"/>
              </a:rPr>
              <a:t>공식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8893057" y="4777347"/>
            <a:ext cx="2428875" cy="1791475"/>
            <a:chOff x="8924806" y="2468522"/>
            <a:chExt cx="2428875" cy="1791475"/>
          </a:xfrm>
        </p:grpSpPr>
        <p:sp>
          <p:nvSpPr>
            <p:cNvPr id="19" name="TextBox 18"/>
            <p:cNvSpPr txBox="1"/>
            <p:nvPr/>
          </p:nvSpPr>
          <p:spPr>
            <a:xfrm>
              <a:off x="8924806" y="2468522"/>
              <a:ext cx="2365376" cy="358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/>
                <a:t>시간</a:t>
              </a:r>
              <a:r>
                <a:rPr lang="en-US" altLang="ko-KR"/>
                <a:t>(HIGH ):</a:t>
              </a:r>
              <a:r>
                <a:rPr lang="ko-KR" altLang="en-US"/>
                <a:t> </a:t>
              </a:r>
              <a:r>
                <a:rPr lang="en-US" altLang="ko-KR"/>
                <a:t>228.69mS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007889" y="3429000"/>
              <a:ext cx="219921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400" b="1" dirty="0"/>
                <a:t>주파수</a:t>
              </a:r>
              <a:r>
                <a:rPr lang="en-US" altLang="ko-KR" sz="2400" b="1" dirty="0"/>
                <a:t>: 2.915Hz</a:t>
              </a:r>
              <a:r>
                <a:rPr lang="ko-KR" altLang="en-US" sz="2400" b="1" dirty="0"/>
                <a:t>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24806" y="2935180"/>
              <a:ext cx="2428875" cy="3657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/>
                <a:t>시간</a:t>
              </a:r>
              <a:r>
                <a:rPr lang="en-US" altLang="ko-KR"/>
                <a:t>(LOW ): 207.9mS</a:t>
              </a:r>
            </a:p>
          </p:txBody>
        </p:sp>
      </p:grp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39748" y="4136048"/>
            <a:ext cx="2841011" cy="212679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519486" y="1656704"/>
            <a:ext cx="2441069" cy="4958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a14="http://schemas.microsoft.com/office/drawing/2010/main"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F293656-1D26-46C1-B37F-E001DC22C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62" y="236377"/>
            <a:ext cx="7268589" cy="5477639"/>
          </a:xfrm>
          <a:prstGeom prst="rect">
            <a:avLst/>
          </a:prstGeom>
        </p:spPr>
      </p:pic>
      <p:sp>
        <p:nvSpPr>
          <p:cNvPr id="14" name="Rectangle 14">
            <a:extLst>
              <a:ext uri="{FF2B5EF4-FFF2-40B4-BE49-F238E27FC236}">
                <a16:creationId xmlns:a16="http://schemas.microsoft.com/office/drawing/2014/main" id="{81C1A4FF-DC78-4A69-9EF6-FB65C7A3E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7" name="_x413925928" descr="DRW0000c14c3d95">
            <a:extLst>
              <a:ext uri="{FF2B5EF4-FFF2-40B4-BE49-F238E27FC236}">
                <a16:creationId xmlns:a16="http://schemas.microsoft.com/office/drawing/2014/main" id="{4DEDD81D-4C24-4505-A6F3-9A35D9178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913" y="1443896"/>
            <a:ext cx="1279074" cy="44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B38BC6-B652-4DF8-8933-F46E252F7C01}"/>
              </a:ext>
            </a:extLst>
          </p:cNvPr>
          <p:cNvSpPr txBox="1"/>
          <p:nvPr/>
        </p:nvSpPr>
        <p:spPr>
          <a:xfrm>
            <a:off x="7844690" y="2559697"/>
            <a:ext cx="2395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R=2.2k</a:t>
            </a:r>
            <a:r>
              <a:rPr lang="el-GR" altLang="ko-KR" sz="2400" b="1" dirty="0"/>
              <a:t>Ω</a:t>
            </a:r>
            <a:br>
              <a:rPr lang="en-US" altLang="ko-KR" sz="2400" b="1" dirty="0"/>
            </a:br>
            <a:r>
              <a:rPr lang="en-US" altLang="ko-KR" sz="2400" b="1" dirty="0"/>
              <a:t>C=320uF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3BDC9-DE93-402E-A281-AFD2F1D8E567}"/>
              </a:ext>
            </a:extLst>
          </p:cNvPr>
          <p:cNvSpPr txBox="1"/>
          <p:nvPr/>
        </p:nvSpPr>
        <p:spPr>
          <a:xfrm>
            <a:off x="7844690" y="4062030"/>
            <a:ext cx="2821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τ=0.704s</a:t>
            </a:r>
            <a:br>
              <a:rPr lang="en-US" altLang="ko-KR" sz="2400" b="1" dirty="0"/>
            </a:br>
            <a:r>
              <a:rPr lang="en-US" altLang="ko-KR" sz="2400" b="1" dirty="0"/>
              <a:t>6τ=4.224s</a:t>
            </a:r>
            <a:br>
              <a:rPr lang="en-US" altLang="ko-KR" sz="2400" b="1" dirty="0"/>
            </a:br>
            <a:r>
              <a:rPr lang="en-US" altLang="ko-KR" sz="2400" b="1" dirty="0"/>
              <a:t>RC DELAY = 4.52s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86751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ACFEE3C-964B-4CA5-B311-E8C949092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600" y="355027"/>
            <a:ext cx="5322101" cy="61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5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BD87B7-C29D-4F62-8858-4015D599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14" y="243436"/>
            <a:ext cx="6090557" cy="639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69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9C29DD2-145D-46A0-A65E-C438F7392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8100"/>
            <a:ext cx="7187533" cy="66526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1A03055-7424-402B-B584-64299766E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626" y="4571954"/>
            <a:ext cx="3840455" cy="8763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D17347-04C1-43CF-9C2D-0156460BB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626" y="1895466"/>
            <a:ext cx="3841971" cy="128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31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977A154-F9A5-4D4B-8FE2-50B7AC280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44" y="261257"/>
            <a:ext cx="5528756" cy="25393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61D660-4C3D-4E1F-87F3-DB070A148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44" y="2967605"/>
            <a:ext cx="4716571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783F6AA-9D3E-4246-A291-1A97AEA14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730" y="1351425"/>
            <a:ext cx="4557351" cy="504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56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E11EC8-800F-4870-8429-C79402598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70" y="0"/>
            <a:ext cx="6266943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A8F005-303D-4D00-B7E1-36115DFE3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85" y="4312018"/>
            <a:ext cx="2076740" cy="619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9E393AD-B495-4BEC-B393-E68C9D8E1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41" y="2972225"/>
            <a:ext cx="5731157" cy="9135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1ADBD51-94DA-4182-B3CD-863011B0E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085" y="457805"/>
            <a:ext cx="5667871" cy="146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3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200</Words>
  <Application>Microsoft Office PowerPoint</Application>
  <PresentationFormat>와이드스크린</PresentationFormat>
  <Paragraphs>29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맑은 고딕</vt:lpstr>
      <vt:lpstr>한컴 윤고딕 250</vt:lpstr>
      <vt:lpstr>Arial</vt:lpstr>
      <vt:lpstr>Calibri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건호 김</dc:creator>
  <cp:lastModifiedBy>건호 김</cp:lastModifiedBy>
  <cp:revision>24</cp:revision>
  <dcterms:created xsi:type="dcterms:W3CDTF">2025-08-06T07:47:48Z</dcterms:created>
  <dcterms:modified xsi:type="dcterms:W3CDTF">2025-09-17T08:43:19Z</dcterms:modified>
</cp:coreProperties>
</file>